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b83995-c873-3c1a-9c7d-ed9112cd2207}">
          <p14:sldIdLst>
            <p14:sldId id="256"/>
          </p14:sldIdLst>
        </p14:section>
        <p14:section name="Context" id="{b11d4f28-d8c5-40dc-cf7d-747090588f2f}">
          <p14:sldIdLst>
            <p14:sldId id="257"/>
            <p14:sldId id="258"/>
          </p14:sldIdLst>
        </p14:section>
        <p14:section name="Problem and aim" id="{8b5378ca-063a-3904-7606-c74fe2d3f8c2}">
          <p14:sldIdLst>
            <p14:sldId id="259"/>
            <p14:sldId id="260"/>
            <p14:sldId id="261"/>
          </p14:sldIdLst>
        </p14:section>
        <p14:section name="Approach" id="{e78e8a35-0503-a8ed-51eb-a05348dd2e02}">
          <p14:sldIdLst>
            <p14:sldId id="262"/>
            <p14:sldId id="263"/>
          </p14:sldIdLst>
        </p14:section>
        <p14:section name="Progress" id="{0744118d-77b0-b0ba-e19e-cf4dab14a9ff}">
          <p14:sldIdLst>
            <p14:sldId id="264"/>
            <p14:sldId id="265"/>
          </p14:sldIdLst>
        </p14:section>
        <p14:section name="Next steps" id="{09d6ae5f-ecdc-77b9-a299-e03c63bca395}">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4D2B"/>
                </a:solidFill>
                <a:latin typeface="+mn-lt"/>
              </a:defRPr>
            </a:pPr>
            <a:r>
              <a:rPr sz="1400" b="0" i="0" u="none" strike="noStrike">
                <a:solidFill>
                  <a:srgbClr val="1E4D2B"/>
                </a:solidFill>
                <a:latin typeface="+mn-lt"/>
              </a:rPr>
              <a:t>Food subsidy: required vs released (₹ ’000 crore)</a:t>
            </a:r>
          </a:p>
        </c:rich>
      </c:tx>
      <c:layout/>
      <c:overlay val="0"/>
    </c:title>
    <c:autoTitleDeleted val="0"/>
    <c:plotArea>
      <c:layout/>
      <c:barChart>
        <c:barDir val="col"/>
        <c:grouping val="clustered"/>
        <c:varyColors val="0"/>
        <c:ser>
          <c:idx val="0"/>
          <c:order val="0"/>
          <c:tx>
            <c:strRef>
              <c:f>Sheet1!$B$1</c:f>
              <c:strCache>
                <c:ptCount val="1"/>
                <c:pt idx="0">
                  <c:v>Subsidy required</c:v>
                </c:pt>
              </c:strCache>
            </c:strRef>
          </c:tx>
          <c:spPr>
            <a:solidFill>
              <a:srgbClr val="1E4D2B"/>
            </a:solidFill>
            <a:effectLst/>
          </c:spPr>
          <c:invertIfNegative val="0"/>
          <c:dLbls>
            <c:numFmt formatCode="0.0" sourceLinked="0"/>
            <c:txPr>
              <a:bodyPr/>
              <a:lstStyle/>
              <a:p>
                <a:pPr>
                  <a:defRPr b="0" i="0" strike="noStrike" sz="1100" u="none">
                    <a:solidFill>
                      <a:srgbClr val="1F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2022-23</c:v>
                  </c:pt>
                  <c:pt idx="1">
                    <c:v>2023-24</c:v>
                  </c:pt>
                  <c:pt idx="2">
                    <c:v>2024-25</c:v>
                  </c:pt>
                </c:lvl>
              </c:multiLvlStrCache>
            </c:multiLvlStrRef>
          </c:cat>
          <c:val>
            <c:numRef>
              <c:f>Sheet1!$B$2:$B$4</c:f>
              <c:numCache>
                <c:formatCode>General</c:formatCode>
                <c:ptCount val="3"/>
                <c:pt idx="0">
                  <c:v>204.5</c:v>
                </c:pt>
                <c:pt idx="1">
                  <c:v>132.7</c:v>
                </c:pt>
                <c:pt idx="2">
                  <c:v>146.5</c:v>
                </c:pt>
              </c:numCache>
            </c:numRef>
          </c:val>
        </c:ser>
        <c:ser>
          <c:idx val="1"/>
          <c:order val="1"/>
          <c:tx>
            <c:strRef>
              <c:f>Sheet1!$C$1</c:f>
              <c:strCache>
                <c:ptCount val="1"/>
                <c:pt idx="0">
                  <c:v>Subsidy released</c:v>
                </c:pt>
              </c:strCache>
            </c:strRef>
          </c:tx>
          <c:spPr>
            <a:solidFill>
              <a:srgbClr val="C8902E"/>
            </a:solidFill>
            <a:effectLst/>
          </c:spPr>
          <c:invertIfNegative val="0"/>
          <c:dLbls>
            <c:numFmt formatCode="0.0" sourceLinked="0"/>
            <c:txPr>
              <a:bodyPr/>
              <a:lstStyle/>
              <a:p>
                <a:pPr>
                  <a:defRPr b="0" i="0" strike="noStrike" sz="1100" u="none">
                    <a:solidFill>
                      <a:srgbClr val="1F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2022-23</c:v>
                  </c:pt>
                  <c:pt idx="1">
                    <c:v>2023-24</c:v>
                  </c:pt>
                  <c:pt idx="2">
                    <c:v>2024-25</c:v>
                  </c:pt>
                </c:lvl>
              </c:multiLvlStrCache>
            </c:multiLvlStrRef>
          </c:cat>
          <c:val>
            <c:numRef>
              <c:f>Sheet1!$C$2:$C$4</c:f>
              <c:numCache>
                <c:formatCode>General</c:formatCode>
                <c:ptCount val="3"/>
                <c:pt idx="0">
                  <c:v>200.2</c:v>
                </c:pt>
                <c:pt idx="1">
                  <c:v>139.7</c:v>
                </c:pt>
                <c:pt idx="2">
                  <c:v>129.1</c:v>
                </c:pt>
              </c:numCache>
            </c:numRef>
          </c:val>
        </c:ser>
        <c:dLbls>
          <c:numFmt formatCode="0.0" sourceLinked="0"/>
          <c:txPr>
            <a:bodyPr/>
            <a:lstStyle/>
            <a:p>
              <a:pPr>
                <a:defRPr b="0" i="0" strike="noStrike" sz="1100" u="none">
                  <a:solidFill>
                    <a:srgbClr val="1F2A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C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4D2B"/>
                </a:solidFill>
                <a:latin typeface="+mn-lt"/>
              </a:defRPr>
            </a:pPr>
            <a:r>
              <a:rPr sz="1400" b="0" i="0" u="none" strike="noStrike">
                <a:solidFill>
                  <a:srgbClr val="1E4D2B"/>
                </a:solidFill>
                <a:latin typeface="+mn-lt"/>
              </a:rPr>
              <a:t>Evidence: demurrage per MT more than doubled (+116%)</a:t>
            </a:r>
          </a:p>
        </c:rich>
      </c:tx>
      <c:layout/>
      <c:overlay val="0"/>
    </c:title>
    <c:autoTitleDeleted val="0"/>
    <c:plotArea>
      <c:layout/>
      <c:lineChart>
        <c:varyColors val="0"/>
        <c:ser>
          <c:idx val="0"/>
          <c:order val="0"/>
          <c:tx>
            <c:strRef>
              <c:f>Sheet1!$B$1</c:f>
              <c:strCache>
                <c:ptCount val="1"/>
                <c:pt idx="0">
                  <c:v>Demurrage (₹ per MT)</c:v>
                </c:pt>
              </c:strCache>
            </c:strRef>
          </c:tx>
          <c:spPr>
            <a:solidFill>
              <a:srgbClr val="A6402F"/>
            </a:solidFill>
            <a:ln w="38100" cap="flat">
              <a:solidFill>
                <a:srgbClr val="A6402F"/>
              </a:solidFill>
              <a:prstDash val="solid"/>
              <a:round/>
            </a:ln>
            <a:effectLst/>
          </c:spPr>
          <c:invertIfNegative val="0"/>
          <c:dLbls>
            <c:numFmt formatCode="0.00" sourceLinked="0"/>
            <c:txPr>
              <a:bodyPr/>
              <a:lstStyle/>
              <a:p>
                <a:pPr>
                  <a:defRPr b="0" i="0" strike="noStrike" sz="1100" u="none">
                    <a:solidFill>
                      <a:srgbClr val="1F2A24"/>
                    </a:solidFill>
                    <a:latin typeface="+mn-lt"/>
                  </a:defRPr>
                </a:pPr>
              </a:p>
            </c:txPr>
            <c:dLblPos val="t"/>
            <c:showLegendKey val="0"/>
            <c:showVal val="1"/>
            <c:showCatName val="0"/>
            <c:showSerName val="0"/>
            <c:showPercent val="0"/>
            <c:showBubbleSize val="0"/>
            <c:showLeaderLines val="0"/>
          </c:dLbls>
          <c:marker>
            <c:symbol val="circle"/>
            <c:size val="9"/>
            <c:spPr>
              <a:solidFill>
                <a:srgbClr val="A6402F"/>
              </a:solidFill>
              <a:ln w="9525" cap="flat">
                <a:solidFill>
                  <a:srgbClr val="A6402F"/>
                </a:solidFill>
                <a:prstDash val="solid"/>
                <a:round/>
              </a:ln>
              <a:effectLst/>
            </c:spPr>
          </c:marker>
          <c:cat>
            <c:multiLvlStrRef>
              <c:f>Sheet1!$A$2:$A$7</c:f>
              <c:multiLvlStrCache>
                <c:ptCount val="6"/>
                <c:lvl>
                  <c:pt idx="0">
                    <c:v>2019-20</c:v>
                  </c:pt>
                  <c:pt idx="1">
                    <c:v>2020-21</c:v>
                  </c:pt>
                  <c:pt idx="2">
                    <c:v>2021-22</c:v>
                  </c:pt>
                  <c:pt idx="3">
                    <c:v>2022-23</c:v>
                  </c:pt>
                  <c:pt idx="4">
                    <c:v>2023-24</c:v>
                  </c:pt>
                  <c:pt idx="5">
                    <c:v>2024-25</c:v>
                  </c:pt>
                </c:lvl>
              </c:multiLvlStrCache>
            </c:multiLvlStrRef>
          </c:cat>
          <c:val>
            <c:numRef>
              <c:f>Sheet1!$B$2:$B$7</c:f>
              <c:numCache>
                <c:formatCode>General</c:formatCode>
                <c:ptCount val="6"/>
                <c:pt idx="0">
                  <c:v>4.27</c:v>
                </c:pt>
                <c:pt idx="1">
                  <c:v>4.66</c:v>
                </c:pt>
                <c:pt idx="2">
                  <c:v>6.34</c:v>
                </c:pt>
                <c:pt idx="3">
                  <c:v>7.74</c:v>
                </c:pt>
                <c:pt idx="4">
                  <c:v>7.19</c:v>
                </c:pt>
                <c:pt idx="5">
                  <c:v>9.23</c:v>
                </c:pt>
              </c:numCache>
            </c:numRef>
          </c:val>
          <c:smooth val="0"/>
        </c:ser>
        <c:dLbls>
          <c:numFmt formatCode="0.00" sourceLinked="0"/>
          <c:txPr>
            <a:bodyPr/>
            <a:lstStyle/>
            <a:p>
              <a:pPr>
                <a:defRPr b="0" i="0" strike="noStrike" sz="1100" u="none">
                  <a:solidFill>
                    <a:srgbClr val="1F2A24"/>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C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4D2B"/>
                </a:solidFill>
                <a:latin typeface="+mn-lt"/>
              </a:defRPr>
            </a:pPr>
            <a:r>
              <a:rPr sz="1400" b="0" i="0" u="none" strike="noStrike">
                <a:solidFill>
                  <a:srgbClr val="1E4D2B"/>
                </a:solidFill>
                <a:latin typeface="+mn-lt"/>
              </a:rPr>
              <a:t>Storage capacity (million tonnes): growth is hired</a:t>
            </a:r>
          </a:p>
        </c:rich>
      </c:tx>
      <c:layout/>
      <c:overlay val="0"/>
    </c:title>
    <c:autoTitleDeleted val="0"/>
    <c:plotArea>
      <c:layout/>
      <c:barChart>
        <c:barDir val="col"/>
        <c:grouping val="stacked"/>
        <c:varyColors val="0"/>
        <c:ser>
          <c:idx val="0"/>
          <c:order val="0"/>
          <c:tx>
            <c:strRef>
              <c:f>Sheet1!$B$1</c:f>
              <c:strCache>
                <c:ptCount val="1"/>
                <c:pt idx="0">
                  <c:v>Owned</c:v>
                </c:pt>
              </c:strCache>
            </c:strRef>
          </c:tx>
          <c:spPr>
            <a:solidFill>
              <a:srgbClr val="1E4D2B"/>
            </a:solidFill>
            <a:effectLst/>
          </c:spPr>
          <c:invertIfNegative val="0"/>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2022-23</c:v>
                  </c:pt>
                  <c:pt idx="1">
                    <c:v>2023-24</c:v>
                  </c:pt>
                  <c:pt idx="2">
                    <c:v>2024-25</c:v>
                  </c:pt>
                </c:lvl>
              </c:multiLvlStrCache>
            </c:multiLvlStrRef>
          </c:cat>
          <c:val>
            <c:numRef>
              <c:f>Sheet1!$B$2:$B$4</c:f>
              <c:numCache>
                <c:formatCode>General</c:formatCode>
                <c:ptCount val="3"/>
                <c:pt idx="0">
                  <c:v>14.77</c:v>
                </c:pt>
                <c:pt idx="1">
                  <c:v>14.69</c:v>
                </c:pt>
                <c:pt idx="2">
                  <c:v>15.39</c:v>
                </c:pt>
              </c:numCache>
            </c:numRef>
          </c:val>
        </c:ser>
        <c:ser>
          <c:idx val="1"/>
          <c:order val="1"/>
          <c:tx>
            <c:strRef>
              <c:f>Sheet1!$C$1</c:f>
              <c:strCache>
                <c:ptCount val="1"/>
                <c:pt idx="0">
                  <c:v>Hired</c:v>
                </c:pt>
              </c:strCache>
            </c:strRef>
          </c:tx>
          <c:spPr>
            <a:solidFill>
              <a:srgbClr val="C8902E"/>
            </a:solidFill>
            <a:effectLst/>
          </c:spPr>
          <c:invertIfNegative val="0"/>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2022-23</c:v>
                  </c:pt>
                  <c:pt idx="1">
                    <c:v>2023-24</c:v>
                  </c:pt>
                  <c:pt idx="2">
                    <c:v>2024-25</c:v>
                  </c:pt>
                </c:lvl>
              </c:multiLvlStrCache>
            </c:multiLvlStrRef>
          </c:cat>
          <c:val>
            <c:numRef>
              <c:f>Sheet1!$C$2:$C$4</c:f>
              <c:numCache>
                <c:formatCode>General</c:formatCode>
                <c:ptCount val="3"/>
                <c:pt idx="0">
                  <c:v>18.97</c:v>
                </c:pt>
                <c:pt idx="1">
                  <c:v>22.44</c:v>
                </c:pt>
                <c:pt idx="2">
                  <c:v>30.48</c:v>
                </c:pt>
              </c:numCache>
            </c:numRef>
          </c:val>
        </c:ser>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C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minor project analyses how the Food Corporation of India has performed operationally and financially from 2022-23 to 2024-25, using a set of key performance indicators, with special reference to FCI's Gujarat Region. My supervisor is Dr. Ramdas Gore.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FCI procures, stores and distributes foodgrains for the central pool. NFSA makes this a legal entitlement for up to 75% of rural and 50% of urban people. In Gujarat, FCI does not procure; MSP procurement in the state is done by the Gujarat State Civil Supplies Corporation. FCI's Gujarat Region stores and distributes grain. The figures on the right are from FCI Annual Report 2024-25.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five sources. The Shanta Kumar Committee gave policy advice in 2015. Srivastav 2017 is a descriptive appraisal. The CAG audit of 2023 covers up to 2021-22 only. Kumar, Dey and Gupta 2023 look only at procurement. The PIB 2024 note is an official summary. None tracks FCI with one consistent set of KPIs after COVID, and none looks at Gujarat. Note: I could read only the abstract of Kumar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FCI's size has grown, but its efficiency is mixed. In 2024-25 the subsidy released was ₹17,434 crore less than the subsidy required, and short-term borrowings rose 262% in the same year. Existing studies are either audits of the past or descriptive overviews, so this project tracks FCI using one consistent set of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to evaluate FCI's performance using KPIs. I have grouped my report's seven objectives into five measurable ones. O1 covers procurement, storage and distribution; O2 finance; O3 operational gaps such as transit loss, demurrage and buffer stocks; O4 the pre- versus post-COVID comparison; and O5 recommendations. Each objective has a numeric KPI, so it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gaps among the studies I reviewed: a time gap, a regional gap and a method gap. My project differs because it uses one KPI framework across five areas, covers the latest three years with a 2019-20 comparison, and looks at the Gujarat Region. This is not a systematic review of all literature, so I say 'among the studies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five steps. First I collected data from FCI Annual Reports. Then I compiled it into an Excel master dataset with eight sheets. Third, I validated it against PIB, the Economic Survey and FCI's Regional Office in Ahmedabad. Fourth, I calculated year-on-year growth, CAGR, ratios and gaps against norms. Finally I interpreted the results. Values that looked wrong, like the 2019-20 procurement figure, were excluded rather than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secondary data, so the main tool is Microsoft Excel for the master dataset and calculations. Word and PowerPoint are used for the report and presentation. Data sources are official: FCI Annual Reports, the CAG audit, PIB and the Economic Survey. No special hardware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work is done: literature review, the eight-sheet dataset, validation, analysis of all five areas, and a full draft report of eight chapters. The chart is one result: demurrage per tonne rose from ₹4.27 to ₹9.23 over six years even though movement fell, which points to a depot scheduling problem. Pending work is verifying a few flagged figures and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so far. Storage capacity grew 36%, but almost all of it is hired, which costs more; storage cost rose 62.7% in 2024-25. Utilisation improved from 64% to 84%. The subsidy gap was ₹17,434 crore. Transit loss improved from 0.22% to 0.17%. In Gujarat, storage capacity rose about 50% since 2019-20 with about 91% utilisation, and offtake rose 18.6% between 2022-23 and 2024-25.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and the draft are done. In the first two weeks of November I will verify the flagged Gujarat figures and the 2019-20 baseline. Then I will re-check all KPIs and get supervisor review. In December I will finalise the report, run the plagiarism check and submit. These dates are my plan and depend on the university's final submission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deliverables are the final report, a validated KPI dataset and recommendations. Limitations are that the study uses secondary data only, there is no Gujarat-level financial data, and some dataset values still need verification. To conclude: FCI meets its mandate, but storage dependence, the subsidy gap and demurrage are the main areas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main references in IEEE style.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863840" cy="201168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548640" y="3703320"/>
            <a:ext cx="7863840" cy="2377440"/>
          </a:xfrm>
          <a:prstGeom prst="rect">
            <a:avLst/>
          </a:prstGeom>
          <a:noFill/>
          <a:ln/>
        </p:spPr>
        <p:txBody>
          <a:bodyPr wrap="square" rtlCol="0"/>
          <a:lstStyle>
            <a:lvl1pPr indent="0" marL="0">
              <a:buNone/>
              <a:defRPr lang="en-US" sz="1600" dirty="0">
                <a:solidFill>
                  <a:schemeClr val="bg2"/>
                </a:solidFill>
                <a:latin typeface="Calibri" pitchFamily="34" charset="0"/>
                <a:ea typeface="Calibri" pitchFamily="34" charset="-122"/>
                <a:cs typeface="Calibri" pitchFamily="34" charset="-120"/>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Minor Project  |  Laksh Patel  |  FCI Performance Analysis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9" Type="http://schemas.openxmlformats.org/officeDocument/2006/relationships/chart" Target="/ppt/charts/chart2.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863840" cy="201168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Operational and Financial Performance of the Food Corporation of India: A KPI-Based Analysis with Special Reference to Gujarat Region</a:t>
            </a:r>
            <a:endParaRPr lang="en-US" sz="3400" dirty="0"/>
          </a:p>
        </p:txBody>
      </p:sp>
      <p:sp>
        <p:nvSpPr>
          <p:cNvPr id="3" name="Text 0"/>
          <p:cNvSpPr/>
          <p:nvPr>
            <p:ph idx="101" type="body" hasCustomPrompt="1"/>
          </p:nvPr>
        </p:nvSpPr>
        <p:spPr>
          <a:xfrm>
            <a:off x="548640" y="3703320"/>
            <a:ext cx="7863840" cy="237744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latin typeface="Calibri" pitchFamily="34" charset="0"/>
                <a:ea typeface="Calibri" pitchFamily="34" charset="-122"/>
                <a:cs typeface="Calibri" pitchFamily="34" charset="-120"/>
              </a:rPr>
              <a:t>Laksh Patel  |  Enrolment No. 250104004025</a:t>
            </a:r>
            <a:endParaRPr lang="en-US" sz="1600" dirty="0"/>
          </a:p>
          <a:p>
            <a:pPr indent="0" marL="0">
              <a:spcAft>
                <a:spcPts val="600"/>
              </a:spcAft>
              <a:buNone/>
            </a:pPr>
            <a:r>
              <a:rPr lang="en-US" sz="1600" dirty="0">
                <a:solidFill>
                  <a:schemeClr val="bg2"/>
                </a:solidFill>
                <a:latin typeface="Calibri" pitchFamily="34" charset="0"/>
                <a:ea typeface="Calibri" pitchFamily="34" charset="-122"/>
                <a:cs typeface="Calibri" pitchFamily="34" charset="-120"/>
              </a:rPr>
              <a:t>MBA (Business Analytics and Intelligence), Semester III</a:t>
            </a:r>
            <a:endParaRPr lang="en-US" sz="1600" dirty="0"/>
          </a:p>
          <a:p>
            <a:pPr indent="0" marL="0">
              <a:spcAft>
                <a:spcPts val="600"/>
              </a:spcAft>
              <a:buNone/>
            </a:pPr>
            <a:r>
              <a:rPr lang="en-US" sz="1600" dirty="0">
                <a:solidFill>
                  <a:schemeClr val="bg2"/>
                </a:solidFill>
                <a:latin typeface="Calibri" pitchFamily="34" charset="0"/>
                <a:ea typeface="Calibri" pitchFamily="34" charset="-122"/>
                <a:cs typeface="Calibri" pitchFamily="34" charset="-120"/>
              </a:rPr>
              <a:t>School of Management Studies, National Forensic Sciences University, Gandhinagar</a:t>
            </a:r>
            <a:endParaRPr lang="en-US" sz="1600" dirty="0"/>
          </a:p>
          <a:p>
            <a:pPr indent="0" marL="0">
              <a:spcAft>
                <a:spcPts val="600"/>
              </a:spcAft>
              <a:buNone/>
            </a:pPr>
            <a:r>
              <a:rPr lang="en-US" sz="1600" dirty="0">
                <a:solidFill>
                  <a:schemeClr val="bg2"/>
                </a:solidFill>
                <a:latin typeface="Calibri" pitchFamily="34" charset="0"/>
                <a:ea typeface="Calibri" pitchFamily="34" charset="-122"/>
                <a:cs typeface="Calibri" pitchFamily="34" charset="-120"/>
              </a:rPr>
              <a:t>Supervisor: Dr. Ramdas Gore, Assistant Professor</a:t>
            </a:r>
            <a:endParaRPr lang="en-US" sz="1600" dirty="0"/>
          </a:p>
          <a:p>
            <a:pPr indent="0" marL="0">
              <a:spcAft>
                <a:spcPts val="600"/>
              </a:spcAft>
              <a:buNone/>
            </a:pPr>
            <a:r>
              <a:rPr lang="en-US" sz="1600" dirty="0">
                <a:solidFill>
                  <a:schemeClr val="bg2"/>
                </a:solidFill>
                <a:latin typeface="Calibri" pitchFamily="34" charset="0"/>
                <a:ea typeface="Calibri" pitchFamily="34" charset="-122"/>
                <a:cs typeface="Calibri" pitchFamily="34" charset="-120"/>
              </a:rPr>
              <a:t>Academic Year 2026-27  |  Minor Project – Mid-Semester Examination</a:t>
            </a:r>
            <a:endParaRPr lang="en-US" sz="1600" dirty="0"/>
          </a:p>
        </p:txBody>
      </p:sp>
      <p:sp>
        <p:nvSpPr>
          <p:cNvPr id="4" name="Title icon circle"/>
          <p:cNvSpPr/>
          <p:nvPr/>
        </p:nvSpPr>
        <p:spPr>
          <a:xfrm>
            <a:off x="9006840" y="1554480"/>
            <a:ext cx="2651760" cy="2651760"/>
          </a:xfrm>
          <a:prstGeom prst="ellipse">
            <a:avLst/>
          </a:prstGeom>
          <a:solidFill>
            <a:schemeClr val="accent2"/>
          </a:solidFill>
          <a:ln w="12700">
            <a:solidFill>
              <a:schemeClr val="accent2"/>
            </a:solidFill>
            <a:prstDash val="solid"/>
          </a:ln>
        </p:spPr>
      </p:sp>
      <p:pic>
        <p:nvPicPr>
          <p:cNvPr id="5" name="Title warehouse icon" descr="preencoded.png">    </p:cNvPr>
          <p:cNvPicPr>
            <a:picLocks noChangeAspect="1"/>
          </p:cNvPicPr>
          <p:nvPr/>
        </p:nvPicPr>
        <p:blipFill>
          <a:blip r:embed="rId1"/>
          <a:stretch>
            <a:fillRect/>
          </a:stretch>
        </p:blipFill>
        <p:spPr>
          <a:xfrm>
            <a:off x="9601200" y="2148840"/>
            <a:ext cx="1463040" cy="1463040"/>
          </a:xfrm>
          <a:prstGeom prst="rect">
            <a:avLst/>
          </a:prstGeom>
        </p:spPr>
      </p:pic>
      <p:sp>
        <p:nvSpPr>
          <p:cNvPr id="6" name="Text 3"/>
          <p:cNvSpPr txBox="1"/>
          <p:nvPr/>
        </p:nvSpPr>
        <p:spPr>
          <a:xfrm>
            <a:off x="8686800" y="4480560"/>
            <a:ext cx="3291840" cy="365760"/>
          </a:xfrm>
          <a:prstGeom prst="rect">
            <a:avLst/>
          </a:prstGeom>
          <a:noFill/>
          <a:ln/>
        </p:spPr>
        <p:txBody>
          <a:bodyPr wrap="square" lIns="0" tIns="0" rIns="0" bIns="0" rtlCol="0" anchor="t"/>
          <a:lstStyle/>
          <a:p>
            <a:pPr algn="ctr" indent="0" marL="0">
              <a:buNone/>
            </a:pPr>
            <a:r>
              <a:rPr lang="en-US" sz="1200" i="1" dirty="0">
                <a:solidFill>
                  <a:schemeClr val="bg2"/>
                </a:solidFill>
                <a:latin typeface="Calibri" pitchFamily="34" charset="0"/>
                <a:ea typeface="Calibri" pitchFamily="34" charset="-122"/>
                <a:cs typeface="Calibri" pitchFamily="34" charset="-120"/>
              </a:rPr>
              <a:t>Data: FCI Annual Reports, 2019-20 to 2024-25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Introduction and Background</a:t>
            </a:r>
            <a:endParaRPr lang="en-US" sz="3200" dirty="0"/>
          </a:p>
        </p:txBody>
      </p:sp>
      <p:sp>
        <p:nvSpPr>
          <p:cNvPr id="3" name="Text 1"/>
          <p:cNvSpPr txBox="1"/>
          <p:nvPr/>
        </p:nvSpPr>
        <p:spPr>
          <a:xfrm>
            <a:off x="548640" y="1325880"/>
            <a:ext cx="6583680" cy="4754880"/>
          </a:xfrm>
          <a:prstGeom prst="rect">
            <a:avLst/>
          </a:prstGeom>
          <a:noFill/>
          <a:ln/>
        </p:spPr>
        <p:txBody>
          <a:bodyPr wrap="square" lIns="0" tIns="0" rIns="0" bIns="0" rtlCol="0" anchor="t"/>
          <a:lstStyle/>
          <a:p>
            <a:pPr marL="203200" indent="-203200">
              <a:spcAft>
                <a:spcPts val="1000"/>
              </a:spcAft>
              <a:buSzPct val="100000"/>
              <a:buChar char="•"/>
            </a:pPr>
            <a:r>
              <a:rPr lang="en-US" sz="1700" b="1" dirty="0">
                <a:solidFill>
                  <a:schemeClr val="tx1"/>
                </a:solidFill>
                <a:latin typeface="Calibri" pitchFamily="34" charset="0"/>
                <a:ea typeface="Calibri" pitchFamily="34" charset="-122"/>
                <a:cs typeface="Calibri" pitchFamily="34" charset="-120"/>
              </a:rPr>
              <a:t>Domain: </a:t>
            </a:r>
            <a:pPr indent="0" marL="0">
              <a:buNone/>
            </a:pPr>
            <a:r>
              <a:rPr lang="en-US" sz="1700" dirty="0">
                <a:solidFill>
                  <a:schemeClr val="tx1"/>
                </a:solidFill>
                <a:latin typeface="Calibri" pitchFamily="34" charset="0"/>
                <a:ea typeface="Calibri" pitchFamily="34" charset="-122"/>
                <a:cs typeface="Calibri" pitchFamily="34" charset="-120"/>
              </a:rPr>
              <a:t>public food supply chain – procurement, storage and distribution of foodgrains</a:t>
            </a:r>
            <a:endParaRPr lang="en-US" sz="1700" dirty="0"/>
          </a:p>
          <a:p>
            <a:pPr marL="203200" indent="-203200">
              <a:spcAft>
                <a:spcPts val="1000"/>
              </a:spcAft>
              <a:buSzPct val="100000"/>
              <a:buChar char="•"/>
            </a:pPr>
            <a:r>
              <a:rPr lang="en-US" sz="1700" b="1" dirty="0">
                <a:solidFill>
                  <a:schemeClr val="tx1"/>
                </a:solidFill>
                <a:latin typeface="Calibri" pitchFamily="34" charset="0"/>
                <a:ea typeface="Calibri" pitchFamily="34" charset="-122"/>
                <a:cs typeface="Calibri" pitchFamily="34" charset="-120"/>
              </a:rPr>
              <a:t>FCI: </a:t>
            </a:r>
            <a:pPr indent="0" marL="0">
              <a:buNone/>
            </a:pPr>
            <a:r>
              <a:rPr lang="en-US" sz="1700" dirty="0">
                <a:solidFill>
                  <a:schemeClr val="tx1"/>
                </a:solidFill>
                <a:latin typeface="Calibri" pitchFamily="34" charset="0"/>
                <a:ea typeface="Calibri" pitchFamily="34" charset="-122"/>
                <a:cs typeface="Calibri" pitchFamily="34" charset="-120"/>
              </a:rPr>
              <a:t>set up under the Food Corporations Act, 1964; central agency for India’s food security system</a:t>
            </a:r>
            <a:endParaRPr lang="en-US" sz="1700" dirty="0"/>
          </a:p>
          <a:p>
            <a:pPr marL="203200" indent="-203200">
              <a:spcAft>
                <a:spcPts val="1000"/>
              </a:spcAft>
              <a:buSzPct val="100000"/>
              <a:buChar char="•"/>
            </a:pPr>
            <a:r>
              <a:rPr lang="en-US" sz="1700" b="1" dirty="0">
                <a:solidFill>
                  <a:schemeClr val="tx1"/>
                </a:solidFill>
                <a:latin typeface="Calibri" pitchFamily="34" charset="0"/>
                <a:ea typeface="Calibri" pitchFamily="34" charset="-122"/>
                <a:cs typeface="Calibri" pitchFamily="34" charset="-120"/>
              </a:rPr>
              <a:t>Relevance: </a:t>
            </a:r>
            <a:pPr indent="0" marL="0">
              <a:buNone/>
            </a:pPr>
            <a:r>
              <a:rPr lang="en-US" sz="1700" dirty="0">
                <a:solidFill>
                  <a:schemeClr val="tx1"/>
                </a:solidFill>
                <a:latin typeface="Calibri" pitchFamily="34" charset="0"/>
                <a:ea typeface="Calibri" pitchFamily="34" charset="-122"/>
                <a:cs typeface="Calibri" pitchFamily="34" charset="-120"/>
              </a:rPr>
              <a:t>NFSA 2013 entitles up to 75% of the rural and 50% of the urban population to subsidised grain</a:t>
            </a:r>
            <a:endParaRPr lang="en-US" sz="1700" dirty="0"/>
          </a:p>
          <a:p>
            <a:pPr marL="203200" indent="-203200">
              <a:spcAft>
                <a:spcPts val="1000"/>
              </a:spcAft>
              <a:buSzPct val="100000"/>
              <a:buChar char="•"/>
            </a:pPr>
            <a:r>
              <a:rPr lang="en-US" sz="1700" b="1" dirty="0">
                <a:solidFill>
                  <a:schemeClr val="tx1"/>
                </a:solidFill>
                <a:latin typeface="Calibri" pitchFamily="34" charset="0"/>
                <a:ea typeface="Calibri" pitchFamily="34" charset="-122"/>
                <a:cs typeface="Calibri" pitchFamily="34" charset="-120"/>
              </a:rPr>
              <a:t>Gujarat: </a:t>
            </a:r>
            <a:pPr indent="0" marL="0">
              <a:buNone/>
            </a:pPr>
            <a:r>
              <a:rPr lang="en-US" sz="1700" dirty="0">
                <a:solidFill>
                  <a:schemeClr val="tx1"/>
                </a:solidFill>
                <a:latin typeface="Calibri" pitchFamily="34" charset="0"/>
                <a:ea typeface="Calibri" pitchFamily="34" charset="-122"/>
                <a:cs typeface="Calibri" pitchFamily="34" charset="-120"/>
              </a:rPr>
              <a:t>FCI does not procure in Gujarat; its Gujarat Region stores and distributes central pool stock</a:t>
            </a:r>
            <a:endParaRPr lang="en-US" sz="1700" dirty="0"/>
          </a:p>
          <a:p>
            <a:pPr marL="203200" indent="-203200">
              <a:spcAft>
                <a:spcPts val="1000"/>
              </a:spcAft>
              <a:buSzPct val="100000"/>
              <a:buChar char="•"/>
            </a:pPr>
            <a:r>
              <a:rPr lang="en-US" sz="1700" b="1" dirty="0">
                <a:solidFill>
                  <a:schemeClr val="tx1"/>
                </a:solidFill>
                <a:latin typeface="Calibri" pitchFamily="34" charset="0"/>
                <a:ea typeface="Calibri" pitchFamily="34" charset="-122"/>
                <a:cs typeface="Calibri" pitchFamily="34" charset="-120"/>
              </a:rPr>
              <a:t>Current challenges: </a:t>
            </a:r>
            <a:pPr indent="0" marL="0">
              <a:buNone/>
            </a:pPr>
            <a:r>
              <a:rPr lang="en-US" sz="1700" dirty="0">
                <a:solidFill>
                  <a:schemeClr val="tx1"/>
                </a:solidFill>
                <a:latin typeface="Calibri" pitchFamily="34" charset="0"/>
                <a:ea typeface="Calibri" pitchFamily="34" charset="-122"/>
                <a:cs typeface="Calibri" pitchFamily="34" charset="-120"/>
              </a:rPr>
              <a:t>rising storage cost, dependence on hired godowns, subsidy funding gap, rising demurrage</a:t>
            </a:r>
            <a:endParaRPr lang="en-US" sz="1700" dirty="0"/>
          </a:p>
        </p:txBody>
      </p:sp>
      <p:sp>
        <p:nvSpPr>
          <p:cNvPr id="4" name="Stat card 1"/>
          <p:cNvSpPr/>
          <p:nvPr/>
        </p:nvSpPr>
        <p:spPr>
          <a:xfrm>
            <a:off x="7589520" y="1325880"/>
            <a:ext cx="4050792" cy="1371600"/>
          </a:xfrm>
          <a:prstGeom prst="roundRect">
            <a:avLst>
              <a:gd name="adj" fmla="val 5333"/>
            </a:avLst>
          </a:prstGeom>
          <a:solidFill>
            <a:schemeClr val="bg2"/>
          </a:solidFill>
          <a:ln w="12700">
            <a:solidFill>
              <a:schemeClr val="bg2"/>
            </a:solidFill>
            <a:prstDash val="solid"/>
          </a:ln>
        </p:spPr>
      </p:sp>
      <p:sp>
        <p:nvSpPr>
          <p:cNvPr id="5" name="Text 3"/>
          <p:cNvSpPr txBox="1"/>
          <p:nvPr/>
        </p:nvSpPr>
        <p:spPr>
          <a:xfrm>
            <a:off x="7818120" y="1463040"/>
            <a:ext cx="36576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45.87</a:t>
            </a:r>
            <a:endParaRPr lang="en-US" sz="3200" dirty="0"/>
          </a:p>
        </p:txBody>
      </p:sp>
      <p:sp>
        <p:nvSpPr>
          <p:cNvPr id="6" name="Text 4"/>
          <p:cNvSpPr txBox="1"/>
          <p:nvPr/>
        </p:nvSpPr>
        <p:spPr>
          <a:xfrm>
            <a:off x="7818120" y="2167128"/>
            <a:ext cx="3657600" cy="41148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million tonnes storage capacity (2024-25)</a:t>
            </a:r>
            <a:endParaRPr lang="en-US" sz="1300" dirty="0"/>
          </a:p>
        </p:txBody>
      </p:sp>
      <p:sp>
        <p:nvSpPr>
          <p:cNvPr id="7" name="Stat card 2"/>
          <p:cNvSpPr/>
          <p:nvPr/>
        </p:nvSpPr>
        <p:spPr>
          <a:xfrm>
            <a:off x="7589520" y="2926080"/>
            <a:ext cx="4050792" cy="137160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7818120" y="3063240"/>
            <a:ext cx="36576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₹1.47 lakh cr</a:t>
            </a:r>
            <a:endParaRPr lang="en-US" sz="3200" dirty="0"/>
          </a:p>
        </p:txBody>
      </p:sp>
      <p:sp>
        <p:nvSpPr>
          <p:cNvPr id="9" name="Text 7"/>
          <p:cNvSpPr txBox="1"/>
          <p:nvPr/>
        </p:nvSpPr>
        <p:spPr>
          <a:xfrm>
            <a:off x="7818120" y="3767328"/>
            <a:ext cx="3657600" cy="41148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food subsidy required (2024-25)</a:t>
            </a:r>
            <a:endParaRPr lang="en-US" sz="1300" dirty="0"/>
          </a:p>
        </p:txBody>
      </p:sp>
      <p:sp>
        <p:nvSpPr>
          <p:cNvPr id="10" name="Stat card 3"/>
          <p:cNvSpPr/>
          <p:nvPr/>
        </p:nvSpPr>
        <p:spPr>
          <a:xfrm>
            <a:off x="7589520" y="4526280"/>
            <a:ext cx="4050792" cy="1371600"/>
          </a:xfrm>
          <a:prstGeom prst="roundRect">
            <a:avLst>
              <a:gd name="adj" fmla="val 5333"/>
            </a:avLst>
          </a:prstGeom>
          <a:solidFill>
            <a:schemeClr val="bg2"/>
          </a:solidFill>
          <a:ln w="12700">
            <a:solidFill>
              <a:schemeClr val="bg2"/>
            </a:solidFill>
            <a:prstDash val="solid"/>
          </a:ln>
        </p:spPr>
      </p:sp>
      <p:sp>
        <p:nvSpPr>
          <p:cNvPr id="11" name="Text 9"/>
          <p:cNvSpPr txBox="1"/>
          <p:nvPr/>
        </p:nvSpPr>
        <p:spPr>
          <a:xfrm>
            <a:off x="7818120" y="4663440"/>
            <a:ext cx="36576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455 LMT</a:t>
            </a:r>
            <a:endParaRPr lang="en-US" sz="3200" dirty="0"/>
          </a:p>
        </p:txBody>
      </p:sp>
      <p:sp>
        <p:nvSpPr>
          <p:cNvPr id="12" name="Text 10"/>
          <p:cNvSpPr txBox="1"/>
          <p:nvPr/>
        </p:nvSpPr>
        <p:spPr>
          <a:xfrm>
            <a:off x="7818120" y="5367528"/>
            <a:ext cx="3657600" cy="41148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total foodgrain sales (2024-25)</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Literature Review</a:t>
            </a:r>
            <a:endParaRPr lang="en-US" sz="3200" dirty="0"/>
          </a:p>
        </p:txBody>
      </p:sp>
      <p:graphicFrame>
        <p:nvGraphicFramePr>
          <p:cNvPr id="4" name="Literature comparison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377440"/>
                <a:gridCol w="2103120"/>
                <a:gridCol w="3749040"/>
                <a:gridCol w="2864815"/>
              </a:tblGrid>
              <a:tr h="566928">
                <a:tc>
                  <a:txBody>
                    <a:bodyPr/>
                    <a:lstStyle/>
                    <a:p>
                      <a:pPr indent="0" marL="0">
                        <a:buNone/>
                      </a:pPr>
                      <a:r>
                        <a:rPr lang="en-US" sz="1300" b="1" dirty="0">
                          <a:solidFill>
                            <a:schemeClr val="bg1"/>
                          </a:solidFill>
                        </a:rPr>
                        <a:t>Author / Year</a:t>
                      </a:r>
                      <a:endParaRPr lang="en-US" sz="13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Method</a:t>
                      </a:r>
                      <a:endParaRPr lang="en-US" sz="13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Key finding</a:t>
                      </a:r>
                      <a:endParaRPr lang="en-US" sz="13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Limitation / gap</a:t>
                      </a:r>
                      <a:endParaRPr lang="en-US" sz="13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r>
              <a:tr h="566928">
                <a:tc>
                  <a:txBody>
                    <a:bodyPr/>
                    <a:lstStyle/>
                    <a:p>
                      <a:pPr indent="0" marL="0">
                        <a:buNone/>
                      </a:pPr>
                      <a:r>
                        <a:rPr lang="en-US" sz="1200" b="1" dirty="0">
                          <a:solidFill>
                            <a:schemeClr val="tx1"/>
                          </a:solidFill>
                        </a:rPr>
                        <a:t>High Level Committee (Shanta Kumar), 2015</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Committee policy review</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Recommended reorienting FCI: review procurement policy, outsource storage, warehouse receipts</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Policy advice; no year-by-year performance tracking</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Srivastav, 2017</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Descriptive appraisal</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FCI is a key instrument of food policy; built up sizeable buffer stocks</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Pre-2017 data; no KPIs or regional view</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rPr>
                        <a:t>CAG, Report No. 20 of 2023</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Performance audit, 2017-18 to 2021-22</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Gaps in storage planning, godown hiring and cost control</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Ends before post-COVID years; no Gujarat analysis</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Kumar, Dey &amp; Gupta, 2023</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Management case study</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Ways to make FCI procurement more inclusive and efficient</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Procurement only; no storage, finance or losses</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rPr>
                        <a:t>PIB (Govt. of India), 2024</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Official backgrounder</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Transit loss down to 0.16% (2023-24); interest cost ₹3,268 cr</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Summary of achievements, not independent analysis</a:t>
                      </a:r>
                      <a:endParaRPr lang="en-US" sz="1200" dirty="0"/>
                    </a:p>
                  </a:txBody>
                  <a:tcPr marL="73152" marR="73152"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892040"/>
            <a:ext cx="11094415" cy="411480"/>
          </a:xfrm>
          <a:prstGeom prst="rect">
            <a:avLst/>
          </a:prstGeom>
          <a:noFill/>
          <a:ln/>
        </p:spPr>
        <p:txBody>
          <a:bodyPr wrap="square" lIns="0" tIns="0" rIns="0" bIns="0" rtlCol="0" anchor="t"/>
          <a:lstStyle/>
          <a:p>
            <a:pPr indent="0" marL="0">
              <a:buNone/>
            </a:pPr>
            <a:r>
              <a:rPr lang="en-US" sz="1500" b="1" i="1" dirty="0">
                <a:solidFill>
                  <a:schemeClr val="accent4"/>
                </a:solidFill>
                <a:latin typeface="Calibri" pitchFamily="34" charset="0"/>
                <a:ea typeface="Calibri" pitchFamily="34" charset="-122"/>
                <a:cs typeface="Calibri" pitchFamily="34" charset="-120"/>
              </a:rPr>
              <a:t>Common gap: no consistent KPI-based, multi-year review of FCI after COVID, and none at Gujarat Region level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Problem Statement</a:t>
            </a:r>
            <a:endParaRPr lang="en-US" sz="3200" dirty="0"/>
          </a:p>
        </p:txBody>
      </p:sp>
      <p:sp>
        <p:nvSpPr>
          <p:cNvPr id="3" name="Problem card"/>
          <p:cNvSpPr/>
          <p:nvPr/>
        </p:nvSpPr>
        <p:spPr>
          <a:xfrm>
            <a:off x="548640" y="1280160"/>
            <a:ext cx="5486400" cy="1325880"/>
          </a:xfrm>
          <a:prstGeom prst="roundRect">
            <a:avLst>
              <a:gd name="adj" fmla="val 5517"/>
            </a:avLst>
          </a:prstGeom>
          <a:solidFill>
            <a:schemeClr val="accent1"/>
          </a:solidFill>
          <a:ln w="12700">
            <a:solidFill>
              <a:schemeClr val="accent1"/>
            </a:solidFill>
            <a:prstDash val="solid"/>
          </a:ln>
        </p:spPr>
      </p:sp>
      <p:sp>
        <p:nvSpPr>
          <p:cNvPr id="4" name="Text 2"/>
          <p:cNvSpPr txBox="1"/>
          <p:nvPr/>
        </p:nvSpPr>
        <p:spPr>
          <a:xfrm>
            <a:off x="777240" y="1417320"/>
            <a:ext cx="5029200" cy="10972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FCI has grown in capacity and funding, but it is not clear whether its operational efficiency has improved with it.</a:t>
            </a:r>
            <a:endParaRPr lang="en-US" sz="1700" dirty="0"/>
          </a:p>
        </p:txBody>
      </p:sp>
      <p:sp>
        <p:nvSpPr>
          <p:cNvPr id="5" name="Text 3"/>
          <p:cNvSpPr txBox="1"/>
          <p:nvPr/>
        </p:nvSpPr>
        <p:spPr>
          <a:xfrm>
            <a:off x="548640" y="2834640"/>
            <a:ext cx="5486400" cy="329184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chemeClr val="tx1"/>
                </a:solidFill>
                <a:latin typeface="Calibri" pitchFamily="34" charset="0"/>
                <a:ea typeface="Calibri" pitchFamily="34" charset="-122"/>
                <a:cs typeface="Calibri" pitchFamily="34" charset="-120"/>
              </a:rPr>
              <a:t>Why investigate: </a:t>
            </a:r>
            <a:pPr indent="0" marL="0">
              <a:buNone/>
            </a:pPr>
            <a:r>
              <a:rPr lang="en-US" sz="1400" dirty="0">
                <a:solidFill>
                  <a:schemeClr val="tx1"/>
                </a:solidFill>
                <a:latin typeface="Calibri" pitchFamily="34" charset="0"/>
                <a:ea typeface="Calibri" pitchFamily="34" charset="-122"/>
                <a:cs typeface="Calibri" pitchFamily="34" charset="-120"/>
              </a:rPr>
              <a:t>costs are funded by public subsidy, so inefficiency is a direct fiscal burden</a:t>
            </a:r>
            <a:endParaRPr lang="en-US" sz="1400" dirty="0"/>
          </a:p>
          <a:p>
            <a:pPr marL="203200" indent="-203200">
              <a:spcAft>
                <a:spcPts val="1000"/>
              </a:spcAft>
              <a:buSzPct val="100000"/>
              <a:buChar char="•"/>
            </a:pPr>
            <a:r>
              <a:rPr lang="en-US" sz="1400" b="1" dirty="0">
                <a:solidFill>
                  <a:schemeClr val="tx1"/>
                </a:solidFill>
                <a:latin typeface="Calibri" pitchFamily="34" charset="0"/>
                <a:ea typeface="Calibri" pitchFamily="34" charset="-122"/>
                <a:cs typeface="Calibri" pitchFamily="34" charset="-120"/>
              </a:rPr>
              <a:t>Limits of existing work: </a:t>
            </a:r>
            <a:pPr indent="0" marL="0">
              <a:buNone/>
            </a:pPr>
            <a:r>
              <a:rPr lang="en-US" sz="1400" dirty="0">
                <a:solidFill>
                  <a:schemeClr val="tx1"/>
                </a:solidFill>
                <a:latin typeface="Calibri" pitchFamily="34" charset="0"/>
                <a:ea typeface="Calibri" pitchFamily="34" charset="-122"/>
                <a:cs typeface="Calibri" pitchFamily="34" charset="-120"/>
              </a:rPr>
              <a:t>audits look backwards; descriptive studies lack consistent indicators</a:t>
            </a:r>
            <a:endParaRPr lang="en-US" sz="1400" dirty="0"/>
          </a:p>
          <a:p>
            <a:pPr marL="203200" indent="-203200">
              <a:spcAft>
                <a:spcPts val="1000"/>
              </a:spcAft>
              <a:buSzPct val="100000"/>
              <a:buChar char="•"/>
            </a:pPr>
            <a:r>
              <a:rPr lang="en-US" sz="1400" b="1" dirty="0">
                <a:solidFill>
                  <a:schemeClr val="tx1"/>
                </a:solidFill>
                <a:latin typeface="Calibri" pitchFamily="34" charset="0"/>
                <a:ea typeface="Calibri" pitchFamily="34" charset="-122"/>
                <a:cs typeface="Calibri" pitchFamily="34" charset="-120"/>
              </a:rPr>
              <a:t>Expected contribution: </a:t>
            </a:r>
            <a:pPr indent="0" marL="0">
              <a:buNone/>
            </a:pPr>
            <a:r>
              <a:rPr lang="en-US" sz="1400" dirty="0">
                <a:solidFill>
                  <a:schemeClr val="tx1"/>
                </a:solidFill>
                <a:latin typeface="Calibri" pitchFamily="34" charset="0"/>
                <a:ea typeface="Calibri" pitchFamily="34" charset="-122"/>
                <a:cs typeface="Calibri" pitchFamily="34" charset="-120"/>
              </a:rPr>
              <a:t>a KPI view of FCI from 2022-23 to 2024-25, with a pre-COVID comparison and Gujarat focus</a:t>
            </a:r>
            <a:endParaRPr lang="en-US" sz="1400" dirty="0"/>
          </a:p>
        </p:txBody>
      </p:sp>
      <p:graphicFrame>
        <p:nvGraphicFramePr>
          <p:cNvPr id="6" name="Subsidy chart" descr=""/>
          <p:cNvGraphicFramePr/>
          <p:nvPr/>
        </p:nvGraphicFramePr>
        <p:xfrm>
          <a:off x="6400800" y="1234440"/>
          <a:ext cx="5239512" cy="4892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Aim and Objectives</a:t>
            </a:r>
            <a:endParaRPr lang="en-US" sz="3200" dirty="0"/>
          </a:p>
        </p:txBody>
      </p:sp>
      <p:sp>
        <p:nvSpPr>
          <p:cNvPr id="3" name="Text 1"/>
          <p:cNvSpPr txBox="1"/>
          <p:nvPr/>
        </p:nvSpPr>
        <p:spPr>
          <a:xfrm>
            <a:off x="548640" y="1234440"/>
            <a:ext cx="11094415" cy="64008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Aim: </a:t>
            </a:r>
            <a:pPr indent="0" marL="0">
              <a:buNone/>
            </a:pPr>
            <a:r>
              <a:rPr lang="en-US" sz="1600" dirty="0">
                <a:solidFill>
                  <a:schemeClr val="tx1"/>
                </a:solidFill>
                <a:latin typeface="Calibri" pitchFamily="34" charset="0"/>
                <a:ea typeface="Calibri" pitchFamily="34" charset="-122"/>
                <a:cs typeface="Calibri" pitchFamily="34" charset="-120"/>
              </a:rPr>
              <a:t>to evaluate FCI’s operational and financial performance from 2022-23 to 2024-25 using KPIs, with special reference to the Gujarat Region</a:t>
            </a:r>
            <a:endParaRPr lang="en-US" sz="1600" dirty="0"/>
          </a:p>
        </p:txBody>
      </p:sp>
      <p:graphicFrame>
        <p:nvGraphicFramePr>
          <p:cNvPr id="6" name="Objectives table"/>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640080"/>
                <a:gridCol w="4023360"/>
                <a:gridCol w="3566160"/>
                <a:gridCol w="2864815"/>
              </a:tblGrid>
              <a:tr h="640080">
                <a:tc>
                  <a:txBody>
                    <a:bodyPr/>
                    <a:lstStyle/>
                    <a:p>
                      <a:pPr indent="0" marL="0">
                        <a:buNone/>
                      </a:pPr>
                      <a:r>
                        <a:rPr lang="en-US" sz="1300" b="1" dirty="0">
                          <a:solidFill>
                            <a:schemeClr val="bg1"/>
                          </a:solidFill>
                        </a:rPr>
                        <a:t>#</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Objective</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Measured by (KPI)</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Link to problem</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accent1"/>
                    </a:solidFill>
                  </a:tcPr>
                </a:tc>
              </a:tr>
              <a:tr h="640080">
                <a:tc>
                  <a:txBody>
                    <a:bodyPr/>
                    <a:lstStyle/>
                    <a:p>
                      <a:pPr indent="0" marL="0">
                        <a:buNone/>
                      </a:pPr>
                      <a:r>
                        <a:rPr lang="en-US" sz="1300" b="1" dirty="0">
                          <a:solidFill>
                            <a:schemeClr val="accent1"/>
                          </a:solidFill>
                        </a:rPr>
                        <a:t>O1</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Measure procurement, storage and distribution performance</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Volume (LMT), utilisation %, offtake</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Is FCI using its capacity well?</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accent1"/>
                          </a:solidFill>
                        </a:rPr>
                        <a:t>O2</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Evaluate financial performance</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Subsidy required vs released, borrowings, cost CAGR</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Is the cost burden rising?</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accent1"/>
                          </a:solidFill>
                        </a:rPr>
                        <a:t>O3</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Identify operational gaps</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Transit loss %, demurrage ₹/MT, buffer vs norm</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Where is efficiency lost?</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accent1"/>
                          </a:solidFill>
                        </a:rPr>
                        <a:t>O4</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Compare post-COVID with pre-COVID (2019-20)</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 change on selected KPIs</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Is the change structural or COVID-driven?</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accent1"/>
                          </a:solidFill>
                        </a:rPr>
                        <a:t>O5</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Recommend data-based improvements</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Gaps found in O1–O4</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What should FCI change?</a:t>
                      </a:r>
                      <a:endParaRPr lang="en-US" sz="1300" dirty="0"/>
                    </a:p>
                  </a:txBody>
                  <a:tcPr marL="91440" marR="91440" marT="54864" marB="54864" anchor="ctr">
                    <a:lnL w="6350" cap="flat" cmpd="sng" algn="ctr">
                      <a:solidFill>
                        <a:srgbClr val="D5DED4"/>
                      </a:solidFill>
                      <a:prstDash val="solid"/>
                      <a:round/>
                      <a:headEnd type="none" w="med" len="med"/>
                      <a:tailEnd type="none" w="med" len="med"/>
                    </a:lnL>
                    <a:lnR w="6350" cap="flat" cmpd="sng" algn="ctr">
                      <a:solidFill>
                        <a:srgbClr val="D5DED4"/>
                      </a:solidFill>
                      <a:prstDash val="solid"/>
                      <a:round/>
                      <a:headEnd type="none" w="med" len="med"/>
                      <a:tailEnd type="none" w="med" len="med"/>
                    </a:lnR>
                    <a:lnT w="6350" cap="flat" cmpd="sng" algn="ctr">
                      <a:solidFill>
                        <a:srgbClr val="D5DED4"/>
                      </a:solidFill>
                      <a:prstDash val="solid"/>
                      <a:round/>
                      <a:headEnd type="none" w="med" len="med"/>
                      <a:tailEnd type="none" w="med" len="med"/>
                    </a:lnT>
                    <a:lnB w="6350" cap="flat" cmpd="sng" algn="ctr">
                      <a:solidFill>
                        <a:srgbClr val="D5DED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Research Gap and Proposed Contribution</a:t>
            </a:r>
            <a:endParaRPr lang="en-US" sz="3200" dirty="0"/>
          </a:p>
        </p:txBody>
      </p:sp>
      <p:sp>
        <p:nvSpPr>
          <p:cNvPr id="3" name="Gap card 1"/>
          <p:cNvSpPr/>
          <p:nvPr/>
        </p:nvSpPr>
        <p:spPr>
          <a:xfrm>
            <a:off x="548640" y="1280160"/>
            <a:ext cx="3502152" cy="4800600"/>
          </a:xfrm>
          <a:prstGeom prst="roundRect">
            <a:avLst>
              <a:gd name="adj" fmla="val 2089"/>
            </a:avLst>
          </a:prstGeom>
          <a:solidFill>
            <a:schemeClr val="bg2"/>
          </a:solidFill>
          <a:ln w="12700">
            <a:solidFill>
              <a:schemeClr val="bg2"/>
            </a:solidFill>
            <a:prstDash val="solid"/>
          </a:ln>
        </p:spPr>
      </p:sp>
      <p:sp>
        <p:nvSpPr>
          <p:cNvPr id="4" name="Gap 1 circle"/>
          <p:cNvSpPr/>
          <p:nvPr/>
        </p:nvSpPr>
        <p:spPr>
          <a:xfrm>
            <a:off x="822960" y="1508760"/>
            <a:ext cx="731520" cy="731520"/>
          </a:xfrm>
          <a:prstGeom prst="ellipse">
            <a:avLst/>
          </a:prstGeom>
          <a:solidFill>
            <a:srgbClr val="1E4D2B"/>
          </a:solidFill>
          <a:ln w="12700">
            <a:solidFill>
              <a:srgbClr val="1E4D2B"/>
            </a:solidFill>
            <a:prstDash val="solid"/>
          </a:ln>
        </p:spPr>
      </p:sp>
      <p:pic>
        <p:nvPicPr>
          <p:cNvPr id="5" name="Gap 1 icon" descr="preencoded.png">    </p:cNvPr>
          <p:cNvPicPr>
            <a:picLocks noChangeAspect="1"/>
          </p:cNvPicPr>
          <p:nvPr/>
        </p:nvPicPr>
        <p:blipFill>
          <a:blip r:embed="rId1"/>
          <a:stretch>
            <a:fillRect/>
          </a:stretch>
        </p:blipFill>
        <p:spPr>
          <a:xfrm>
            <a:off x="1005840" y="1691640"/>
            <a:ext cx="365760" cy="365760"/>
          </a:xfrm>
          <a:prstGeom prst="rect">
            <a:avLst/>
          </a:prstGeom>
        </p:spPr>
      </p:pic>
      <p:sp>
        <p:nvSpPr>
          <p:cNvPr id="6" name="Text 3"/>
          <p:cNvSpPr txBox="1"/>
          <p:nvPr/>
        </p:nvSpPr>
        <p:spPr>
          <a:xfrm>
            <a:off x="1691640" y="1600200"/>
            <a:ext cx="2130552"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Time gap</a:t>
            </a:r>
            <a:endParaRPr lang="en-US" sz="2000" dirty="0"/>
          </a:p>
        </p:txBody>
      </p:sp>
      <p:sp>
        <p:nvSpPr>
          <p:cNvPr id="7" name="Text 4"/>
          <p:cNvSpPr txBox="1"/>
          <p:nvPr/>
        </p:nvSpPr>
        <p:spPr>
          <a:xfrm>
            <a:off x="822960" y="2468880"/>
            <a:ext cx="2953512" cy="32004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What is missing</a:t>
            </a:r>
            <a:endParaRPr lang="en-US" sz="1200" dirty="0"/>
          </a:p>
        </p:txBody>
      </p:sp>
      <p:sp>
        <p:nvSpPr>
          <p:cNvPr id="8" name="Text 5"/>
          <p:cNvSpPr txBox="1"/>
          <p:nvPr/>
        </p:nvSpPr>
        <p:spPr>
          <a:xfrm>
            <a:off x="822960" y="2788920"/>
            <a:ext cx="2953512"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Studies reviewed end by 2021-22; none covers 2022-23 to 2024-25 against a 2019-20 baseline</a:t>
            </a:r>
            <a:endParaRPr lang="en-US" sz="1500" dirty="0"/>
          </a:p>
        </p:txBody>
      </p:sp>
      <p:sp>
        <p:nvSpPr>
          <p:cNvPr id="9" name="Text 6"/>
          <p:cNvSpPr txBox="1"/>
          <p:nvPr/>
        </p:nvSpPr>
        <p:spPr>
          <a:xfrm>
            <a:off x="822960" y="4206240"/>
            <a:ext cx="2953512"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This project</a:t>
            </a:r>
            <a:endParaRPr lang="en-US" sz="1200" dirty="0"/>
          </a:p>
        </p:txBody>
      </p:sp>
      <p:sp>
        <p:nvSpPr>
          <p:cNvPr id="10" name="Text 7"/>
          <p:cNvSpPr txBox="1"/>
          <p:nvPr/>
        </p:nvSpPr>
        <p:spPr>
          <a:xfrm>
            <a:off x="822960" y="4526280"/>
            <a:ext cx="2953512" cy="12801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Covers 2022-23 to 2024-25 and compares with 2019-20</a:t>
            </a:r>
            <a:endParaRPr lang="en-US" sz="1500" dirty="0"/>
          </a:p>
        </p:txBody>
      </p:sp>
      <p:sp>
        <p:nvSpPr>
          <p:cNvPr id="11" name="Gap card 2"/>
          <p:cNvSpPr/>
          <p:nvPr/>
        </p:nvSpPr>
        <p:spPr>
          <a:xfrm>
            <a:off x="4325112" y="1280160"/>
            <a:ext cx="3502152" cy="4800600"/>
          </a:xfrm>
          <a:prstGeom prst="roundRect">
            <a:avLst>
              <a:gd name="adj" fmla="val 2089"/>
            </a:avLst>
          </a:prstGeom>
          <a:solidFill>
            <a:schemeClr val="bg2"/>
          </a:solidFill>
          <a:ln w="12700">
            <a:solidFill>
              <a:schemeClr val="bg2"/>
            </a:solidFill>
            <a:prstDash val="solid"/>
          </a:ln>
        </p:spPr>
      </p:sp>
      <p:sp>
        <p:nvSpPr>
          <p:cNvPr id="12" name="Gap 2 circle"/>
          <p:cNvSpPr/>
          <p:nvPr/>
        </p:nvSpPr>
        <p:spPr>
          <a:xfrm>
            <a:off x="4599432" y="1508760"/>
            <a:ext cx="731520" cy="731520"/>
          </a:xfrm>
          <a:prstGeom prst="ellipse">
            <a:avLst/>
          </a:prstGeom>
          <a:solidFill>
            <a:srgbClr val="C8902E"/>
          </a:solidFill>
          <a:ln w="12700">
            <a:solidFill>
              <a:srgbClr val="C8902E"/>
            </a:solidFill>
            <a:prstDash val="solid"/>
          </a:ln>
        </p:spPr>
      </p:sp>
      <p:pic>
        <p:nvPicPr>
          <p:cNvPr id="13" name="Gap 2 icon" descr="preencoded.png">    </p:cNvPr>
          <p:cNvPicPr>
            <a:picLocks noChangeAspect="1"/>
          </p:cNvPicPr>
          <p:nvPr/>
        </p:nvPicPr>
        <p:blipFill>
          <a:blip r:embed="rId2"/>
          <a:stretch>
            <a:fillRect/>
          </a:stretch>
        </p:blipFill>
        <p:spPr>
          <a:xfrm>
            <a:off x="4782312" y="1691640"/>
            <a:ext cx="365760" cy="365760"/>
          </a:xfrm>
          <a:prstGeom prst="rect">
            <a:avLst/>
          </a:prstGeom>
        </p:spPr>
      </p:pic>
      <p:sp>
        <p:nvSpPr>
          <p:cNvPr id="14" name="Text 10"/>
          <p:cNvSpPr txBox="1"/>
          <p:nvPr/>
        </p:nvSpPr>
        <p:spPr>
          <a:xfrm>
            <a:off x="5468112" y="1600200"/>
            <a:ext cx="2130552"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Regional gap</a:t>
            </a:r>
            <a:endParaRPr lang="en-US" sz="2000" dirty="0"/>
          </a:p>
        </p:txBody>
      </p:sp>
      <p:sp>
        <p:nvSpPr>
          <p:cNvPr id="15" name="Text 11"/>
          <p:cNvSpPr txBox="1"/>
          <p:nvPr/>
        </p:nvSpPr>
        <p:spPr>
          <a:xfrm>
            <a:off x="4599432" y="2468880"/>
            <a:ext cx="2953512" cy="32004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What is missing</a:t>
            </a:r>
            <a:endParaRPr lang="en-US" sz="1200" dirty="0"/>
          </a:p>
        </p:txBody>
      </p:sp>
      <p:sp>
        <p:nvSpPr>
          <p:cNvPr id="16" name="Text 12"/>
          <p:cNvSpPr txBox="1"/>
          <p:nvPr/>
        </p:nvSpPr>
        <p:spPr>
          <a:xfrm>
            <a:off x="4599432" y="2788920"/>
            <a:ext cx="2953512"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Studies are national or procurement-focused; none examines Gujarat</a:t>
            </a:r>
            <a:endParaRPr lang="en-US" sz="1500" dirty="0"/>
          </a:p>
        </p:txBody>
      </p:sp>
      <p:sp>
        <p:nvSpPr>
          <p:cNvPr id="17" name="Text 13"/>
          <p:cNvSpPr txBox="1"/>
          <p:nvPr/>
        </p:nvSpPr>
        <p:spPr>
          <a:xfrm>
            <a:off x="4599432" y="4206240"/>
            <a:ext cx="2953512"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This project</a:t>
            </a:r>
            <a:endParaRPr lang="en-US" sz="1200" dirty="0"/>
          </a:p>
        </p:txBody>
      </p:sp>
      <p:sp>
        <p:nvSpPr>
          <p:cNvPr id="18" name="Text 14"/>
          <p:cNvSpPr txBox="1"/>
          <p:nvPr/>
        </p:nvSpPr>
        <p:spPr>
          <a:xfrm>
            <a:off x="4599432" y="4526280"/>
            <a:ext cx="2953512" cy="12801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Analyses FCI Gujarat Region’s storage and distribution</a:t>
            </a:r>
            <a:endParaRPr lang="en-US" sz="1500" dirty="0"/>
          </a:p>
        </p:txBody>
      </p:sp>
      <p:sp>
        <p:nvSpPr>
          <p:cNvPr id="19" name="Gap card 3"/>
          <p:cNvSpPr/>
          <p:nvPr/>
        </p:nvSpPr>
        <p:spPr>
          <a:xfrm>
            <a:off x="8101584" y="1280160"/>
            <a:ext cx="3502152" cy="4800600"/>
          </a:xfrm>
          <a:prstGeom prst="roundRect">
            <a:avLst>
              <a:gd name="adj" fmla="val 2089"/>
            </a:avLst>
          </a:prstGeom>
          <a:solidFill>
            <a:schemeClr val="bg2"/>
          </a:solidFill>
          <a:ln w="12700">
            <a:solidFill>
              <a:schemeClr val="bg2"/>
            </a:solidFill>
            <a:prstDash val="solid"/>
          </a:ln>
        </p:spPr>
      </p:sp>
      <p:sp>
        <p:nvSpPr>
          <p:cNvPr id="20" name="Gap 3 circle"/>
          <p:cNvSpPr/>
          <p:nvPr/>
        </p:nvSpPr>
        <p:spPr>
          <a:xfrm>
            <a:off x="8375904" y="1508760"/>
            <a:ext cx="731520" cy="731520"/>
          </a:xfrm>
          <a:prstGeom prst="ellipse">
            <a:avLst/>
          </a:prstGeom>
          <a:solidFill>
            <a:srgbClr val="1E4D2B"/>
          </a:solidFill>
          <a:ln w="12700">
            <a:solidFill>
              <a:srgbClr val="1E4D2B"/>
            </a:solidFill>
            <a:prstDash val="solid"/>
          </a:ln>
        </p:spPr>
      </p:sp>
      <p:pic>
        <p:nvPicPr>
          <p:cNvPr id="21" name="Gap 3 icon" descr="preencoded.png">    </p:cNvPr>
          <p:cNvPicPr>
            <a:picLocks noChangeAspect="1"/>
          </p:cNvPicPr>
          <p:nvPr/>
        </p:nvPicPr>
        <p:blipFill>
          <a:blip r:embed="rId3"/>
          <a:stretch>
            <a:fillRect/>
          </a:stretch>
        </p:blipFill>
        <p:spPr>
          <a:xfrm>
            <a:off x="8558784" y="1691640"/>
            <a:ext cx="365760" cy="365760"/>
          </a:xfrm>
          <a:prstGeom prst="rect">
            <a:avLst/>
          </a:prstGeom>
        </p:spPr>
      </p:pic>
      <p:sp>
        <p:nvSpPr>
          <p:cNvPr id="22" name="Text 17"/>
          <p:cNvSpPr txBox="1"/>
          <p:nvPr/>
        </p:nvSpPr>
        <p:spPr>
          <a:xfrm>
            <a:off x="9244584" y="1600200"/>
            <a:ext cx="2130552"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Method gap</a:t>
            </a:r>
            <a:endParaRPr lang="en-US" sz="2000" dirty="0"/>
          </a:p>
        </p:txBody>
      </p:sp>
      <p:sp>
        <p:nvSpPr>
          <p:cNvPr id="23" name="Text 18"/>
          <p:cNvSpPr txBox="1"/>
          <p:nvPr/>
        </p:nvSpPr>
        <p:spPr>
          <a:xfrm>
            <a:off x="8375904" y="2468880"/>
            <a:ext cx="2953512" cy="32004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What is missing</a:t>
            </a:r>
            <a:endParaRPr lang="en-US" sz="1200" dirty="0"/>
          </a:p>
        </p:txBody>
      </p:sp>
      <p:sp>
        <p:nvSpPr>
          <p:cNvPr id="24" name="Text 19"/>
          <p:cNvSpPr txBox="1"/>
          <p:nvPr/>
        </p:nvSpPr>
        <p:spPr>
          <a:xfrm>
            <a:off x="8375904" y="2788920"/>
            <a:ext cx="2953512"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Audits and descriptive reviews; no consistent indicator set</a:t>
            </a:r>
            <a:endParaRPr lang="en-US" sz="1500" dirty="0"/>
          </a:p>
        </p:txBody>
      </p:sp>
      <p:sp>
        <p:nvSpPr>
          <p:cNvPr id="25" name="Text 20"/>
          <p:cNvSpPr txBox="1"/>
          <p:nvPr/>
        </p:nvSpPr>
        <p:spPr>
          <a:xfrm>
            <a:off x="8375904" y="4206240"/>
            <a:ext cx="2953512"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This project</a:t>
            </a:r>
            <a:endParaRPr lang="en-US" sz="1200" dirty="0"/>
          </a:p>
        </p:txBody>
      </p:sp>
      <p:sp>
        <p:nvSpPr>
          <p:cNvPr id="26" name="Text 21"/>
          <p:cNvSpPr txBox="1"/>
          <p:nvPr/>
        </p:nvSpPr>
        <p:spPr>
          <a:xfrm>
            <a:off x="8375904" y="4526280"/>
            <a:ext cx="2953512" cy="12801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One KPI framework across five performance areas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Proposed Methodology</a:t>
            </a:r>
            <a:endParaRPr lang="en-US" sz="3200" dirty="0"/>
          </a:p>
        </p:txBody>
      </p:sp>
      <p:sp>
        <p:nvSpPr>
          <p:cNvPr id="3" name="Step 1"/>
          <p:cNvSpPr/>
          <p:nvPr/>
        </p:nvSpPr>
        <p:spPr>
          <a:xfrm>
            <a:off x="548640" y="1325880"/>
            <a:ext cx="1965960" cy="2514600"/>
          </a:xfrm>
          <a:prstGeom prst="roundRect">
            <a:avLst>
              <a:gd name="adj" fmla="val 3721"/>
            </a:avLst>
          </a:prstGeom>
          <a:solidFill>
            <a:schemeClr val="bg2"/>
          </a:solidFill>
          <a:ln w="12700">
            <a:solidFill>
              <a:schemeClr val="bg2"/>
            </a:solidFill>
            <a:prstDash val="solid"/>
          </a:ln>
        </p:spPr>
      </p:sp>
      <p:sp>
        <p:nvSpPr>
          <p:cNvPr id="4" name="Step 1 circle"/>
          <p:cNvSpPr/>
          <p:nvPr/>
        </p:nvSpPr>
        <p:spPr>
          <a:xfrm>
            <a:off x="1165860" y="1508760"/>
            <a:ext cx="731520" cy="731520"/>
          </a:xfrm>
          <a:prstGeom prst="ellipse">
            <a:avLst/>
          </a:prstGeom>
          <a:solidFill>
            <a:srgbClr val="1E4D2B"/>
          </a:solidFill>
          <a:ln w="12700">
            <a:solidFill>
              <a:srgbClr val="1E4D2B"/>
            </a:solidFill>
            <a:prstDash val="solid"/>
          </a:ln>
        </p:spPr>
      </p:sp>
      <p:pic>
        <p:nvPicPr>
          <p:cNvPr id="5" name="Step 1 icon" descr="preencoded.png">    </p:cNvPr>
          <p:cNvPicPr>
            <a:picLocks noChangeAspect="1"/>
          </p:cNvPicPr>
          <p:nvPr/>
        </p:nvPicPr>
        <p:blipFill>
          <a:blip r:embed="rId1"/>
          <a:stretch>
            <a:fillRect/>
          </a:stretch>
        </p:blipFill>
        <p:spPr>
          <a:xfrm>
            <a:off x="1348740" y="1691640"/>
            <a:ext cx="365760" cy="365760"/>
          </a:xfrm>
          <a:prstGeom prst="rect">
            <a:avLst/>
          </a:prstGeom>
        </p:spPr>
      </p:pic>
      <p:sp>
        <p:nvSpPr>
          <p:cNvPr id="6" name="Text 3"/>
          <p:cNvSpPr txBox="1"/>
          <p:nvPr/>
        </p:nvSpPr>
        <p:spPr>
          <a:xfrm>
            <a:off x="640080" y="2377440"/>
            <a:ext cx="1783080" cy="41148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1. Collect</a:t>
            </a:r>
            <a:endParaRPr lang="en-US" sz="1700" dirty="0"/>
          </a:p>
        </p:txBody>
      </p:sp>
      <p:sp>
        <p:nvSpPr>
          <p:cNvPr id="7" name="Text 4"/>
          <p:cNvSpPr txBox="1"/>
          <p:nvPr/>
        </p:nvSpPr>
        <p:spPr>
          <a:xfrm>
            <a:off x="685800" y="2788920"/>
            <a:ext cx="1691640" cy="9601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FCI Annual Reports 2019-20 to 2024-25</a:t>
            </a:r>
            <a:endParaRPr lang="en-US" sz="1300" dirty="0"/>
          </a:p>
        </p:txBody>
      </p:sp>
      <p:sp>
        <p:nvSpPr>
          <p:cNvPr id="8" name="Arrow 1"/>
          <p:cNvSpPr/>
          <p:nvPr/>
        </p:nvSpPr>
        <p:spPr>
          <a:xfrm>
            <a:off x="2569464" y="2423160"/>
            <a:ext cx="228600" cy="320040"/>
          </a:xfrm>
          <a:prstGeom prst="rightArrow">
            <a:avLst/>
          </a:prstGeom>
          <a:solidFill>
            <a:schemeClr val="accent2"/>
          </a:solidFill>
          <a:ln w="12700">
            <a:solidFill>
              <a:schemeClr val="accent2"/>
            </a:solidFill>
            <a:prstDash val="solid"/>
          </a:ln>
        </p:spPr>
      </p:sp>
      <p:sp>
        <p:nvSpPr>
          <p:cNvPr id="9" name="Step 2"/>
          <p:cNvSpPr/>
          <p:nvPr/>
        </p:nvSpPr>
        <p:spPr>
          <a:xfrm>
            <a:off x="2852928" y="1325880"/>
            <a:ext cx="1965960" cy="2514600"/>
          </a:xfrm>
          <a:prstGeom prst="roundRect">
            <a:avLst>
              <a:gd name="adj" fmla="val 3721"/>
            </a:avLst>
          </a:prstGeom>
          <a:solidFill>
            <a:schemeClr val="bg2"/>
          </a:solidFill>
          <a:ln w="12700">
            <a:solidFill>
              <a:schemeClr val="bg2"/>
            </a:solidFill>
            <a:prstDash val="solid"/>
          </a:ln>
        </p:spPr>
      </p:sp>
      <p:sp>
        <p:nvSpPr>
          <p:cNvPr id="10" name="Step 2 circle"/>
          <p:cNvSpPr/>
          <p:nvPr/>
        </p:nvSpPr>
        <p:spPr>
          <a:xfrm>
            <a:off x="3470148" y="1508760"/>
            <a:ext cx="731520" cy="731520"/>
          </a:xfrm>
          <a:prstGeom prst="ellipse">
            <a:avLst/>
          </a:prstGeom>
          <a:solidFill>
            <a:srgbClr val="1E4D2B"/>
          </a:solidFill>
          <a:ln w="12700">
            <a:solidFill>
              <a:srgbClr val="1E4D2B"/>
            </a:solidFill>
            <a:prstDash val="solid"/>
          </a:ln>
        </p:spPr>
      </p:sp>
      <p:pic>
        <p:nvPicPr>
          <p:cNvPr id="11" name="Step 2 icon" descr="preencoded.png">    </p:cNvPr>
          <p:cNvPicPr>
            <a:picLocks noChangeAspect="1"/>
          </p:cNvPicPr>
          <p:nvPr/>
        </p:nvPicPr>
        <p:blipFill>
          <a:blip r:embed="rId2"/>
          <a:stretch>
            <a:fillRect/>
          </a:stretch>
        </p:blipFill>
        <p:spPr>
          <a:xfrm>
            <a:off x="3653028" y="1691640"/>
            <a:ext cx="365760" cy="365760"/>
          </a:xfrm>
          <a:prstGeom prst="rect">
            <a:avLst/>
          </a:prstGeom>
        </p:spPr>
      </p:pic>
      <p:sp>
        <p:nvSpPr>
          <p:cNvPr id="12" name="Text 8"/>
          <p:cNvSpPr txBox="1"/>
          <p:nvPr/>
        </p:nvSpPr>
        <p:spPr>
          <a:xfrm>
            <a:off x="2944368" y="2377440"/>
            <a:ext cx="1783080" cy="41148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2. Compile</a:t>
            </a:r>
            <a:endParaRPr lang="en-US" sz="1700" dirty="0"/>
          </a:p>
        </p:txBody>
      </p:sp>
      <p:sp>
        <p:nvSpPr>
          <p:cNvPr id="13" name="Text 9"/>
          <p:cNvSpPr txBox="1"/>
          <p:nvPr/>
        </p:nvSpPr>
        <p:spPr>
          <a:xfrm>
            <a:off x="2990088" y="2788920"/>
            <a:ext cx="1691640" cy="9601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Excel master dataset, 8 sheets</a:t>
            </a:r>
            <a:endParaRPr lang="en-US" sz="1300" dirty="0"/>
          </a:p>
        </p:txBody>
      </p:sp>
      <p:sp>
        <p:nvSpPr>
          <p:cNvPr id="14" name="Arrow 2"/>
          <p:cNvSpPr/>
          <p:nvPr/>
        </p:nvSpPr>
        <p:spPr>
          <a:xfrm>
            <a:off x="4873752" y="2423160"/>
            <a:ext cx="228600" cy="320040"/>
          </a:xfrm>
          <a:prstGeom prst="rightArrow">
            <a:avLst/>
          </a:prstGeom>
          <a:solidFill>
            <a:schemeClr val="accent2"/>
          </a:solidFill>
          <a:ln w="12700">
            <a:solidFill>
              <a:schemeClr val="accent2"/>
            </a:solidFill>
            <a:prstDash val="solid"/>
          </a:ln>
        </p:spPr>
      </p:sp>
      <p:sp>
        <p:nvSpPr>
          <p:cNvPr id="15" name="Step 3"/>
          <p:cNvSpPr/>
          <p:nvPr/>
        </p:nvSpPr>
        <p:spPr>
          <a:xfrm>
            <a:off x="5157216" y="1325880"/>
            <a:ext cx="1965960" cy="2514600"/>
          </a:xfrm>
          <a:prstGeom prst="roundRect">
            <a:avLst>
              <a:gd name="adj" fmla="val 3721"/>
            </a:avLst>
          </a:prstGeom>
          <a:solidFill>
            <a:schemeClr val="bg2"/>
          </a:solidFill>
          <a:ln w="12700">
            <a:solidFill>
              <a:schemeClr val="bg2"/>
            </a:solidFill>
            <a:prstDash val="solid"/>
          </a:ln>
        </p:spPr>
      </p:sp>
      <p:sp>
        <p:nvSpPr>
          <p:cNvPr id="16" name="Step 3 circle"/>
          <p:cNvSpPr/>
          <p:nvPr/>
        </p:nvSpPr>
        <p:spPr>
          <a:xfrm>
            <a:off x="5774436" y="1508760"/>
            <a:ext cx="731520" cy="731520"/>
          </a:xfrm>
          <a:prstGeom prst="ellipse">
            <a:avLst/>
          </a:prstGeom>
          <a:solidFill>
            <a:srgbClr val="C8902E"/>
          </a:solidFill>
          <a:ln w="12700">
            <a:solidFill>
              <a:srgbClr val="C8902E"/>
            </a:solidFill>
            <a:prstDash val="solid"/>
          </a:ln>
        </p:spPr>
      </p:sp>
      <p:pic>
        <p:nvPicPr>
          <p:cNvPr id="17" name="Step 3 icon" descr="preencoded.png">    </p:cNvPr>
          <p:cNvPicPr>
            <a:picLocks noChangeAspect="1"/>
          </p:cNvPicPr>
          <p:nvPr/>
        </p:nvPicPr>
        <p:blipFill>
          <a:blip r:embed="rId3"/>
          <a:stretch>
            <a:fillRect/>
          </a:stretch>
        </p:blipFill>
        <p:spPr>
          <a:xfrm>
            <a:off x="5957316" y="1691640"/>
            <a:ext cx="365760" cy="365760"/>
          </a:xfrm>
          <a:prstGeom prst="rect">
            <a:avLst/>
          </a:prstGeom>
        </p:spPr>
      </p:pic>
      <p:sp>
        <p:nvSpPr>
          <p:cNvPr id="18" name="Text 13"/>
          <p:cNvSpPr txBox="1"/>
          <p:nvPr/>
        </p:nvSpPr>
        <p:spPr>
          <a:xfrm>
            <a:off x="5248656" y="2377440"/>
            <a:ext cx="1783080" cy="41148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3. Validate</a:t>
            </a:r>
            <a:endParaRPr lang="en-US" sz="1700" dirty="0"/>
          </a:p>
        </p:txBody>
      </p:sp>
      <p:sp>
        <p:nvSpPr>
          <p:cNvPr id="19" name="Text 14"/>
          <p:cNvSpPr txBox="1"/>
          <p:nvPr/>
        </p:nvSpPr>
        <p:spPr>
          <a:xfrm>
            <a:off x="5294376" y="2788920"/>
            <a:ext cx="1691640" cy="9601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Cross-check with PIB, Economic Survey, FCI RO Ahmedabad</a:t>
            </a:r>
            <a:endParaRPr lang="en-US" sz="1300" dirty="0"/>
          </a:p>
        </p:txBody>
      </p:sp>
      <p:sp>
        <p:nvSpPr>
          <p:cNvPr id="20" name="Arrow 3"/>
          <p:cNvSpPr/>
          <p:nvPr/>
        </p:nvSpPr>
        <p:spPr>
          <a:xfrm>
            <a:off x="7178040" y="2423160"/>
            <a:ext cx="228600" cy="320040"/>
          </a:xfrm>
          <a:prstGeom prst="rightArrow">
            <a:avLst/>
          </a:prstGeom>
          <a:solidFill>
            <a:schemeClr val="accent2"/>
          </a:solidFill>
          <a:ln w="12700">
            <a:solidFill>
              <a:schemeClr val="accent2"/>
            </a:solidFill>
            <a:prstDash val="solid"/>
          </a:ln>
        </p:spPr>
      </p:sp>
      <p:sp>
        <p:nvSpPr>
          <p:cNvPr id="21" name="Step 4"/>
          <p:cNvSpPr/>
          <p:nvPr/>
        </p:nvSpPr>
        <p:spPr>
          <a:xfrm>
            <a:off x="7461504" y="1325880"/>
            <a:ext cx="1965960" cy="2514600"/>
          </a:xfrm>
          <a:prstGeom prst="roundRect">
            <a:avLst>
              <a:gd name="adj" fmla="val 3721"/>
            </a:avLst>
          </a:prstGeom>
          <a:solidFill>
            <a:schemeClr val="bg2"/>
          </a:solidFill>
          <a:ln w="12700">
            <a:solidFill>
              <a:schemeClr val="bg2"/>
            </a:solidFill>
            <a:prstDash val="solid"/>
          </a:ln>
        </p:spPr>
      </p:sp>
      <p:sp>
        <p:nvSpPr>
          <p:cNvPr id="22" name="Step 4 circle"/>
          <p:cNvSpPr/>
          <p:nvPr/>
        </p:nvSpPr>
        <p:spPr>
          <a:xfrm>
            <a:off x="8078724" y="1508760"/>
            <a:ext cx="731520" cy="731520"/>
          </a:xfrm>
          <a:prstGeom prst="ellipse">
            <a:avLst/>
          </a:prstGeom>
          <a:solidFill>
            <a:srgbClr val="1E4D2B"/>
          </a:solidFill>
          <a:ln w="12700">
            <a:solidFill>
              <a:srgbClr val="1E4D2B"/>
            </a:solidFill>
            <a:prstDash val="solid"/>
          </a:ln>
        </p:spPr>
      </p:sp>
      <p:pic>
        <p:nvPicPr>
          <p:cNvPr id="23" name="Step 4 icon" descr="preencoded.png">    </p:cNvPr>
          <p:cNvPicPr>
            <a:picLocks noChangeAspect="1"/>
          </p:cNvPicPr>
          <p:nvPr/>
        </p:nvPicPr>
        <p:blipFill>
          <a:blip r:embed="rId4"/>
          <a:stretch>
            <a:fillRect/>
          </a:stretch>
        </p:blipFill>
        <p:spPr>
          <a:xfrm>
            <a:off x="8261604" y="1691640"/>
            <a:ext cx="365760" cy="365760"/>
          </a:xfrm>
          <a:prstGeom prst="rect">
            <a:avLst/>
          </a:prstGeom>
        </p:spPr>
      </p:pic>
      <p:sp>
        <p:nvSpPr>
          <p:cNvPr id="24" name="Text 18"/>
          <p:cNvSpPr txBox="1"/>
          <p:nvPr/>
        </p:nvSpPr>
        <p:spPr>
          <a:xfrm>
            <a:off x="7552944" y="2377440"/>
            <a:ext cx="1783080" cy="41148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4. Analyse</a:t>
            </a:r>
            <a:endParaRPr lang="en-US" sz="1700" dirty="0"/>
          </a:p>
        </p:txBody>
      </p:sp>
      <p:sp>
        <p:nvSpPr>
          <p:cNvPr id="25" name="Text 19"/>
          <p:cNvSpPr txBox="1"/>
          <p:nvPr/>
        </p:nvSpPr>
        <p:spPr>
          <a:xfrm>
            <a:off x="7598664" y="2788920"/>
            <a:ext cx="1691640" cy="9601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YoY, CAGR, ratio and gap analysis</a:t>
            </a:r>
            <a:endParaRPr lang="en-US" sz="1300" dirty="0"/>
          </a:p>
        </p:txBody>
      </p:sp>
      <p:sp>
        <p:nvSpPr>
          <p:cNvPr id="26" name="Arrow 4"/>
          <p:cNvSpPr/>
          <p:nvPr/>
        </p:nvSpPr>
        <p:spPr>
          <a:xfrm>
            <a:off x="9482328" y="2423160"/>
            <a:ext cx="228600" cy="320040"/>
          </a:xfrm>
          <a:prstGeom prst="rightArrow">
            <a:avLst/>
          </a:prstGeom>
          <a:solidFill>
            <a:schemeClr val="accent2"/>
          </a:solidFill>
          <a:ln w="12700">
            <a:solidFill>
              <a:schemeClr val="accent2"/>
            </a:solidFill>
            <a:prstDash val="solid"/>
          </a:ln>
        </p:spPr>
      </p:sp>
      <p:sp>
        <p:nvSpPr>
          <p:cNvPr id="27" name="Step 5"/>
          <p:cNvSpPr/>
          <p:nvPr/>
        </p:nvSpPr>
        <p:spPr>
          <a:xfrm>
            <a:off x="9765792" y="1325880"/>
            <a:ext cx="1965960" cy="2514600"/>
          </a:xfrm>
          <a:prstGeom prst="roundRect">
            <a:avLst>
              <a:gd name="adj" fmla="val 3721"/>
            </a:avLst>
          </a:prstGeom>
          <a:solidFill>
            <a:schemeClr val="bg2"/>
          </a:solidFill>
          <a:ln w="12700">
            <a:solidFill>
              <a:schemeClr val="bg2"/>
            </a:solidFill>
            <a:prstDash val="solid"/>
          </a:ln>
        </p:spPr>
      </p:sp>
      <p:sp>
        <p:nvSpPr>
          <p:cNvPr id="28" name="Step 5 circle"/>
          <p:cNvSpPr/>
          <p:nvPr/>
        </p:nvSpPr>
        <p:spPr>
          <a:xfrm>
            <a:off x="10383012" y="1508760"/>
            <a:ext cx="731520" cy="731520"/>
          </a:xfrm>
          <a:prstGeom prst="ellipse">
            <a:avLst/>
          </a:prstGeom>
          <a:solidFill>
            <a:srgbClr val="1E4D2B"/>
          </a:solidFill>
          <a:ln w="12700">
            <a:solidFill>
              <a:srgbClr val="1E4D2B"/>
            </a:solidFill>
            <a:prstDash val="solid"/>
          </a:ln>
        </p:spPr>
      </p:sp>
      <p:pic>
        <p:nvPicPr>
          <p:cNvPr id="29" name="Step 5 icon" descr="preencoded.png">    </p:cNvPr>
          <p:cNvPicPr>
            <a:picLocks noChangeAspect="1"/>
          </p:cNvPicPr>
          <p:nvPr/>
        </p:nvPicPr>
        <p:blipFill>
          <a:blip r:embed="rId5"/>
          <a:stretch>
            <a:fillRect/>
          </a:stretch>
        </p:blipFill>
        <p:spPr>
          <a:xfrm>
            <a:off x="10565892" y="1691640"/>
            <a:ext cx="365760" cy="365760"/>
          </a:xfrm>
          <a:prstGeom prst="rect">
            <a:avLst/>
          </a:prstGeom>
        </p:spPr>
      </p:pic>
      <p:sp>
        <p:nvSpPr>
          <p:cNvPr id="30" name="Text 23"/>
          <p:cNvSpPr txBox="1"/>
          <p:nvPr/>
        </p:nvSpPr>
        <p:spPr>
          <a:xfrm>
            <a:off x="9857232" y="2377440"/>
            <a:ext cx="1783080" cy="41148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5. Interpret</a:t>
            </a:r>
            <a:endParaRPr lang="en-US" sz="1700" dirty="0"/>
          </a:p>
        </p:txBody>
      </p:sp>
      <p:sp>
        <p:nvSpPr>
          <p:cNvPr id="31" name="Text 24"/>
          <p:cNvSpPr txBox="1"/>
          <p:nvPr/>
        </p:nvSpPr>
        <p:spPr>
          <a:xfrm>
            <a:off x="9902952" y="2788920"/>
            <a:ext cx="1691640" cy="9601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Findings and recommendations</a:t>
            </a:r>
            <a:endParaRPr lang="en-US" sz="1300" dirty="0"/>
          </a:p>
        </p:txBody>
      </p:sp>
      <p:sp>
        <p:nvSpPr>
          <p:cNvPr id="32" name="Text 25"/>
          <p:cNvSpPr txBox="1"/>
          <p:nvPr/>
        </p:nvSpPr>
        <p:spPr>
          <a:xfrm>
            <a:off x="548640" y="4114800"/>
            <a:ext cx="11094415" cy="201168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chemeClr val="tx1"/>
                </a:solidFill>
                <a:latin typeface="Calibri" pitchFamily="34" charset="0"/>
                <a:ea typeface="Calibri" pitchFamily="34" charset="-122"/>
                <a:cs typeface="Calibri" pitchFamily="34" charset="-120"/>
              </a:rPr>
              <a:t>Research design: </a:t>
            </a:r>
            <a:pPr indent="0" marL="0">
              <a:buNone/>
            </a:pPr>
            <a:r>
              <a:rPr lang="en-US" sz="1600" dirty="0">
                <a:solidFill>
                  <a:schemeClr val="tx1"/>
                </a:solidFill>
                <a:latin typeface="Calibri" pitchFamily="34" charset="0"/>
                <a:ea typeface="Calibri" pitchFamily="34" charset="-122"/>
                <a:cs typeface="Calibri" pitchFamily="34" charset="-120"/>
              </a:rPr>
              <a:t>descriptive and analytical; quantitative, based on secondary data</a:t>
            </a:r>
            <a:endParaRPr lang="en-US" sz="1600" dirty="0"/>
          </a:p>
          <a:p>
            <a:pPr marL="203200" indent="-203200">
              <a:spcAft>
                <a:spcPts val="1000"/>
              </a:spcAft>
              <a:buSzPct val="100000"/>
              <a:buChar char="•"/>
            </a:pPr>
            <a:r>
              <a:rPr lang="en-US" sz="1600" b="1" dirty="0">
                <a:solidFill>
                  <a:schemeClr val="tx1"/>
                </a:solidFill>
                <a:latin typeface="Calibri" pitchFamily="34" charset="0"/>
                <a:ea typeface="Calibri" pitchFamily="34" charset="-122"/>
                <a:cs typeface="Calibri" pitchFamily="34" charset="-120"/>
              </a:rPr>
              <a:t>Five performance areas: </a:t>
            </a:r>
            <a:pPr indent="0" marL="0">
              <a:buNone/>
            </a:pPr>
            <a:r>
              <a:rPr lang="en-US" sz="1600" dirty="0">
                <a:solidFill>
                  <a:schemeClr val="tx1"/>
                </a:solidFill>
                <a:latin typeface="Calibri" pitchFamily="34" charset="0"/>
                <a:ea typeface="Calibri" pitchFamily="34" charset="-122"/>
                <a:cs typeface="Calibri" pitchFamily="34" charset="-120"/>
              </a:rPr>
              <a:t>procurement, storage, distribution, finance, losses and efficiency</a:t>
            </a:r>
            <a:endParaRPr lang="en-US" sz="1600" dirty="0"/>
          </a:p>
          <a:p>
            <a:pPr marL="203200" indent="-203200">
              <a:spcAft>
                <a:spcPts val="1000"/>
              </a:spcAft>
              <a:buSzPct val="100000"/>
              <a:buChar char="•"/>
            </a:pPr>
            <a:r>
              <a:rPr lang="en-US" sz="1600" b="1" dirty="0">
                <a:solidFill>
                  <a:schemeClr val="tx1"/>
                </a:solidFill>
                <a:latin typeface="Calibri" pitchFamily="34" charset="0"/>
                <a:ea typeface="Calibri" pitchFamily="34" charset="-122"/>
                <a:cs typeface="Calibri" pitchFamily="34" charset="-120"/>
              </a:rPr>
              <a:t>Period: </a:t>
            </a:r>
            <a:pPr indent="0" marL="0">
              <a:buNone/>
            </a:pPr>
            <a:r>
              <a:rPr lang="en-US" sz="1600" dirty="0">
                <a:solidFill>
                  <a:schemeClr val="tx1"/>
                </a:solidFill>
                <a:latin typeface="Calibri" pitchFamily="34" charset="0"/>
                <a:ea typeface="Calibri" pitchFamily="34" charset="-122"/>
                <a:cs typeface="Calibri" pitchFamily="34" charset="-120"/>
              </a:rPr>
              <a:t>2022-23 to 2024-25 (main); 2019-20 to 2021-22 for the COVID comparison</a:t>
            </a:r>
            <a:endParaRPr lang="en-US" sz="1600" dirty="0"/>
          </a:p>
          <a:p>
            <a:pPr marL="203200" indent="-203200">
              <a:spcAft>
                <a:spcPts val="1000"/>
              </a:spcAft>
              <a:buSzPct val="100000"/>
              <a:buChar char="•"/>
            </a:pPr>
            <a:r>
              <a:rPr lang="en-US" sz="1600" b="1" dirty="0">
                <a:solidFill>
                  <a:schemeClr val="tx1"/>
                </a:solidFill>
                <a:latin typeface="Calibri" pitchFamily="34" charset="0"/>
                <a:ea typeface="Calibri" pitchFamily="34" charset="-122"/>
                <a:cs typeface="Calibri" pitchFamily="34" charset="-120"/>
              </a:rPr>
              <a:t>Data handling: </a:t>
            </a:r>
            <a:pPr indent="0" marL="0">
              <a:buNone/>
            </a:pPr>
            <a:r>
              <a:rPr lang="en-US" sz="1600" dirty="0">
                <a:solidFill>
                  <a:schemeClr val="tx1"/>
                </a:solidFill>
                <a:latin typeface="Calibri" pitchFamily="34" charset="0"/>
                <a:ea typeface="Calibri" pitchFamily="34" charset="-122"/>
                <a:cs typeface="Calibri" pitchFamily="34" charset="-120"/>
              </a:rPr>
              <a:t>inconsistent values are flagged and excluded, not used as reported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Tools, Technologies and Resources</a:t>
            </a:r>
            <a:endParaRPr lang="en-US" sz="3200" dirty="0"/>
          </a:p>
        </p:txBody>
      </p:sp>
      <p:sp>
        <p:nvSpPr>
          <p:cNvPr id="3" name="Tool card 1"/>
          <p:cNvSpPr/>
          <p:nvPr/>
        </p:nvSpPr>
        <p:spPr>
          <a:xfrm>
            <a:off x="548640" y="1280160"/>
            <a:ext cx="5376672" cy="2194560"/>
          </a:xfrm>
          <a:prstGeom prst="roundRect">
            <a:avLst>
              <a:gd name="adj" fmla="val 3333"/>
            </a:avLst>
          </a:prstGeom>
          <a:solidFill>
            <a:schemeClr val="bg2"/>
          </a:solidFill>
          <a:ln w="12700">
            <a:solidFill>
              <a:schemeClr val="bg2"/>
            </a:solidFill>
            <a:prstDash val="solid"/>
          </a:ln>
        </p:spPr>
      </p:sp>
      <p:sp>
        <p:nvSpPr>
          <p:cNvPr id="4" name="Tool 1 circle"/>
          <p:cNvSpPr/>
          <p:nvPr/>
        </p:nvSpPr>
        <p:spPr>
          <a:xfrm>
            <a:off x="822960" y="1554480"/>
            <a:ext cx="777240" cy="777240"/>
          </a:xfrm>
          <a:prstGeom prst="ellipse">
            <a:avLst/>
          </a:prstGeom>
          <a:solidFill>
            <a:srgbClr val="1E4D2B"/>
          </a:solidFill>
          <a:ln w="12700">
            <a:solidFill>
              <a:srgbClr val="1E4D2B"/>
            </a:solidFill>
            <a:prstDash val="solid"/>
          </a:ln>
        </p:spPr>
      </p:sp>
      <p:pic>
        <p:nvPicPr>
          <p:cNvPr id="5" name="Tool 1 icon" descr="preencoded.png">    </p:cNvPr>
          <p:cNvPicPr>
            <a:picLocks noChangeAspect="1"/>
          </p:cNvPicPr>
          <p:nvPr/>
        </p:nvPicPr>
        <p:blipFill>
          <a:blip r:embed="rId1"/>
          <a:stretch>
            <a:fillRect/>
          </a:stretch>
        </p:blipFill>
        <p:spPr>
          <a:xfrm>
            <a:off x="1017270" y="1748790"/>
            <a:ext cx="388620" cy="388620"/>
          </a:xfrm>
          <a:prstGeom prst="rect">
            <a:avLst/>
          </a:prstGeom>
        </p:spPr>
      </p:pic>
      <p:sp>
        <p:nvSpPr>
          <p:cNvPr id="6" name="Text 3"/>
          <p:cNvSpPr txBox="1"/>
          <p:nvPr/>
        </p:nvSpPr>
        <p:spPr>
          <a:xfrm>
            <a:off x="1828800" y="1554480"/>
            <a:ext cx="3913632" cy="45720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Microsoft Excel</a:t>
            </a:r>
            <a:endParaRPr lang="en-US" sz="1900" dirty="0"/>
          </a:p>
        </p:txBody>
      </p:sp>
      <p:sp>
        <p:nvSpPr>
          <p:cNvPr id="7" name="Text 4"/>
          <p:cNvSpPr txBox="1"/>
          <p:nvPr/>
        </p:nvSpPr>
        <p:spPr>
          <a:xfrm>
            <a:off x="1828800" y="2057400"/>
            <a:ext cx="3913632"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Master dataset; YoY, CAGR and ratio calculations; charts</a:t>
            </a:r>
            <a:endParaRPr lang="en-US" sz="1400" dirty="0"/>
          </a:p>
        </p:txBody>
      </p:sp>
      <p:sp>
        <p:nvSpPr>
          <p:cNvPr id="8" name="Text 5"/>
          <p:cNvSpPr txBox="1"/>
          <p:nvPr/>
        </p:nvSpPr>
        <p:spPr>
          <a:xfrm>
            <a:off x="1828800" y="2743200"/>
            <a:ext cx="3913632" cy="5943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Why: </a:t>
            </a:r>
            <a:pPr indent="0" marL="0">
              <a:buNone/>
            </a:pPr>
            <a:r>
              <a:rPr lang="en-US" sz="1300" dirty="0">
                <a:solidFill>
                  <a:schemeClr val="accent5"/>
                </a:solidFill>
                <a:latin typeface="Calibri" pitchFamily="34" charset="0"/>
                <a:ea typeface="Calibri" pitchFamily="34" charset="-122"/>
                <a:cs typeface="Calibri" pitchFamily="34" charset="-120"/>
              </a:rPr>
              <a:t>Widely available; transparent formulas that can be checked</a:t>
            </a:r>
            <a:endParaRPr lang="en-US" sz="1300" dirty="0"/>
          </a:p>
        </p:txBody>
      </p:sp>
      <p:sp>
        <p:nvSpPr>
          <p:cNvPr id="9" name="Tool card 2"/>
          <p:cNvSpPr/>
          <p:nvPr/>
        </p:nvSpPr>
        <p:spPr>
          <a:xfrm>
            <a:off x="6199632" y="1280160"/>
            <a:ext cx="5376672" cy="2194560"/>
          </a:xfrm>
          <a:prstGeom prst="roundRect">
            <a:avLst>
              <a:gd name="adj" fmla="val 3333"/>
            </a:avLst>
          </a:prstGeom>
          <a:solidFill>
            <a:schemeClr val="bg2"/>
          </a:solidFill>
          <a:ln w="12700">
            <a:solidFill>
              <a:schemeClr val="bg2"/>
            </a:solidFill>
            <a:prstDash val="solid"/>
          </a:ln>
        </p:spPr>
      </p:sp>
      <p:sp>
        <p:nvSpPr>
          <p:cNvPr id="10" name="Tool 2 circle"/>
          <p:cNvSpPr/>
          <p:nvPr/>
        </p:nvSpPr>
        <p:spPr>
          <a:xfrm>
            <a:off x="6473952" y="1554480"/>
            <a:ext cx="777240" cy="777240"/>
          </a:xfrm>
          <a:prstGeom prst="ellipse">
            <a:avLst/>
          </a:prstGeom>
          <a:solidFill>
            <a:srgbClr val="5E8C61"/>
          </a:solidFill>
          <a:ln w="12700">
            <a:solidFill>
              <a:srgbClr val="5E8C61"/>
            </a:solidFill>
            <a:prstDash val="solid"/>
          </a:ln>
        </p:spPr>
      </p:sp>
      <p:pic>
        <p:nvPicPr>
          <p:cNvPr id="11" name="Tool 2 icon" descr="preencoded.png">    </p:cNvPr>
          <p:cNvPicPr>
            <a:picLocks noChangeAspect="1"/>
          </p:cNvPicPr>
          <p:nvPr/>
        </p:nvPicPr>
        <p:blipFill>
          <a:blip r:embed="rId2"/>
          <a:stretch>
            <a:fillRect/>
          </a:stretch>
        </p:blipFill>
        <p:spPr>
          <a:xfrm>
            <a:off x="6668262" y="1748790"/>
            <a:ext cx="388620" cy="388620"/>
          </a:xfrm>
          <a:prstGeom prst="rect">
            <a:avLst/>
          </a:prstGeom>
        </p:spPr>
      </p:pic>
      <p:sp>
        <p:nvSpPr>
          <p:cNvPr id="12" name="Text 8"/>
          <p:cNvSpPr txBox="1"/>
          <p:nvPr/>
        </p:nvSpPr>
        <p:spPr>
          <a:xfrm>
            <a:off x="7479792" y="1554480"/>
            <a:ext cx="3913632" cy="45720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Microsoft Word and PowerPoint</a:t>
            </a:r>
            <a:endParaRPr lang="en-US" sz="1900" dirty="0"/>
          </a:p>
        </p:txBody>
      </p:sp>
      <p:sp>
        <p:nvSpPr>
          <p:cNvPr id="13" name="Text 9"/>
          <p:cNvSpPr txBox="1"/>
          <p:nvPr/>
        </p:nvSpPr>
        <p:spPr>
          <a:xfrm>
            <a:off x="7479792" y="2057400"/>
            <a:ext cx="3913632"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Report writing, tables and presentation</a:t>
            </a:r>
            <a:endParaRPr lang="en-US" sz="1400" dirty="0"/>
          </a:p>
        </p:txBody>
      </p:sp>
      <p:sp>
        <p:nvSpPr>
          <p:cNvPr id="14" name="Text 10"/>
          <p:cNvSpPr txBox="1"/>
          <p:nvPr/>
        </p:nvSpPr>
        <p:spPr>
          <a:xfrm>
            <a:off x="7479792" y="2743200"/>
            <a:ext cx="3913632" cy="5943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Why: </a:t>
            </a:r>
            <a:pPr indent="0" marL="0">
              <a:buNone/>
            </a:pPr>
            <a:r>
              <a:rPr lang="en-US" sz="1300" dirty="0">
                <a:solidFill>
                  <a:schemeClr val="accent5"/>
                </a:solidFill>
                <a:latin typeface="Calibri" pitchFamily="34" charset="0"/>
                <a:ea typeface="Calibri" pitchFamily="34" charset="-122"/>
                <a:cs typeface="Calibri" pitchFamily="34" charset="-120"/>
              </a:rPr>
              <a:t>Standard format required by the university</a:t>
            </a:r>
            <a:endParaRPr lang="en-US" sz="1300" dirty="0"/>
          </a:p>
        </p:txBody>
      </p:sp>
      <p:sp>
        <p:nvSpPr>
          <p:cNvPr id="15" name="Tool card 3"/>
          <p:cNvSpPr/>
          <p:nvPr/>
        </p:nvSpPr>
        <p:spPr>
          <a:xfrm>
            <a:off x="548640" y="3749040"/>
            <a:ext cx="5376672" cy="2194560"/>
          </a:xfrm>
          <a:prstGeom prst="roundRect">
            <a:avLst>
              <a:gd name="adj" fmla="val 3333"/>
            </a:avLst>
          </a:prstGeom>
          <a:solidFill>
            <a:schemeClr val="bg2"/>
          </a:solidFill>
          <a:ln w="12700">
            <a:solidFill>
              <a:schemeClr val="bg2"/>
            </a:solidFill>
            <a:prstDash val="solid"/>
          </a:ln>
        </p:spPr>
      </p:sp>
      <p:sp>
        <p:nvSpPr>
          <p:cNvPr id="16" name="Tool 3 circle"/>
          <p:cNvSpPr/>
          <p:nvPr/>
        </p:nvSpPr>
        <p:spPr>
          <a:xfrm>
            <a:off x="822960" y="4023360"/>
            <a:ext cx="777240" cy="777240"/>
          </a:xfrm>
          <a:prstGeom prst="ellipse">
            <a:avLst/>
          </a:prstGeom>
          <a:solidFill>
            <a:srgbClr val="5E8C61"/>
          </a:solidFill>
          <a:ln w="12700">
            <a:solidFill>
              <a:srgbClr val="5E8C61"/>
            </a:solidFill>
            <a:prstDash val="solid"/>
          </a:ln>
        </p:spPr>
      </p:sp>
      <p:pic>
        <p:nvPicPr>
          <p:cNvPr id="17" name="Tool 3 icon" descr="preencoded.png">    </p:cNvPr>
          <p:cNvPicPr>
            <a:picLocks noChangeAspect="1"/>
          </p:cNvPicPr>
          <p:nvPr/>
        </p:nvPicPr>
        <p:blipFill>
          <a:blip r:embed="rId3"/>
          <a:stretch>
            <a:fillRect/>
          </a:stretch>
        </p:blipFill>
        <p:spPr>
          <a:xfrm>
            <a:off x="1017270" y="4217670"/>
            <a:ext cx="388620" cy="388620"/>
          </a:xfrm>
          <a:prstGeom prst="rect">
            <a:avLst/>
          </a:prstGeom>
        </p:spPr>
      </p:pic>
      <p:sp>
        <p:nvSpPr>
          <p:cNvPr id="18" name="Text 13"/>
          <p:cNvSpPr txBox="1"/>
          <p:nvPr/>
        </p:nvSpPr>
        <p:spPr>
          <a:xfrm>
            <a:off x="1828800" y="4023360"/>
            <a:ext cx="3913632" cy="45720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Data sources</a:t>
            </a:r>
            <a:endParaRPr lang="en-US" sz="1900" dirty="0"/>
          </a:p>
        </p:txBody>
      </p:sp>
      <p:sp>
        <p:nvSpPr>
          <p:cNvPr id="19" name="Text 14"/>
          <p:cNvSpPr txBox="1"/>
          <p:nvPr/>
        </p:nvSpPr>
        <p:spPr>
          <a:xfrm>
            <a:off x="1828800" y="4526280"/>
            <a:ext cx="3913632"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FCI Annual Reports (2019-20 to 2024-25), CAG, PIB, Economic Survey</a:t>
            </a:r>
            <a:endParaRPr lang="en-US" sz="1400" dirty="0"/>
          </a:p>
        </p:txBody>
      </p:sp>
      <p:sp>
        <p:nvSpPr>
          <p:cNvPr id="20" name="Text 15"/>
          <p:cNvSpPr txBox="1"/>
          <p:nvPr/>
        </p:nvSpPr>
        <p:spPr>
          <a:xfrm>
            <a:off x="1828800" y="5212080"/>
            <a:ext cx="3913632" cy="5943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Why: </a:t>
            </a:r>
            <a:pPr indent="0" marL="0">
              <a:buNone/>
            </a:pPr>
            <a:r>
              <a:rPr lang="en-US" sz="1300" dirty="0">
                <a:solidFill>
                  <a:schemeClr val="accent5"/>
                </a:solidFill>
                <a:latin typeface="Calibri" pitchFamily="34" charset="0"/>
                <a:ea typeface="Calibri" pitchFamily="34" charset="-122"/>
                <a:cs typeface="Calibri" pitchFamily="34" charset="-120"/>
              </a:rPr>
              <a:t>Official, published and verifiable</a:t>
            </a:r>
            <a:endParaRPr lang="en-US" sz="1300" dirty="0"/>
          </a:p>
        </p:txBody>
      </p:sp>
      <p:sp>
        <p:nvSpPr>
          <p:cNvPr id="21" name="Tool card 4"/>
          <p:cNvSpPr/>
          <p:nvPr/>
        </p:nvSpPr>
        <p:spPr>
          <a:xfrm>
            <a:off x="6199632" y="3749040"/>
            <a:ext cx="5376672" cy="2194560"/>
          </a:xfrm>
          <a:prstGeom prst="roundRect">
            <a:avLst>
              <a:gd name="adj" fmla="val 3333"/>
            </a:avLst>
          </a:prstGeom>
          <a:solidFill>
            <a:schemeClr val="bg2"/>
          </a:solidFill>
          <a:ln w="12700">
            <a:solidFill>
              <a:schemeClr val="bg2"/>
            </a:solidFill>
            <a:prstDash val="solid"/>
          </a:ln>
        </p:spPr>
      </p:sp>
      <p:sp>
        <p:nvSpPr>
          <p:cNvPr id="22" name="Tool 4 circle"/>
          <p:cNvSpPr/>
          <p:nvPr/>
        </p:nvSpPr>
        <p:spPr>
          <a:xfrm>
            <a:off x="6473952" y="4023360"/>
            <a:ext cx="777240" cy="777240"/>
          </a:xfrm>
          <a:prstGeom prst="ellipse">
            <a:avLst/>
          </a:prstGeom>
          <a:solidFill>
            <a:srgbClr val="1E4D2B"/>
          </a:solidFill>
          <a:ln w="12700">
            <a:solidFill>
              <a:srgbClr val="1E4D2B"/>
            </a:solidFill>
            <a:prstDash val="solid"/>
          </a:ln>
        </p:spPr>
      </p:sp>
      <p:pic>
        <p:nvPicPr>
          <p:cNvPr id="23" name="Tool 4 icon" descr="preencoded.png">    </p:cNvPr>
          <p:cNvPicPr>
            <a:picLocks noChangeAspect="1"/>
          </p:cNvPicPr>
          <p:nvPr/>
        </p:nvPicPr>
        <p:blipFill>
          <a:blip r:embed="rId4"/>
          <a:stretch>
            <a:fillRect/>
          </a:stretch>
        </p:blipFill>
        <p:spPr>
          <a:xfrm>
            <a:off x="6668262" y="4217670"/>
            <a:ext cx="388620" cy="388620"/>
          </a:xfrm>
          <a:prstGeom prst="rect">
            <a:avLst/>
          </a:prstGeom>
        </p:spPr>
      </p:pic>
      <p:sp>
        <p:nvSpPr>
          <p:cNvPr id="24" name="Text 18"/>
          <p:cNvSpPr txBox="1"/>
          <p:nvPr/>
        </p:nvSpPr>
        <p:spPr>
          <a:xfrm>
            <a:off x="7479792" y="4023360"/>
            <a:ext cx="3913632" cy="45720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Hardware</a:t>
            </a:r>
            <a:endParaRPr lang="en-US" sz="1900" dirty="0"/>
          </a:p>
        </p:txBody>
      </p:sp>
      <p:sp>
        <p:nvSpPr>
          <p:cNvPr id="25" name="Text 19"/>
          <p:cNvSpPr txBox="1"/>
          <p:nvPr/>
        </p:nvSpPr>
        <p:spPr>
          <a:xfrm>
            <a:off x="7479792" y="4526280"/>
            <a:ext cx="3913632"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Personal laptop; internet access for official sources</a:t>
            </a:r>
            <a:endParaRPr lang="en-US" sz="1400" dirty="0"/>
          </a:p>
        </p:txBody>
      </p:sp>
      <p:sp>
        <p:nvSpPr>
          <p:cNvPr id="26" name="Text 20"/>
          <p:cNvSpPr txBox="1"/>
          <p:nvPr/>
        </p:nvSpPr>
        <p:spPr>
          <a:xfrm>
            <a:off x="7479792" y="5212080"/>
            <a:ext cx="3913632" cy="5943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Why: </a:t>
            </a:r>
            <a:pPr indent="0" marL="0">
              <a:buNone/>
            </a:pPr>
            <a:r>
              <a:rPr lang="en-US" sz="1300" dirty="0">
                <a:solidFill>
                  <a:schemeClr val="accent5"/>
                </a:solidFill>
                <a:latin typeface="Calibri" pitchFamily="34" charset="0"/>
                <a:ea typeface="Calibri" pitchFamily="34" charset="-122"/>
                <a:cs typeface="Calibri" pitchFamily="34" charset="-120"/>
              </a:rPr>
              <a:t>No special hardware needed for secondary data</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Work Completed So Far</a:t>
            </a:r>
            <a:endParaRPr lang="en-US" sz="3200" dirty="0"/>
          </a:p>
        </p:txBody>
      </p:sp>
      <p:sp>
        <p:nvSpPr>
          <p:cNvPr id="3" name="Text 1"/>
          <p:cNvSpPr txBox="1"/>
          <p:nvPr/>
        </p:nvSpPr>
        <p:spPr>
          <a:xfrm>
            <a:off x="548640" y="1280160"/>
            <a:ext cx="530352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Completed</a:t>
            </a:r>
            <a:endParaRPr lang="en-US" sz="2000" dirty="0"/>
          </a:p>
        </p:txBody>
      </p:sp>
      <p:pic>
        <p:nvPicPr>
          <p:cNvPr id="4" name="Done icon 1" descr="preencoded.png">    </p:cNvPr>
          <p:cNvPicPr>
            <a:picLocks noChangeAspect="1"/>
          </p:cNvPicPr>
          <p:nvPr/>
        </p:nvPicPr>
        <p:blipFill>
          <a:blip r:embed="rId1"/>
          <a:stretch>
            <a:fillRect/>
          </a:stretch>
        </p:blipFill>
        <p:spPr>
          <a:xfrm>
            <a:off x="548640" y="1801368"/>
            <a:ext cx="274320" cy="274320"/>
          </a:xfrm>
          <a:prstGeom prst="rect">
            <a:avLst/>
          </a:prstGeom>
        </p:spPr>
      </p:pic>
      <p:sp>
        <p:nvSpPr>
          <p:cNvPr id="5" name="Text 2"/>
          <p:cNvSpPr txBox="1"/>
          <p:nvPr/>
        </p:nvSpPr>
        <p:spPr>
          <a:xfrm>
            <a:off x="960120" y="1764792"/>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Literature review (5 core sources + research gap)</a:t>
            </a:r>
            <a:endParaRPr lang="en-US" sz="1400" dirty="0"/>
          </a:p>
        </p:txBody>
      </p:sp>
      <p:pic>
        <p:nvPicPr>
          <p:cNvPr id="6" name="Done icon 2" descr="preencoded.png">    </p:cNvPr>
          <p:cNvPicPr>
            <a:picLocks noChangeAspect="1"/>
          </p:cNvPicPr>
          <p:nvPr/>
        </p:nvPicPr>
        <p:blipFill>
          <a:blip r:embed="rId2"/>
          <a:stretch>
            <a:fillRect/>
          </a:stretch>
        </p:blipFill>
        <p:spPr>
          <a:xfrm>
            <a:off x="548640" y="2276856"/>
            <a:ext cx="274320" cy="274320"/>
          </a:xfrm>
          <a:prstGeom prst="rect">
            <a:avLst/>
          </a:prstGeom>
        </p:spPr>
      </p:pic>
      <p:sp>
        <p:nvSpPr>
          <p:cNvPr id="7" name="Text 3"/>
          <p:cNvSpPr txBox="1"/>
          <p:nvPr/>
        </p:nvSpPr>
        <p:spPr>
          <a:xfrm>
            <a:off x="960120" y="2240280"/>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Master dataset compiled: 8 sheets, 6 years</a:t>
            </a:r>
            <a:endParaRPr lang="en-US" sz="1400" dirty="0"/>
          </a:p>
        </p:txBody>
      </p:sp>
      <p:pic>
        <p:nvPicPr>
          <p:cNvPr id="8" name="Done icon 3" descr="preencoded.png">    </p:cNvPr>
          <p:cNvPicPr>
            <a:picLocks noChangeAspect="1"/>
          </p:cNvPicPr>
          <p:nvPr/>
        </p:nvPicPr>
        <p:blipFill>
          <a:blip r:embed="rId3"/>
          <a:stretch>
            <a:fillRect/>
          </a:stretch>
        </p:blipFill>
        <p:spPr>
          <a:xfrm>
            <a:off x="548640" y="2752344"/>
            <a:ext cx="274320" cy="274320"/>
          </a:xfrm>
          <a:prstGeom prst="rect">
            <a:avLst/>
          </a:prstGeom>
        </p:spPr>
      </p:pic>
      <p:sp>
        <p:nvSpPr>
          <p:cNvPr id="9" name="Text 4"/>
          <p:cNvSpPr txBox="1"/>
          <p:nvPr/>
        </p:nvSpPr>
        <p:spPr>
          <a:xfrm>
            <a:off x="960120" y="2715768"/>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Data validated; errors flagged (e.g., 2019-20 procurement)</a:t>
            </a:r>
            <a:endParaRPr lang="en-US" sz="1400" dirty="0"/>
          </a:p>
        </p:txBody>
      </p:sp>
      <p:pic>
        <p:nvPicPr>
          <p:cNvPr id="10" name="Done icon 4" descr="preencoded.png">    </p:cNvPr>
          <p:cNvPicPr>
            <a:picLocks noChangeAspect="1"/>
          </p:cNvPicPr>
          <p:nvPr/>
        </p:nvPicPr>
        <p:blipFill>
          <a:blip r:embed="rId4"/>
          <a:stretch>
            <a:fillRect/>
          </a:stretch>
        </p:blipFill>
        <p:spPr>
          <a:xfrm>
            <a:off x="548640" y="3227832"/>
            <a:ext cx="274320" cy="274320"/>
          </a:xfrm>
          <a:prstGeom prst="rect">
            <a:avLst/>
          </a:prstGeom>
        </p:spPr>
      </p:pic>
      <p:sp>
        <p:nvSpPr>
          <p:cNvPr id="11" name="Text 5"/>
          <p:cNvSpPr txBox="1"/>
          <p:nvPr/>
        </p:nvSpPr>
        <p:spPr>
          <a:xfrm>
            <a:off x="960120" y="3191256"/>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Analysis done for all 5 areas (13 tables)</a:t>
            </a:r>
            <a:endParaRPr lang="en-US" sz="1400" dirty="0"/>
          </a:p>
        </p:txBody>
      </p:sp>
      <p:pic>
        <p:nvPicPr>
          <p:cNvPr id="12" name="Done icon 5" descr="preencoded.png">    </p:cNvPr>
          <p:cNvPicPr>
            <a:picLocks noChangeAspect="1"/>
          </p:cNvPicPr>
          <p:nvPr/>
        </p:nvPicPr>
        <p:blipFill>
          <a:blip r:embed="rId5"/>
          <a:stretch>
            <a:fillRect/>
          </a:stretch>
        </p:blipFill>
        <p:spPr>
          <a:xfrm>
            <a:off x="548640" y="3703320"/>
            <a:ext cx="274320" cy="274320"/>
          </a:xfrm>
          <a:prstGeom prst="rect">
            <a:avLst/>
          </a:prstGeom>
        </p:spPr>
      </p:pic>
      <p:sp>
        <p:nvSpPr>
          <p:cNvPr id="13" name="Text 6"/>
          <p:cNvSpPr txBox="1"/>
          <p:nvPr/>
        </p:nvSpPr>
        <p:spPr>
          <a:xfrm>
            <a:off x="960120" y="3666744"/>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Draft report: 8 chapters, findings and recommendations</a:t>
            </a:r>
            <a:endParaRPr lang="en-US" sz="1400" dirty="0"/>
          </a:p>
        </p:txBody>
      </p:sp>
      <p:sp>
        <p:nvSpPr>
          <p:cNvPr id="14" name="Text 7"/>
          <p:cNvSpPr txBox="1"/>
          <p:nvPr/>
        </p:nvSpPr>
        <p:spPr>
          <a:xfrm>
            <a:off x="548640" y="4251960"/>
            <a:ext cx="530352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Pending</a:t>
            </a:r>
            <a:endParaRPr lang="en-US" sz="2000" dirty="0"/>
          </a:p>
        </p:txBody>
      </p:sp>
      <p:pic>
        <p:nvPicPr>
          <p:cNvPr id="15" name="Pending icon 1" descr="preencoded.png">    </p:cNvPr>
          <p:cNvPicPr>
            <a:picLocks noChangeAspect="1"/>
          </p:cNvPicPr>
          <p:nvPr/>
        </p:nvPicPr>
        <p:blipFill>
          <a:blip r:embed="rId6"/>
          <a:stretch>
            <a:fillRect/>
          </a:stretch>
        </p:blipFill>
        <p:spPr>
          <a:xfrm>
            <a:off x="548640" y="4773168"/>
            <a:ext cx="274320" cy="274320"/>
          </a:xfrm>
          <a:prstGeom prst="rect">
            <a:avLst/>
          </a:prstGeom>
        </p:spPr>
      </p:pic>
      <p:sp>
        <p:nvSpPr>
          <p:cNvPr id="16" name="Text 8"/>
          <p:cNvSpPr txBox="1"/>
          <p:nvPr/>
        </p:nvSpPr>
        <p:spPr>
          <a:xfrm>
            <a:off x="960120" y="4736592"/>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Verify flagged Gujarat figures (2022-23 capacity, carried-forward stock)</a:t>
            </a:r>
            <a:endParaRPr lang="en-US" sz="1400" dirty="0"/>
          </a:p>
        </p:txBody>
      </p:sp>
      <p:pic>
        <p:nvPicPr>
          <p:cNvPr id="17" name="Pending icon 2" descr="preencoded.png">    </p:cNvPr>
          <p:cNvPicPr>
            <a:picLocks noChangeAspect="1"/>
          </p:cNvPicPr>
          <p:nvPr/>
        </p:nvPicPr>
        <p:blipFill>
          <a:blip r:embed="rId7"/>
          <a:stretch>
            <a:fillRect/>
          </a:stretch>
        </p:blipFill>
        <p:spPr>
          <a:xfrm>
            <a:off x="548640" y="5248656"/>
            <a:ext cx="274320" cy="274320"/>
          </a:xfrm>
          <a:prstGeom prst="rect">
            <a:avLst/>
          </a:prstGeom>
        </p:spPr>
      </p:pic>
      <p:sp>
        <p:nvSpPr>
          <p:cNvPr id="18" name="Text 9"/>
          <p:cNvSpPr txBox="1"/>
          <p:nvPr/>
        </p:nvSpPr>
        <p:spPr>
          <a:xfrm>
            <a:off x="960120" y="5212080"/>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Re-enter 2019-20 baseline from Annual Report</a:t>
            </a:r>
            <a:endParaRPr lang="en-US" sz="1400" dirty="0"/>
          </a:p>
        </p:txBody>
      </p:sp>
      <p:pic>
        <p:nvPicPr>
          <p:cNvPr id="19" name="Pending icon 3" descr="preencoded.png">    </p:cNvPr>
          <p:cNvPicPr>
            <a:picLocks noChangeAspect="1"/>
          </p:cNvPicPr>
          <p:nvPr/>
        </p:nvPicPr>
        <p:blipFill>
          <a:blip r:embed="rId8"/>
          <a:stretch>
            <a:fillRect/>
          </a:stretch>
        </p:blipFill>
        <p:spPr>
          <a:xfrm>
            <a:off x="548640" y="5724144"/>
            <a:ext cx="274320" cy="274320"/>
          </a:xfrm>
          <a:prstGeom prst="rect">
            <a:avLst/>
          </a:prstGeom>
        </p:spPr>
      </p:pic>
      <p:sp>
        <p:nvSpPr>
          <p:cNvPr id="20" name="Text 10"/>
          <p:cNvSpPr txBox="1"/>
          <p:nvPr/>
        </p:nvSpPr>
        <p:spPr>
          <a:xfrm>
            <a:off x="960120" y="5687568"/>
            <a:ext cx="4937760" cy="4114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Supervisor review, plagiarism check, final formatting</a:t>
            </a:r>
            <a:endParaRPr lang="en-US" sz="1400" dirty="0"/>
          </a:p>
        </p:txBody>
      </p:sp>
      <p:graphicFrame>
        <p:nvGraphicFramePr>
          <p:cNvPr id="21" name="Demurrage chart" descr=""/>
          <p:cNvGraphicFramePr/>
          <p:nvPr/>
        </p:nvGraphicFramePr>
        <p:xfrm>
          <a:off x="6309360" y="1234440"/>
          <a:ext cx="5330952" cy="4892040"/>
        </p:xfrm>
        <a:graphic xmlns:a="http://schemas.openxmlformats.org/drawingml/2006/main">
          <a:graphicData uri="http://schemas.openxmlformats.org/drawingml/2006/chart">
            <c:chart xmlns:c="http://schemas.openxmlformats.org/drawingml/2006/chart" r:id="rId9"/>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Work Completed: Preliminary Findings</a:t>
            </a:r>
            <a:endParaRPr lang="en-US" sz="3200" dirty="0"/>
          </a:p>
        </p:txBody>
      </p:sp>
      <p:graphicFrame>
        <p:nvGraphicFramePr>
          <p:cNvPr id="3" name="Storage chart" descr=""/>
          <p:cNvGraphicFramePr/>
          <p:nvPr/>
        </p:nvGraphicFramePr>
        <p:xfrm>
          <a:off x="548640" y="1234440"/>
          <a:ext cx="4937760" cy="4892040"/>
        </p:xfrm>
        <a:graphic xmlns:a="http://schemas.openxmlformats.org/drawingml/2006/main">
          <a:graphicData uri="http://schemas.openxmlformats.org/drawingml/2006/chart">
            <c:chart xmlns:c="http://schemas.openxmlformats.org/drawingml/2006/chart" r:id="rId1"/>
          </a:graphicData>
        </a:graphic>
      </p:graphicFrame>
      <p:sp>
        <p:nvSpPr>
          <p:cNvPr id="4" name="Finding card 1"/>
          <p:cNvSpPr/>
          <p:nvPr/>
        </p:nvSpPr>
        <p:spPr>
          <a:xfrm>
            <a:off x="5806440" y="1280160"/>
            <a:ext cx="2798064"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5989320" y="1444752"/>
            <a:ext cx="2432304"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+36%</a:t>
            </a:r>
            <a:endParaRPr lang="en-US" sz="2400" dirty="0"/>
          </a:p>
        </p:txBody>
      </p:sp>
      <p:sp>
        <p:nvSpPr>
          <p:cNvPr id="6" name="Text 3"/>
          <p:cNvSpPr txBox="1"/>
          <p:nvPr/>
        </p:nvSpPr>
        <p:spPr>
          <a:xfrm>
            <a:off x="5989320" y="2057400"/>
            <a:ext cx="2432304"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storage capacity in 3 years, mostly hired</a:t>
            </a:r>
            <a:endParaRPr lang="en-US" sz="1300" dirty="0"/>
          </a:p>
        </p:txBody>
      </p:sp>
      <p:sp>
        <p:nvSpPr>
          <p:cNvPr id="7" name="Finding card 2"/>
          <p:cNvSpPr/>
          <p:nvPr/>
        </p:nvSpPr>
        <p:spPr>
          <a:xfrm>
            <a:off x="8769096" y="1280160"/>
            <a:ext cx="2798064"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8951976" y="1444752"/>
            <a:ext cx="2432304"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64% → 84%</a:t>
            </a:r>
            <a:endParaRPr lang="en-US" sz="2400" dirty="0"/>
          </a:p>
        </p:txBody>
      </p:sp>
      <p:sp>
        <p:nvSpPr>
          <p:cNvPr id="9" name="Text 6"/>
          <p:cNvSpPr txBox="1"/>
          <p:nvPr/>
        </p:nvSpPr>
        <p:spPr>
          <a:xfrm>
            <a:off x="8951976" y="2057400"/>
            <a:ext cx="2432304"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average storage utilisation</a:t>
            </a:r>
            <a:endParaRPr lang="en-US" sz="1300" dirty="0"/>
          </a:p>
        </p:txBody>
      </p:sp>
      <p:sp>
        <p:nvSpPr>
          <p:cNvPr id="10" name="Finding card 3"/>
          <p:cNvSpPr/>
          <p:nvPr/>
        </p:nvSpPr>
        <p:spPr>
          <a:xfrm>
            <a:off x="5806440" y="2926080"/>
            <a:ext cx="2798064" cy="14630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5989320" y="3090672"/>
            <a:ext cx="2432304"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+62.7%</a:t>
            </a:r>
            <a:endParaRPr lang="en-US" sz="2400" dirty="0"/>
          </a:p>
        </p:txBody>
      </p:sp>
      <p:sp>
        <p:nvSpPr>
          <p:cNvPr id="12" name="Text 9"/>
          <p:cNvSpPr txBox="1"/>
          <p:nvPr/>
        </p:nvSpPr>
        <p:spPr>
          <a:xfrm>
            <a:off x="5989320" y="3703320"/>
            <a:ext cx="2432304"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storage cost in 2024-25 alone</a:t>
            </a:r>
            <a:endParaRPr lang="en-US" sz="1300" dirty="0"/>
          </a:p>
        </p:txBody>
      </p:sp>
      <p:sp>
        <p:nvSpPr>
          <p:cNvPr id="13" name="Finding card 4"/>
          <p:cNvSpPr/>
          <p:nvPr/>
        </p:nvSpPr>
        <p:spPr>
          <a:xfrm>
            <a:off x="8769096" y="2926080"/>
            <a:ext cx="2798064" cy="1463040"/>
          </a:xfrm>
          <a:prstGeom prst="roundRect">
            <a:avLst>
              <a:gd name="adj" fmla="val 5000"/>
            </a:avLst>
          </a:prstGeom>
          <a:solidFill>
            <a:schemeClr val="accent4"/>
          </a:solidFill>
          <a:ln w="12700">
            <a:solidFill>
              <a:schemeClr val="accent4"/>
            </a:solidFill>
            <a:prstDash val="solid"/>
          </a:ln>
        </p:spPr>
      </p:sp>
      <p:sp>
        <p:nvSpPr>
          <p:cNvPr id="14" name="Text 11"/>
          <p:cNvSpPr txBox="1"/>
          <p:nvPr/>
        </p:nvSpPr>
        <p:spPr>
          <a:xfrm>
            <a:off x="8951976" y="3090672"/>
            <a:ext cx="2432304" cy="5943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₹17,434 cr</a:t>
            </a:r>
            <a:endParaRPr lang="en-US" sz="2400" dirty="0"/>
          </a:p>
        </p:txBody>
      </p:sp>
      <p:sp>
        <p:nvSpPr>
          <p:cNvPr id="15" name="Text 12"/>
          <p:cNvSpPr txBox="1"/>
          <p:nvPr/>
        </p:nvSpPr>
        <p:spPr>
          <a:xfrm>
            <a:off x="8951976" y="3703320"/>
            <a:ext cx="2432304" cy="5943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subsidy gap in 2024-25</a:t>
            </a:r>
            <a:endParaRPr lang="en-US" sz="1300" dirty="0"/>
          </a:p>
        </p:txBody>
      </p:sp>
      <p:sp>
        <p:nvSpPr>
          <p:cNvPr id="16" name="Finding card 5"/>
          <p:cNvSpPr/>
          <p:nvPr/>
        </p:nvSpPr>
        <p:spPr>
          <a:xfrm>
            <a:off x="5806440" y="4572000"/>
            <a:ext cx="2798064" cy="1463040"/>
          </a:xfrm>
          <a:prstGeom prst="roundRect">
            <a:avLst>
              <a:gd name="adj" fmla="val 5000"/>
            </a:avLst>
          </a:prstGeom>
          <a:solidFill>
            <a:schemeClr val="bg2"/>
          </a:solidFill>
          <a:ln w="12700">
            <a:solidFill>
              <a:schemeClr val="bg2"/>
            </a:solidFill>
            <a:prstDash val="solid"/>
          </a:ln>
        </p:spPr>
      </p:sp>
      <p:sp>
        <p:nvSpPr>
          <p:cNvPr id="17" name="Text 14"/>
          <p:cNvSpPr txBox="1"/>
          <p:nvPr/>
        </p:nvSpPr>
        <p:spPr>
          <a:xfrm>
            <a:off x="5989320" y="4736592"/>
            <a:ext cx="2432304"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0.22% → 0.17%</a:t>
            </a:r>
            <a:endParaRPr lang="en-US" sz="2400" dirty="0"/>
          </a:p>
        </p:txBody>
      </p:sp>
      <p:sp>
        <p:nvSpPr>
          <p:cNvPr id="18" name="Text 15"/>
          <p:cNvSpPr txBox="1"/>
          <p:nvPr/>
        </p:nvSpPr>
        <p:spPr>
          <a:xfrm>
            <a:off x="5989320" y="5349240"/>
            <a:ext cx="2432304"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transit loss improved</a:t>
            </a:r>
            <a:endParaRPr lang="en-US" sz="1300" dirty="0"/>
          </a:p>
        </p:txBody>
      </p:sp>
      <p:sp>
        <p:nvSpPr>
          <p:cNvPr id="19" name="Finding card 6"/>
          <p:cNvSpPr/>
          <p:nvPr/>
        </p:nvSpPr>
        <p:spPr>
          <a:xfrm>
            <a:off x="8769096" y="4572000"/>
            <a:ext cx="2798064" cy="1463040"/>
          </a:xfrm>
          <a:prstGeom prst="roundRect">
            <a:avLst>
              <a:gd name="adj" fmla="val 5000"/>
            </a:avLst>
          </a:prstGeom>
          <a:solidFill>
            <a:schemeClr val="bg2"/>
          </a:solidFill>
          <a:ln w="12700">
            <a:solidFill>
              <a:schemeClr val="bg2"/>
            </a:solidFill>
            <a:prstDash val="solid"/>
          </a:ln>
        </p:spPr>
      </p:sp>
      <p:sp>
        <p:nvSpPr>
          <p:cNvPr id="20" name="Text 17"/>
          <p:cNvSpPr txBox="1"/>
          <p:nvPr/>
        </p:nvSpPr>
        <p:spPr>
          <a:xfrm>
            <a:off x="8951976" y="4736592"/>
            <a:ext cx="2432304" cy="5943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+50%</a:t>
            </a:r>
            <a:endParaRPr lang="en-US" sz="2400" dirty="0"/>
          </a:p>
        </p:txBody>
      </p:sp>
      <p:sp>
        <p:nvSpPr>
          <p:cNvPr id="21" name="Text 18"/>
          <p:cNvSpPr txBox="1"/>
          <p:nvPr/>
        </p:nvSpPr>
        <p:spPr>
          <a:xfrm>
            <a:off x="8951976" y="5349240"/>
            <a:ext cx="2432304"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Gujarat storage, 6.23 → 9.34 LMT; ~91% used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Project Timeline and Future Work</a:t>
            </a:r>
            <a:endParaRPr lang="en-US" sz="3200" dirty="0"/>
          </a:p>
        </p:txBody>
      </p:sp>
      <p:sp>
        <p:nvSpPr>
          <p:cNvPr id="3" name="Timeline line"/>
          <p:cNvSpPr/>
          <p:nvPr/>
        </p:nvSpPr>
        <p:spPr>
          <a:xfrm>
            <a:off x="914400" y="2331720"/>
            <a:ext cx="10362895" cy="0"/>
          </a:xfrm>
          <a:prstGeom prst="line">
            <a:avLst/>
          </a:prstGeom>
          <a:noFill/>
          <a:ln w="25400">
            <a:solidFill>
              <a:srgbClr val="7A8C80"/>
            </a:solidFill>
            <a:prstDash val="solid"/>
          </a:ln>
        </p:spPr>
      </p:sp>
      <p:sp>
        <p:nvSpPr>
          <p:cNvPr id="4" name="Milestone 1"/>
          <p:cNvSpPr/>
          <p:nvPr/>
        </p:nvSpPr>
        <p:spPr>
          <a:xfrm>
            <a:off x="1456914" y="2130552"/>
            <a:ext cx="402336" cy="402336"/>
          </a:xfrm>
          <a:prstGeom prst="ellipse">
            <a:avLst/>
          </a:prstGeom>
          <a:solidFill>
            <a:srgbClr val="5E8C61"/>
          </a:solidFill>
          <a:ln w="25400">
            <a:solidFill>
              <a:srgbClr val="FFFFFF"/>
            </a:solidFill>
            <a:prstDash val="solid"/>
          </a:ln>
        </p:spPr>
      </p:sp>
      <p:sp>
        <p:nvSpPr>
          <p:cNvPr id="5" name="Text 3"/>
          <p:cNvSpPr txBox="1"/>
          <p:nvPr/>
        </p:nvSpPr>
        <p:spPr>
          <a:xfrm>
            <a:off x="640080" y="1325880"/>
            <a:ext cx="2036003" cy="36576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Done</a:t>
            </a:r>
            <a:endParaRPr lang="en-US" sz="1700" dirty="0"/>
          </a:p>
        </p:txBody>
      </p:sp>
      <p:sp>
        <p:nvSpPr>
          <p:cNvPr id="6" name="Text 4"/>
          <p:cNvSpPr txBox="1"/>
          <p:nvPr/>
        </p:nvSpPr>
        <p:spPr>
          <a:xfrm>
            <a:off x="640080" y="1691640"/>
            <a:ext cx="2036003"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Jul – Oct 2026</a:t>
            </a:r>
            <a:endParaRPr lang="en-US" sz="1300" dirty="0"/>
          </a:p>
        </p:txBody>
      </p:sp>
      <p:sp>
        <p:nvSpPr>
          <p:cNvPr id="7" name="Milestone card 1"/>
          <p:cNvSpPr/>
          <p:nvPr/>
        </p:nvSpPr>
        <p:spPr>
          <a:xfrm>
            <a:off x="640080" y="2743200"/>
            <a:ext cx="2036003" cy="1234440"/>
          </a:xfrm>
          <a:prstGeom prst="roundRect">
            <a:avLst>
              <a:gd name="adj" fmla="val 5926"/>
            </a:avLst>
          </a:prstGeom>
          <a:solidFill>
            <a:schemeClr val="bg2"/>
          </a:solidFill>
          <a:ln w="12700">
            <a:solidFill>
              <a:schemeClr val="bg2"/>
            </a:solidFill>
            <a:prstDash val="solid"/>
          </a:ln>
        </p:spPr>
      </p:sp>
      <p:sp>
        <p:nvSpPr>
          <p:cNvPr id="8" name="Text 6"/>
          <p:cNvSpPr txBox="1"/>
          <p:nvPr/>
        </p:nvSpPr>
        <p:spPr>
          <a:xfrm>
            <a:off x="777240" y="2852928"/>
            <a:ext cx="1761683"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Topic, literature review, dataset, analysis, draft report</a:t>
            </a:r>
            <a:endParaRPr lang="en-US" sz="1300" dirty="0"/>
          </a:p>
        </p:txBody>
      </p:sp>
      <p:sp>
        <p:nvSpPr>
          <p:cNvPr id="9" name="Milestone 2"/>
          <p:cNvSpPr/>
          <p:nvPr/>
        </p:nvSpPr>
        <p:spPr>
          <a:xfrm>
            <a:off x="3675797" y="2130552"/>
            <a:ext cx="402336" cy="402336"/>
          </a:xfrm>
          <a:prstGeom prst="ellipse">
            <a:avLst/>
          </a:prstGeom>
          <a:solidFill>
            <a:srgbClr val="1E4D2B"/>
          </a:solidFill>
          <a:ln w="25400">
            <a:solidFill>
              <a:srgbClr val="FFFFFF"/>
            </a:solidFill>
            <a:prstDash val="solid"/>
          </a:ln>
        </p:spPr>
      </p:sp>
      <p:sp>
        <p:nvSpPr>
          <p:cNvPr id="10" name="Text 8"/>
          <p:cNvSpPr txBox="1"/>
          <p:nvPr/>
        </p:nvSpPr>
        <p:spPr>
          <a:xfrm>
            <a:off x="2858963" y="1325880"/>
            <a:ext cx="2036003" cy="36576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Mid-sem</a:t>
            </a:r>
            <a:endParaRPr lang="en-US" sz="1700" dirty="0"/>
          </a:p>
        </p:txBody>
      </p:sp>
      <p:sp>
        <p:nvSpPr>
          <p:cNvPr id="11" name="Text 9"/>
          <p:cNvSpPr txBox="1"/>
          <p:nvPr/>
        </p:nvSpPr>
        <p:spPr>
          <a:xfrm>
            <a:off x="2858963" y="1691640"/>
            <a:ext cx="2036003"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29 Oct 2026</a:t>
            </a:r>
            <a:endParaRPr lang="en-US" sz="1300" dirty="0"/>
          </a:p>
        </p:txBody>
      </p:sp>
      <p:sp>
        <p:nvSpPr>
          <p:cNvPr id="12" name="Milestone card 2"/>
          <p:cNvSpPr/>
          <p:nvPr/>
        </p:nvSpPr>
        <p:spPr>
          <a:xfrm>
            <a:off x="2858963" y="2743200"/>
            <a:ext cx="2036003" cy="1234440"/>
          </a:xfrm>
          <a:prstGeom prst="roundRect">
            <a:avLst>
              <a:gd name="adj" fmla="val 5926"/>
            </a:avLst>
          </a:prstGeom>
          <a:solidFill>
            <a:schemeClr val="bg2"/>
          </a:solidFill>
          <a:ln w="12700">
            <a:solidFill>
              <a:schemeClr val="bg2"/>
            </a:solidFill>
            <a:prstDash val="solid"/>
          </a:ln>
        </p:spPr>
      </p:sp>
      <p:sp>
        <p:nvSpPr>
          <p:cNvPr id="13" name="Text 11"/>
          <p:cNvSpPr txBox="1"/>
          <p:nvPr/>
        </p:nvSpPr>
        <p:spPr>
          <a:xfrm>
            <a:off x="2996123" y="2852928"/>
            <a:ext cx="1761683"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Mid-semester presentation</a:t>
            </a:r>
            <a:endParaRPr lang="en-US" sz="1300" dirty="0"/>
          </a:p>
        </p:txBody>
      </p:sp>
      <p:sp>
        <p:nvSpPr>
          <p:cNvPr id="14" name="Milestone 3"/>
          <p:cNvSpPr/>
          <p:nvPr/>
        </p:nvSpPr>
        <p:spPr>
          <a:xfrm>
            <a:off x="5894680" y="2130552"/>
            <a:ext cx="402336" cy="402336"/>
          </a:xfrm>
          <a:prstGeom prst="ellipse">
            <a:avLst/>
          </a:prstGeom>
          <a:solidFill>
            <a:srgbClr val="C8902E"/>
          </a:solidFill>
          <a:ln w="25400">
            <a:solidFill>
              <a:srgbClr val="FFFFFF"/>
            </a:solidFill>
            <a:prstDash val="solid"/>
          </a:ln>
        </p:spPr>
      </p:sp>
      <p:sp>
        <p:nvSpPr>
          <p:cNvPr id="15" name="Text 13"/>
          <p:cNvSpPr txBox="1"/>
          <p:nvPr/>
        </p:nvSpPr>
        <p:spPr>
          <a:xfrm>
            <a:off x="5077846" y="1325880"/>
            <a:ext cx="2036003" cy="36576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Weeks 1–2</a:t>
            </a:r>
            <a:endParaRPr lang="en-US" sz="1700" dirty="0"/>
          </a:p>
        </p:txBody>
      </p:sp>
      <p:sp>
        <p:nvSpPr>
          <p:cNvPr id="16" name="Text 14"/>
          <p:cNvSpPr txBox="1"/>
          <p:nvPr/>
        </p:nvSpPr>
        <p:spPr>
          <a:xfrm>
            <a:off x="5077846" y="1691640"/>
            <a:ext cx="2036003"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Nov 2026</a:t>
            </a:r>
            <a:endParaRPr lang="en-US" sz="1300" dirty="0"/>
          </a:p>
        </p:txBody>
      </p:sp>
      <p:sp>
        <p:nvSpPr>
          <p:cNvPr id="17" name="Milestone card 3"/>
          <p:cNvSpPr/>
          <p:nvPr/>
        </p:nvSpPr>
        <p:spPr>
          <a:xfrm>
            <a:off x="5077846" y="2743200"/>
            <a:ext cx="2036003" cy="1234440"/>
          </a:xfrm>
          <a:prstGeom prst="roundRect">
            <a:avLst>
              <a:gd name="adj" fmla="val 5926"/>
            </a:avLst>
          </a:prstGeom>
          <a:solidFill>
            <a:schemeClr val="bg2"/>
          </a:solidFill>
          <a:ln w="12700">
            <a:solidFill>
              <a:schemeClr val="bg2"/>
            </a:solidFill>
            <a:prstDash val="solid"/>
          </a:ln>
        </p:spPr>
      </p:sp>
      <p:sp>
        <p:nvSpPr>
          <p:cNvPr id="18" name="Text 16"/>
          <p:cNvSpPr txBox="1"/>
          <p:nvPr/>
        </p:nvSpPr>
        <p:spPr>
          <a:xfrm>
            <a:off x="5215006" y="2852928"/>
            <a:ext cx="1761683"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Verify flagged Gujarat and 2019-20 figures; update tables</a:t>
            </a:r>
            <a:endParaRPr lang="en-US" sz="1300" dirty="0"/>
          </a:p>
        </p:txBody>
      </p:sp>
      <p:sp>
        <p:nvSpPr>
          <p:cNvPr id="19" name="Milestone 4"/>
          <p:cNvSpPr/>
          <p:nvPr/>
        </p:nvSpPr>
        <p:spPr>
          <a:xfrm>
            <a:off x="8113563" y="2130552"/>
            <a:ext cx="402336" cy="402336"/>
          </a:xfrm>
          <a:prstGeom prst="ellipse">
            <a:avLst/>
          </a:prstGeom>
          <a:solidFill>
            <a:srgbClr val="C8902E"/>
          </a:solidFill>
          <a:ln w="25400">
            <a:solidFill>
              <a:srgbClr val="FFFFFF"/>
            </a:solidFill>
            <a:prstDash val="solid"/>
          </a:ln>
        </p:spPr>
      </p:sp>
      <p:sp>
        <p:nvSpPr>
          <p:cNvPr id="20" name="Text 18"/>
          <p:cNvSpPr txBox="1"/>
          <p:nvPr/>
        </p:nvSpPr>
        <p:spPr>
          <a:xfrm>
            <a:off x="7296729" y="1325880"/>
            <a:ext cx="2036003" cy="36576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Weeks 3–4</a:t>
            </a:r>
            <a:endParaRPr lang="en-US" sz="1700" dirty="0"/>
          </a:p>
        </p:txBody>
      </p:sp>
      <p:sp>
        <p:nvSpPr>
          <p:cNvPr id="21" name="Text 19"/>
          <p:cNvSpPr txBox="1"/>
          <p:nvPr/>
        </p:nvSpPr>
        <p:spPr>
          <a:xfrm>
            <a:off x="7296729" y="1691640"/>
            <a:ext cx="2036003"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Nov 2026</a:t>
            </a:r>
            <a:endParaRPr lang="en-US" sz="1300" dirty="0"/>
          </a:p>
        </p:txBody>
      </p:sp>
      <p:sp>
        <p:nvSpPr>
          <p:cNvPr id="22" name="Milestone card 4"/>
          <p:cNvSpPr/>
          <p:nvPr/>
        </p:nvSpPr>
        <p:spPr>
          <a:xfrm>
            <a:off x="7296729" y="2743200"/>
            <a:ext cx="2036003" cy="1234440"/>
          </a:xfrm>
          <a:prstGeom prst="roundRect">
            <a:avLst>
              <a:gd name="adj" fmla="val 5926"/>
            </a:avLst>
          </a:prstGeom>
          <a:solidFill>
            <a:schemeClr val="bg2"/>
          </a:solidFill>
          <a:ln w="12700">
            <a:solidFill>
              <a:schemeClr val="bg2"/>
            </a:solidFill>
            <a:prstDash val="solid"/>
          </a:ln>
        </p:spPr>
      </p:sp>
      <p:sp>
        <p:nvSpPr>
          <p:cNvPr id="23" name="Text 21"/>
          <p:cNvSpPr txBox="1"/>
          <p:nvPr/>
        </p:nvSpPr>
        <p:spPr>
          <a:xfrm>
            <a:off x="7433889" y="2852928"/>
            <a:ext cx="1761683"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Validation: re-check KPIs against sources; supervisor review</a:t>
            </a:r>
            <a:endParaRPr lang="en-US" sz="1300" dirty="0"/>
          </a:p>
        </p:txBody>
      </p:sp>
      <p:sp>
        <p:nvSpPr>
          <p:cNvPr id="24" name="Milestone 5"/>
          <p:cNvSpPr/>
          <p:nvPr/>
        </p:nvSpPr>
        <p:spPr>
          <a:xfrm>
            <a:off x="10332446" y="2130552"/>
            <a:ext cx="402336" cy="402336"/>
          </a:xfrm>
          <a:prstGeom prst="ellipse">
            <a:avLst/>
          </a:prstGeom>
          <a:solidFill>
            <a:srgbClr val="A6402F"/>
          </a:solidFill>
          <a:ln w="25400">
            <a:solidFill>
              <a:srgbClr val="FFFFFF"/>
            </a:solidFill>
            <a:prstDash val="solid"/>
          </a:ln>
        </p:spPr>
      </p:sp>
      <p:sp>
        <p:nvSpPr>
          <p:cNvPr id="25" name="Text 23"/>
          <p:cNvSpPr txBox="1"/>
          <p:nvPr/>
        </p:nvSpPr>
        <p:spPr>
          <a:xfrm>
            <a:off x="9515612" y="1325880"/>
            <a:ext cx="2036003" cy="365760"/>
          </a:xfrm>
          <a:prstGeom prst="rect">
            <a:avLst/>
          </a:prstGeom>
          <a:noFill/>
          <a:ln/>
        </p:spPr>
        <p:txBody>
          <a:bodyPr wrap="square" lIns="0" tIns="0" rIns="0" bIns="0" rtlCol="0" anchor="t"/>
          <a:lstStyle/>
          <a:p>
            <a:pPr algn="ctr" indent="0" marL="0">
              <a:buNone/>
            </a:pPr>
            <a:r>
              <a:rPr lang="en-US" sz="1700" b="1" dirty="0">
                <a:solidFill>
                  <a:schemeClr val="accent1"/>
                </a:solidFill>
                <a:latin typeface="Cambria" pitchFamily="34" charset="0"/>
                <a:ea typeface="Cambria" pitchFamily="34" charset="-122"/>
                <a:cs typeface="Cambria" pitchFamily="34" charset="-120"/>
              </a:rPr>
              <a:t>Final</a:t>
            </a:r>
            <a:endParaRPr lang="en-US" sz="1700" dirty="0"/>
          </a:p>
        </p:txBody>
      </p:sp>
      <p:sp>
        <p:nvSpPr>
          <p:cNvPr id="26" name="Text 24"/>
          <p:cNvSpPr txBox="1"/>
          <p:nvPr/>
        </p:nvSpPr>
        <p:spPr>
          <a:xfrm>
            <a:off x="9515612" y="1691640"/>
            <a:ext cx="2036003"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Dec 2026</a:t>
            </a:r>
            <a:endParaRPr lang="en-US" sz="1300" dirty="0"/>
          </a:p>
        </p:txBody>
      </p:sp>
      <p:sp>
        <p:nvSpPr>
          <p:cNvPr id="27" name="Milestone card 5"/>
          <p:cNvSpPr/>
          <p:nvPr/>
        </p:nvSpPr>
        <p:spPr>
          <a:xfrm>
            <a:off x="9515612" y="2743200"/>
            <a:ext cx="2036003" cy="1234440"/>
          </a:xfrm>
          <a:prstGeom prst="roundRect">
            <a:avLst>
              <a:gd name="adj" fmla="val 5926"/>
            </a:avLst>
          </a:prstGeom>
          <a:solidFill>
            <a:schemeClr val="bg2"/>
          </a:solidFill>
          <a:ln w="12700">
            <a:solidFill>
              <a:schemeClr val="bg2"/>
            </a:solidFill>
            <a:prstDash val="solid"/>
          </a:ln>
        </p:spPr>
      </p:sp>
      <p:sp>
        <p:nvSpPr>
          <p:cNvPr id="28" name="Text 26"/>
          <p:cNvSpPr txBox="1"/>
          <p:nvPr/>
        </p:nvSpPr>
        <p:spPr>
          <a:xfrm>
            <a:off x="9652772" y="2852928"/>
            <a:ext cx="1761683"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Final report, plagiarism check (&lt;30%), submission and viva</a:t>
            </a:r>
            <a:endParaRPr lang="en-US" sz="1300" dirty="0"/>
          </a:p>
        </p:txBody>
      </p:sp>
      <p:sp>
        <p:nvSpPr>
          <p:cNvPr id="29" name="Text 27"/>
          <p:cNvSpPr txBox="1"/>
          <p:nvPr/>
        </p:nvSpPr>
        <p:spPr>
          <a:xfrm>
            <a:off x="548640" y="4297680"/>
            <a:ext cx="11094415" cy="182880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latin typeface="Calibri" pitchFamily="34" charset="0"/>
                <a:ea typeface="Calibri" pitchFamily="34" charset="-122"/>
                <a:cs typeface="Calibri" pitchFamily="34" charset="-120"/>
              </a:rPr>
              <a:t>Evaluation and validation plan: </a:t>
            </a:r>
            <a:pPr indent="0" marL="0">
              <a:buNone/>
            </a:pPr>
            <a:r>
              <a:rPr lang="en-US" sz="1500" dirty="0">
                <a:solidFill>
                  <a:schemeClr val="tx1"/>
                </a:solidFill>
                <a:latin typeface="Calibri" pitchFamily="34" charset="0"/>
                <a:ea typeface="Calibri" pitchFamily="34" charset="-122"/>
                <a:cs typeface="Calibri" pitchFamily="34" charset="-120"/>
              </a:rPr>
              <a:t>re-compute every KPI from source tables; cross-check with PIB and Economic Survey figures; confirm Gujarat data with FCI RO Ahmedabad</a:t>
            </a:r>
            <a:endParaRPr lang="en-US" sz="1500" dirty="0"/>
          </a:p>
          <a:p>
            <a:pPr marL="203200" indent="-203200">
              <a:spcAft>
                <a:spcPts val="1000"/>
              </a:spcAft>
              <a:buSzPct val="100000"/>
              <a:buChar char="•"/>
            </a:pPr>
            <a:r>
              <a:rPr lang="en-US" sz="1500" b="1" dirty="0">
                <a:solidFill>
                  <a:schemeClr val="tx1"/>
                </a:solidFill>
                <a:latin typeface="Calibri" pitchFamily="34" charset="0"/>
                <a:ea typeface="Calibri" pitchFamily="34" charset="-122"/>
                <a:cs typeface="Calibri" pitchFamily="34" charset="-120"/>
              </a:rPr>
              <a:t>Future scope: </a:t>
            </a:r>
            <a:pPr indent="0" marL="0">
              <a:buNone/>
            </a:pPr>
            <a:r>
              <a:rPr lang="en-US" sz="1500" dirty="0">
                <a:solidFill>
                  <a:schemeClr val="tx1"/>
                </a:solidFill>
                <a:latin typeface="Calibri" pitchFamily="34" charset="0"/>
                <a:ea typeface="Calibri" pitchFamily="34" charset="-122"/>
                <a:cs typeface="Calibri" pitchFamily="34" charset="-120"/>
              </a:rPr>
              <a:t>depot-level Gujarat data and a simple Excel KPI dashboard for regional monitoring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Expected Outcomes and Conclusion</a:t>
            </a:r>
            <a:endParaRPr lang="en-US" sz="3200" dirty="0"/>
          </a:p>
        </p:txBody>
      </p:sp>
      <p:sp>
        <p:nvSpPr>
          <p:cNvPr id="3" name="Outcome card 1"/>
          <p:cNvSpPr/>
          <p:nvPr/>
        </p:nvSpPr>
        <p:spPr>
          <a:xfrm>
            <a:off x="548640" y="1280160"/>
            <a:ext cx="3502152" cy="3246120"/>
          </a:xfrm>
          <a:prstGeom prst="roundRect">
            <a:avLst>
              <a:gd name="adj" fmla="val 2254"/>
            </a:avLst>
          </a:prstGeom>
          <a:solidFill>
            <a:schemeClr val="bg2"/>
          </a:solidFill>
          <a:ln w="12700">
            <a:solidFill>
              <a:schemeClr val="bg2"/>
            </a:solidFill>
            <a:prstDash val="solid"/>
          </a:ln>
        </p:spPr>
      </p:sp>
      <p:sp>
        <p:nvSpPr>
          <p:cNvPr id="4" name="Outcome 1 circle"/>
          <p:cNvSpPr/>
          <p:nvPr/>
        </p:nvSpPr>
        <p:spPr>
          <a:xfrm>
            <a:off x="822960" y="1463040"/>
            <a:ext cx="685800" cy="685800"/>
          </a:xfrm>
          <a:prstGeom prst="ellipse">
            <a:avLst/>
          </a:prstGeom>
          <a:solidFill>
            <a:srgbClr val="1E4D2B"/>
          </a:solidFill>
          <a:ln w="12700">
            <a:solidFill>
              <a:srgbClr val="1E4D2B"/>
            </a:solidFill>
            <a:prstDash val="solid"/>
          </a:ln>
        </p:spPr>
      </p:sp>
      <p:pic>
        <p:nvPicPr>
          <p:cNvPr id="5" name="Outcome 1 icon" descr="preencoded.png">    </p:cNvPr>
          <p:cNvPicPr>
            <a:picLocks noChangeAspect="1"/>
          </p:cNvPicPr>
          <p:nvPr/>
        </p:nvPicPr>
        <p:blipFill>
          <a:blip r:embed="rId1"/>
          <a:stretch>
            <a:fillRect/>
          </a:stretch>
        </p:blipFill>
        <p:spPr>
          <a:xfrm>
            <a:off x="994410" y="1634490"/>
            <a:ext cx="342900" cy="342900"/>
          </a:xfrm>
          <a:prstGeom prst="rect">
            <a:avLst/>
          </a:prstGeom>
        </p:spPr>
      </p:pic>
      <p:sp>
        <p:nvSpPr>
          <p:cNvPr id="6" name="Text 3"/>
          <p:cNvSpPr txBox="1"/>
          <p:nvPr/>
        </p:nvSpPr>
        <p:spPr>
          <a:xfrm>
            <a:off x="1645920" y="1554480"/>
            <a:ext cx="2221992"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Deliverables</a:t>
            </a:r>
            <a:endParaRPr lang="en-US" sz="2000" dirty="0"/>
          </a:p>
        </p:txBody>
      </p:sp>
      <p:sp>
        <p:nvSpPr>
          <p:cNvPr id="7" name="Text 4"/>
          <p:cNvSpPr txBox="1"/>
          <p:nvPr/>
        </p:nvSpPr>
        <p:spPr>
          <a:xfrm>
            <a:off x="822960" y="2377440"/>
            <a:ext cx="3044952" cy="20116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Final minor project report</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Validated 6-year Excel KPI dataset</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Data-based recommendations</a:t>
            </a:r>
            <a:endParaRPr lang="en-US" sz="1400" dirty="0"/>
          </a:p>
        </p:txBody>
      </p:sp>
      <p:sp>
        <p:nvSpPr>
          <p:cNvPr id="8" name="Outcome card 2"/>
          <p:cNvSpPr/>
          <p:nvPr/>
        </p:nvSpPr>
        <p:spPr>
          <a:xfrm>
            <a:off x="4325112" y="1280160"/>
            <a:ext cx="3502152" cy="3246120"/>
          </a:xfrm>
          <a:prstGeom prst="roundRect">
            <a:avLst>
              <a:gd name="adj" fmla="val 2254"/>
            </a:avLst>
          </a:prstGeom>
          <a:solidFill>
            <a:schemeClr val="bg2"/>
          </a:solidFill>
          <a:ln w="12700">
            <a:solidFill>
              <a:schemeClr val="bg2"/>
            </a:solidFill>
            <a:prstDash val="solid"/>
          </a:ln>
        </p:spPr>
      </p:sp>
      <p:sp>
        <p:nvSpPr>
          <p:cNvPr id="9" name="Outcome 2 circle"/>
          <p:cNvSpPr/>
          <p:nvPr/>
        </p:nvSpPr>
        <p:spPr>
          <a:xfrm>
            <a:off x="4599432" y="1463040"/>
            <a:ext cx="685800" cy="685800"/>
          </a:xfrm>
          <a:prstGeom prst="ellipse">
            <a:avLst/>
          </a:prstGeom>
          <a:solidFill>
            <a:srgbClr val="1E4D2B"/>
          </a:solidFill>
          <a:ln w="12700">
            <a:solidFill>
              <a:srgbClr val="1E4D2B"/>
            </a:solidFill>
            <a:prstDash val="solid"/>
          </a:ln>
        </p:spPr>
      </p:sp>
      <p:pic>
        <p:nvPicPr>
          <p:cNvPr id="10" name="Outcome 2 icon" descr="preencoded.png">    </p:cNvPr>
          <p:cNvPicPr>
            <a:picLocks noChangeAspect="1"/>
          </p:cNvPicPr>
          <p:nvPr/>
        </p:nvPicPr>
        <p:blipFill>
          <a:blip r:embed="rId2"/>
          <a:stretch>
            <a:fillRect/>
          </a:stretch>
        </p:blipFill>
        <p:spPr>
          <a:xfrm>
            <a:off x="4770882" y="1634490"/>
            <a:ext cx="342900" cy="342900"/>
          </a:xfrm>
          <a:prstGeom prst="rect">
            <a:avLst/>
          </a:prstGeom>
        </p:spPr>
      </p:pic>
      <p:sp>
        <p:nvSpPr>
          <p:cNvPr id="11" name="Text 7"/>
          <p:cNvSpPr txBox="1"/>
          <p:nvPr/>
        </p:nvSpPr>
        <p:spPr>
          <a:xfrm>
            <a:off x="5422392" y="1554480"/>
            <a:ext cx="2221992"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Benefits</a:t>
            </a:r>
            <a:endParaRPr lang="en-US" sz="2000" dirty="0"/>
          </a:p>
        </p:txBody>
      </p:sp>
      <p:sp>
        <p:nvSpPr>
          <p:cNvPr id="12" name="Text 8"/>
          <p:cNvSpPr txBox="1"/>
          <p:nvPr/>
        </p:nvSpPr>
        <p:spPr>
          <a:xfrm>
            <a:off x="4599432" y="2377440"/>
            <a:ext cx="3044952" cy="20116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Owned vs hired storage planning</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Demurrage control via better scheduling</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Seasonal storage contracts; buffer review</a:t>
            </a:r>
            <a:endParaRPr lang="en-US" sz="1400" dirty="0"/>
          </a:p>
        </p:txBody>
      </p:sp>
      <p:sp>
        <p:nvSpPr>
          <p:cNvPr id="13" name="Outcome card 3"/>
          <p:cNvSpPr/>
          <p:nvPr/>
        </p:nvSpPr>
        <p:spPr>
          <a:xfrm>
            <a:off x="8101584" y="1280160"/>
            <a:ext cx="3502152" cy="3246120"/>
          </a:xfrm>
          <a:prstGeom prst="roundRect">
            <a:avLst>
              <a:gd name="adj" fmla="val 2254"/>
            </a:avLst>
          </a:prstGeom>
          <a:solidFill>
            <a:schemeClr val="bg2"/>
          </a:solidFill>
          <a:ln w="12700">
            <a:solidFill>
              <a:schemeClr val="bg2"/>
            </a:solidFill>
            <a:prstDash val="solid"/>
          </a:ln>
        </p:spPr>
      </p:sp>
      <p:sp>
        <p:nvSpPr>
          <p:cNvPr id="14" name="Outcome 3 circle"/>
          <p:cNvSpPr/>
          <p:nvPr/>
        </p:nvSpPr>
        <p:spPr>
          <a:xfrm>
            <a:off x="8375904" y="1463040"/>
            <a:ext cx="685800" cy="685800"/>
          </a:xfrm>
          <a:prstGeom prst="ellipse">
            <a:avLst/>
          </a:prstGeom>
          <a:solidFill>
            <a:srgbClr val="A6402F"/>
          </a:solidFill>
          <a:ln w="12700">
            <a:solidFill>
              <a:srgbClr val="A6402F"/>
            </a:solidFill>
            <a:prstDash val="solid"/>
          </a:ln>
        </p:spPr>
      </p:sp>
      <p:pic>
        <p:nvPicPr>
          <p:cNvPr id="15" name="Outcome 3 icon" descr="preencoded.png">    </p:cNvPr>
          <p:cNvPicPr>
            <a:picLocks noChangeAspect="1"/>
          </p:cNvPicPr>
          <p:nvPr/>
        </p:nvPicPr>
        <p:blipFill>
          <a:blip r:embed="rId3"/>
          <a:stretch>
            <a:fillRect/>
          </a:stretch>
        </p:blipFill>
        <p:spPr>
          <a:xfrm>
            <a:off x="8547354" y="1634490"/>
            <a:ext cx="342900" cy="342900"/>
          </a:xfrm>
          <a:prstGeom prst="rect">
            <a:avLst/>
          </a:prstGeom>
        </p:spPr>
      </p:pic>
      <p:sp>
        <p:nvSpPr>
          <p:cNvPr id="16" name="Text 11"/>
          <p:cNvSpPr txBox="1"/>
          <p:nvPr/>
        </p:nvSpPr>
        <p:spPr>
          <a:xfrm>
            <a:off x="9198864" y="1554480"/>
            <a:ext cx="2221992"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Limitations</a:t>
            </a:r>
            <a:endParaRPr lang="en-US" sz="2000" dirty="0"/>
          </a:p>
        </p:txBody>
      </p:sp>
      <p:sp>
        <p:nvSpPr>
          <p:cNvPr id="17" name="Text 12"/>
          <p:cNvSpPr txBox="1"/>
          <p:nvPr/>
        </p:nvSpPr>
        <p:spPr>
          <a:xfrm>
            <a:off x="8375904" y="2377440"/>
            <a:ext cx="3044952" cy="20116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Secondary data only</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No Gujarat-level financial data</a:t>
            </a:r>
            <a:endParaRPr lang="en-US" sz="1400" dirty="0"/>
          </a:p>
          <a:p>
            <a:pPr marL="203200" indent="-2032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Some dataset values need verification</a:t>
            </a:r>
            <a:endParaRPr lang="en-US" sz="1400" dirty="0"/>
          </a:p>
        </p:txBody>
      </p:sp>
      <p:sp>
        <p:nvSpPr>
          <p:cNvPr id="18" name="Status card"/>
          <p:cNvSpPr/>
          <p:nvPr/>
        </p:nvSpPr>
        <p:spPr>
          <a:xfrm>
            <a:off x="548640" y="4754880"/>
            <a:ext cx="11094415" cy="1371600"/>
          </a:xfrm>
          <a:prstGeom prst="roundRect">
            <a:avLst>
              <a:gd name="adj" fmla="val 5333"/>
            </a:avLst>
          </a:prstGeom>
          <a:solidFill>
            <a:schemeClr val="accent1"/>
          </a:solidFill>
          <a:ln w="12700">
            <a:solidFill>
              <a:schemeClr val="accent1"/>
            </a:solidFill>
            <a:prstDash val="solid"/>
          </a:ln>
        </p:spPr>
      </p:sp>
      <p:sp>
        <p:nvSpPr>
          <p:cNvPr id="19" name="Text 14"/>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Current status: </a:t>
            </a:r>
            <a:pPr indent="0" marL="0">
              <a:buNone/>
            </a:pPr>
            <a:r>
              <a:rPr lang="en-US" sz="1600" dirty="0">
                <a:solidFill>
                  <a:schemeClr val="bg1"/>
                </a:solidFill>
                <a:latin typeface="Calibri" pitchFamily="34" charset="0"/>
                <a:ea typeface="Calibri" pitchFamily="34" charset="-122"/>
                <a:cs typeface="Calibri" pitchFamily="34" charset="-120"/>
              </a:rPr>
              <a:t>analysis and draft report complete. FCI meets its food security mandate, but hired-storage dependence, the subsidy funding gap and rising demurrage are clear areas for improvement.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References and Questions</a:t>
            </a:r>
            <a:endParaRPr lang="en-US" sz="3200" dirty="0"/>
          </a:p>
        </p:txBody>
      </p:sp>
      <p:sp>
        <p:nvSpPr>
          <p:cNvPr id="3" name="Text 1"/>
          <p:cNvSpPr txBox="1"/>
          <p:nvPr/>
        </p:nvSpPr>
        <p:spPr>
          <a:xfrm>
            <a:off x="548640" y="1234440"/>
            <a:ext cx="7498080" cy="4937760"/>
          </a:xfrm>
          <a:prstGeom prst="rect">
            <a:avLst/>
          </a:prstGeom>
          <a:noFill/>
          <a:ln/>
        </p:spPr>
        <p:txBody>
          <a:bodyPr wrap="square" lIns="0" tIns="0" rIns="0" bIns="0" rtlCol="0" anchor="t"/>
          <a:lstStyle/>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[1] Food Corporation of India, “Annual Report 2022-23, 2023-24 and 2024-25 (59th–61st),” Ministry of Consumer Affairs, Food and Public Distribution, Govt. of India, 2023–2025.</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[2] Comptroller and Auditor General of India, “Report No. 20 of 2023: Performance audit on storage management and movement of foodgrains in FCI,” Govt. of India, 2023.</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[3] High Level Committee on Reorienting the Role and Restructuring of FCI (Chair: S. Kumar), “Report of the High Level Committee,” Govt. of India, Jan. 2015.</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[4] S. K. Srivastav, “Performance appraisal of Food Corporation of India (FCI),” Voice of Intellectual Man, vol. 7, no. 1, pp. 161–166, 2017.</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[5] A. Kumar, K. Dey, and K. B. Gupta, “Food Corporation of India: Making public procurement more inclusive and efficient,” Asian J. Manage. Cases, 2023, doi: 10.1177/09728201231168246.</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[6] Press Information Bureau, “India’s food security: Transformative role of Food Corporation of India (FCI),” Govt. of India, Nov. 23, 2024.</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[7] G. A. Boyne, “Concepts and indicators of local authority performance,” Public Money Manage., vol. 22, no. 2, pp. 17–24, 2002.</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[8] Ministry of Finance, Economic Survey 2020-21, vol. 2. New Delhi: Govt. of India, 2021.</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[9] Government of India, The National Food Security Act, 2013 (No. 20 of 2013).</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[10] Gujarat State Civil Supplies Corp. Ltd., “Foodgrains at MSP.” [Online]. Available: https://gscsc.apphost.in/en/procurement</a:t>
            </a:r>
            <a:endParaRPr lang="en-US" sz="1300" dirty="0"/>
          </a:p>
        </p:txBody>
      </p:sp>
      <p:sp>
        <p:nvSpPr>
          <p:cNvPr id="4" name="Questions card"/>
          <p:cNvSpPr/>
          <p:nvPr/>
        </p:nvSpPr>
        <p:spPr>
          <a:xfrm>
            <a:off x="8412480" y="1280160"/>
            <a:ext cx="3227832" cy="4846320"/>
          </a:xfrm>
          <a:prstGeom prst="roundRect">
            <a:avLst>
              <a:gd name="adj" fmla="val 2266"/>
            </a:avLst>
          </a:prstGeom>
          <a:solidFill>
            <a:schemeClr val="accent1"/>
          </a:solidFill>
          <a:ln w="12700">
            <a:solidFill>
              <a:schemeClr val="accent1"/>
            </a:solidFill>
            <a:prstDash val="solid"/>
          </a:ln>
        </p:spPr>
      </p:sp>
      <p:pic>
        <p:nvPicPr>
          <p:cNvPr id="5" name="Questions icon" descr="preencoded.png">    </p:cNvPr>
          <p:cNvPicPr>
            <a:picLocks noChangeAspect="1"/>
          </p:cNvPicPr>
          <p:nvPr/>
        </p:nvPicPr>
        <p:blipFill>
          <a:blip r:embed="rId1"/>
          <a:stretch>
            <a:fillRect/>
          </a:stretch>
        </p:blipFill>
        <p:spPr>
          <a:xfrm>
            <a:off x="9482328" y="2103120"/>
            <a:ext cx="1097280" cy="1097280"/>
          </a:xfrm>
          <a:prstGeom prst="rect">
            <a:avLst/>
          </a:prstGeom>
        </p:spPr>
      </p:pic>
      <p:sp>
        <p:nvSpPr>
          <p:cNvPr id="6" name="Text 3"/>
          <p:cNvSpPr txBox="1"/>
          <p:nvPr/>
        </p:nvSpPr>
        <p:spPr>
          <a:xfrm>
            <a:off x="8595360" y="3474720"/>
            <a:ext cx="2862072"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Thank you</a:t>
            </a:r>
            <a:endParaRPr lang="en-US" sz="2600" dirty="0"/>
          </a:p>
        </p:txBody>
      </p:sp>
      <p:sp>
        <p:nvSpPr>
          <p:cNvPr id="7" name="Text 4"/>
          <p:cNvSpPr txBox="1"/>
          <p:nvPr/>
        </p:nvSpPr>
        <p:spPr>
          <a:xfrm>
            <a:off x="8595360" y="4069080"/>
            <a:ext cx="2862072" cy="457200"/>
          </a:xfrm>
          <a:prstGeom prst="rect">
            <a:avLst/>
          </a:prstGeom>
          <a:noFill/>
          <a:ln/>
        </p:spPr>
        <p:txBody>
          <a:bodyPr wrap="square" lIns="0" tIns="0" rIns="0" bIns="0" rtlCol="0" anchor="t"/>
          <a:lstStyle/>
          <a:p>
            <a:pPr algn="ctr" indent="0" marL="0">
              <a:buNone/>
            </a:pPr>
            <a:r>
              <a:rPr lang="en-US" sz="1800" dirty="0">
                <a:solidFill>
                  <a:schemeClr val="accent6"/>
                </a:solidFill>
                <a:latin typeface="Calibri" pitchFamily="34" charset="0"/>
                <a:ea typeface="Calibri" pitchFamily="34" charset="-122"/>
                <a:cs typeface="Calibri" pitchFamily="34" charset="-120"/>
              </a:rPr>
              <a:t>Questions?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CI Minor Project">
  <a:themeElements>
    <a:clrScheme name="FCI Minor Project">
      <a:dk1>
        <a:srgbClr val="1F2A24"/>
      </a:dk1>
      <a:lt1>
        <a:srgbClr val="FFFFFF"/>
      </a:lt1>
      <a:dk2>
        <a:srgbClr val="1E4D2B"/>
      </a:dk2>
      <a:lt2>
        <a:srgbClr val="EEF3EC"/>
      </a:lt2>
      <a:accent1>
        <a:srgbClr val="1E4D2B"/>
      </a:accent1>
      <a:accent2>
        <a:srgbClr val="C8902E"/>
      </a:accent2>
      <a:accent3>
        <a:srgbClr val="5E8C61"/>
      </a:accent3>
      <a:accent4>
        <a:srgbClr val="A6402F"/>
      </a:accent4>
      <a:accent5>
        <a:srgbClr val="7A8C80"/>
      </a:accent5>
      <a:accent6>
        <a:srgbClr val="D9C38A"/>
      </a:accent6>
      <a:hlink>
        <a:srgbClr val="1E4D2B"/>
      </a:hlink>
      <a:folHlink>
        <a:srgbClr val="5E8C61"/>
      </a:folHlink>
    </a:clrScheme>
    <a:fontScheme name="FCI Minor Proj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and Financial Performance of FCI – Minor Project</dc:title>
  <dc:subject>PptxGenJS Presentation</dc:subject>
  <dc:creator>Laksh Patel</dc:creator>
  <cp:lastModifiedBy>Laksh Patel</cp:lastModifiedBy>
  <cp:revision>1</cp:revision>
  <dcterms:created xsi:type="dcterms:W3CDTF">2026-10-28T12:35:20Z</dcterms:created>
  <dcterms:modified xsi:type="dcterms:W3CDTF">2026-10-28T12:35:20Z</dcterms:modified>
</cp:coreProperties>
</file>