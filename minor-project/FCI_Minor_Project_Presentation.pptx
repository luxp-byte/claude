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1281b3e-9fac-eda1-d303-4f0bbc40c121}">
          <p14:sldIdLst>
            <p14:sldId id="256"/>
          </p14:sldIdLst>
        </p14:section>
        <p14:section name="Context" id="{e8982dc3-0877-027a-7f5e-76a607fc0d0e}">
          <p14:sldIdLst>
            <p14:sldId id="257"/>
            <p14:sldId id="258"/>
          </p14:sldIdLst>
        </p14:section>
        <p14:section name="Problem and aim" id="{3233cd28-7cb9-619f-4e1d-e51b00ec3b89}">
          <p14:sldIdLst>
            <p14:sldId id="259"/>
            <p14:sldId id="260"/>
            <p14:sldId id="261"/>
          </p14:sldIdLst>
        </p14:section>
        <p14:section name="Approach" id="{a98739a1-7a75-4180-c693-2438702b1660}">
          <p14:sldIdLst>
            <p14:sldId id="262"/>
            <p14:sldId id="263"/>
          </p14:sldIdLst>
        </p14:section>
        <p14:section name="Progress" id="{63920863-5b31-0c7e-a39e-e3ce04e4184c}">
          <p14:sldIdLst>
            <p14:sldId id="264"/>
            <p14:sldId id="265"/>
          </p14:sldIdLst>
        </p14:section>
        <p14:section name="Next steps" id="{6ae00037-6273-ecc5-3183-9f710e345a4b}">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04F46"/>
                </a:solidFill>
                <a:latin typeface="+mn-lt"/>
              </a:defRPr>
            </a:pPr>
            <a:r>
              <a:rPr sz="1400" b="0" i="0" u="none" strike="noStrike">
                <a:solidFill>
                  <a:srgbClr val="004F46"/>
                </a:solidFill>
                <a:latin typeface="+mn-lt"/>
              </a:rPr>
              <a:t>Food subsidy: required vs released (₹ ’000 crore)</a:t>
            </a:r>
          </a:p>
        </c:rich>
      </c:tx>
      <c:layout/>
      <c:overlay val="0"/>
    </c:title>
    <c:autoTitleDeleted val="0"/>
    <c:plotArea>
      <c:layout/>
      <c:barChart>
        <c:barDir val="col"/>
        <c:grouping val="clustered"/>
        <c:varyColors val="0"/>
        <c:ser>
          <c:idx val="0"/>
          <c:order val="0"/>
          <c:tx>
            <c:strRef>
              <c:f>Sheet1!$B$1</c:f>
              <c:strCache>
                <c:ptCount val="1"/>
                <c:pt idx="0">
                  <c:v>Subsidy required</c:v>
                </c:pt>
              </c:strCache>
            </c:strRef>
          </c:tx>
          <c:spPr>
            <a:solidFill>
              <a:srgbClr val="004F46"/>
            </a:solidFill>
            <a:effectLst/>
          </c:spPr>
          <c:invertIfNegative val="0"/>
          <c:dLbls>
            <c:numFmt formatCode="0.0" sourceLinked="0"/>
            <c:txPr>
              <a:bodyPr/>
              <a:lstStyle/>
              <a:p>
                <a:pPr>
                  <a:defRPr b="0" i="0" strike="noStrike" sz="1100" u="none">
                    <a:solidFill>
                      <a:srgbClr val="253122"/>
                    </a:solidFill>
                    <a:latin typeface="+mn-lt"/>
                  </a:defRPr>
                </a:pPr>
              </a:p>
            </c:txPr>
            <c:showLegendKey val="0"/>
            <c:showVal val="1"/>
            <c:showCatName val="0"/>
            <c:showSerName val="0"/>
            <c:showPercent val="0"/>
            <c:showBubbleSize val="0"/>
            <c:showLeaderLines val="0"/>
          </c:dLbls>
          <c:cat>
            <c:multiLvlStrRef>
              <c:f>Sheet1!$A$2:$A$4</c:f>
              <c:multiLvlStrCache>
                <c:ptCount val="3"/>
                <c:lvl>
                  <c:pt idx="0">
                    <c:v>2022-23</c:v>
                  </c:pt>
                  <c:pt idx="1">
                    <c:v>2023-24</c:v>
                  </c:pt>
                  <c:pt idx="2">
                    <c:v>2024-25</c:v>
                  </c:pt>
                </c:lvl>
              </c:multiLvlStrCache>
            </c:multiLvlStrRef>
          </c:cat>
          <c:val>
            <c:numRef>
              <c:f>Sheet1!$B$2:$B$4</c:f>
              <c:numCache>
                <c:formatCode>General</c:formatCode>
                <c:ptCount val="3"/>
                <c:pt idx="0">
                  <c:v>204.5</c:v>
                </c:pt>
                <c:pt idx="1">
                  <c:v>132.7</c:v>
                </c:pt>
                <c:pt idx="2">
                  <c:v>146.5</c:v>
                </c:pt>
              </c:numCache>
            </c:numRef>
          </c:val>
        </c:ser>
        <c:ser>
          <c:idx val="1"/>
          <c:order val="1"/>
          <c:tx>
            <c:strRef>
              <c:f>Sheet1!$C$1</c:f>
              <c:strCache>
                <c:ptCount val="1"/>
                <c:pt idx="0">
                  <c:v>Subsidy released</c:v>
                </c:pt>
              </c:strCache>
            </c:strRef>
          </c:tx>
          <c:spPr>
            <a:solidFill>
              <a:srgbClr val="FCB315"/>
            </a:solidFill>
            <a:effectLst/>
          </c:spPr>
          <c:invertIfNegative val="0"/>
          <c:dLbls>
            <c:numFmt formatCode="0.0" sourceLinked="0"/>
            <c:txPr>
              <a:bodyPr/>
              <a:lstStyle/>
              <a:p>
                <a:pPr>
                  <a:defRPr b="0" i="0" strike="noStrike" sz="1100" u="none">
                    <a:solidFill>
                      <a:srgbClr val="253122"/>
                    </a:solidFill>
                    <a:latin typeface="+mn-lt"/>
                  </a:defRPr>
                </a:pPr>
              </a:p>
            </c:txPr>
            <c:showLegendKey val="0"/>
            <c:showVal val="1"/>
            <c:showCatName val="0"/>
            <c:showSerName val="0"/>
            <c:showPercent val="0"/>
            <c:showBubbleSize val="0"/>
            <c:showLeaderLines val="0"/>
          </c:dLbls>
          <c:cat>
            <c:multiLvlStrRef>
              <c:f>Sheet1!$A$2:$A$4</c:f>
              <c:multiLvlStrCache>
                <c:ptCount val="3"/>
                <c:lvl>
                  <c:pt idx="0">
                    <c:v>2022-23</c:v>
                  </c:pt>
                  <c:pt idx="1">
                    <c:v>2023-24</c:v>
                  </c:pt>
                  <c:pt idx="2">
                    <c:v>2024-25</c:v>
                  </c:pt>
                </c:lvl>
              </c:multiLvlStrCache>
            </c:multiLvlStrRef>
          </c:cat>
          <c:val>
            <c:numRef>
              <c:f>Sheet1!$C$2:$C$4</c:f>
              <c:numCache>
                <c:formatCode>General</c:formatCode>
                <c:ptCount val="3"/>
                <c:pt idx="0">
                  <c:v>200.2</c:v>
                </c:pt>
                <c:pt idx="1">
                  <c:v>139.7</c:v>
                </c:pt>
                <c:pt idx="2">
                  <c:v>129.1</c:v>
                </c:pt>
              </c:numCache>
            </c:numRef>
          </c:val>
        </c:ser>
        <c:dLbls>
          <c:numFmt formatCode="0.0" sourceLinked="0"/>
          <c:txPr>
            <a:bodyPr/>
            <a:lstStyle/>
            <a:p>
              <a:pPr>
                <a:defRPr b="0" i="0" strike="noStrike" sz="1100" u="none">
                  <a:solidFill>
                    <a:srgbClr val="253122"/>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53122"/>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35A3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04F46"/>
                </a:solidFill>
                <a:latin typeface="+mn-lt"/>
              </a:defRPr>
            </a:pPr>
            <a:r>
              <a:rPr sz="1400" b="0" i="0" u="none" strike="noStrike">
                <a:solidFill>
                  <a:srgbClr val="004F46"/>
                </a:solidFill>
                <a:latin typeface="+mn-lt"/>
              </a:rPr>
              <a:t>Evidence: demurrage per MT more than doubled (+116%)</a:t>
            </a:r>
          </a:p>
        </c:rich>
      </c:tx>
      <c:layout/>
      <c:overlay val="0"/>
    </c:title>
    <c:autoTitleDeleted val="0"/>
    <c:plotArea>
      <c:layout/>
      <c:lineChart>
        <c:varyColors val="0"/>
        <c:ser>
          <c:idx val="0"/>
          <c:order val="0"/>
          <c:tx>
            <c:strRef>
              <c:f>Sheet1!$B$1</c:f>
              <c:strCache>
                <c:ptCount val="1"/>
                <c:pt idx="0">
                  <c:v>Demurrage (₹ per MT)</c:v>
                </c:pt>
              </c:strCache>
            </c:strRef>
          </c:tx>
          <c:spPr>
            <a:solidFill>
              <a:srgbClr val="A62C37"/>
            </a:solidFill>
            <a:ln w="38100" cap="flat">
              <a:solidFill>
                <a:srgbClr val="A62C37"/>
              </a:solidFill>
              <a:prstDash val="solid"/>
              <a:round/>
            </a:ln>
            <a:effectLst/>
          </c:spPr>
          <c:invertIfNegative val="0"/>
          <c:dLbls>
            <c:numFmt formatCode="0.00" sourceLinked="0"/>
            <c:txPr>
              <a:bodyPr/>
              <a:lstStyle/>
              <a:p>
                <a:pPr>
                  <a:defRPr b="0" i="0" strike="noStrike" sz="1100" u="none">
                    <a:solidFill>
                      <a:srgbClr val="253122"/>
                    </a:solidFill>
                    <a:latin typeface="+mn-lt"/>
                  </a:defRPr>
                </a:pPr>
              </a:p>
            </c:txPr>
            <c:dLblPos val="t"/>
            <c:showLegendKey val="0"/>
            <c:showVal val="1"/>
            <c:showCatName val="0"/>
            <c:showSerName val="0"/>
            <c:showPercent val="0"/>
            <c:showBubbleSize val="0"/>
            <c:showLeaderLines val="0"/>
          </c:dLbls>
          <c:marker>
            <c:symbol val="circle"/>
            <c:size val="9"/>
            <c:spPr>
              <a:solidFill>
                <a:srgbClr val="A62C37"/>
              </a:solidFill>
              <a:ln w="9525" cap="flat">
                <a:solidFill>
                  <a:srgbClr val="A62C37"/>
                </a:solidFill>
                <a:prstDash val="solid"/>
                <a:round/>
              </a:ln>
              <a:effectLst/>
            </c:spPr>
          </c:marker>
          <c:cat>
            <c:multiLvlStrRef>
              <c:f>Sheet1!$A$2:$A$7</c:f>
              <c:multiLvlStrCache>
                <c:ptCount val="6"/>
                <c:lvl>
                  <c:pt idx="0">
                    <c:v>2019-20</c:v>
                  </c:pt>
                  <c:pt idx="1">
                    <c:v>2020-21</c:v>
                  </c:pt>
                  <c:pt idx="2">
                    <c:v>2021-22</c:v>
                  </c:pt>
                  <c:pt idx="3">
                    <c:v>2022-23</c:v>
                  </c:pt>
                  <c:pt idx="4">
                    <c:v>2023-24</c:v>
                  </c:pt>
                  <c:pt idx="5">
                    <c:v>2024-25</c:v>
                  </c:pt>
                </c:lvl>
              </c:multiLvlStrCache>
            </c:multiLvlStrRef>
          </c:cat>
          <c:val>
            <c:numRef>
              <c:f>Sheet1!$B$2:$B$7</c:f>
              <c:numCache>
                <c:formatCode>General</c:formatCode>
                <c:ptCount val="6"/>
                <c:pt idx="0">
                  <c:v>4.27</c:v>
                </c:pt>
                <c:pt idx="1">
                  <c:v>4.66</c:v>
                </c:pt>
                <c:pt idx="2">
                  <c:v>6.34</c:v>
                </c:pt>
                <c:pt idx="3">
                  <c:v>7.74</c:v>
                </c:pt>
                <c:pt idx="4">
                  <c:v>7.19</c:v>
                </c:pt>
                <c:pt idx="5">
                  <c:v>9.23</c:v>
                </c:pt>
              </c:numCache>
            </c:numRef>
          </c:val>
          <c:smooth val="0"/>
        </c:ser>
        <c:dLbls>
          <c:numFmt formatCode="0.00" sourceLinked="0"/>
          <c:txPr>
            <a:bodyPr/>
            <a:lstStyle/>
            <a:p>
              <a:pPr>
                <a:defRPr b="0" i="0" strike="noStrike" sz="1100" u="none">
                  <a:solidFill>
                    <a:srgbClr val="253122"/>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53122"/>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35A3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04F46"/>
                </a:solidFill>
                <a:latin typeface="+mn-lt"/>
              </a:defRPr>
            </a:pPr>
            <a:r>
              <a:rPr sz="1400" b="0" i="0" u="none" strike="noStrike">
                <a:solidFill>
                  <a:srgbClr val="004F46"/>
                </a:solidFill>
                <a:latin typeface="+mn-lt"/>
              </a:rPr>
              <a:t>Storage capacity (million tonnes): growth is hired</a:t>
            </a:r>
          </a:p>
        </c:rich>
      </c:tx>
      <c:layout/>
      <c:overlay val="0"/>
    </c:title>
    <c:autoTitleDeleted val="0"/>
    <c:plotArea>
      <c:layout/>
      <c:barChart>
        <c:barDir val="col"/>
        <c:grouping val="stacked"/>
        <c:varyColors val="0"/>
        <c:ser>
          <c:idx val="0"/>
          <c:order val="0"/>
          <c:tx>
            <c:strRef>
              <c:f>Sheet1!$B$1</c:f>
              <c:strCache>
                <c:ptCount val="1"/>
                <c:pt idx="0">
                  <c:v>Owned</c:v>
                </c:pt>
              </c:strCache>
            </c:strRef>
          </c:tx>
          <c:spPr>
            <a:solidFill>
              <a:srgbClr val="1A7444"/>
            </a:solidFill>
            <a:effectLst/>
          </c:spPr>
          <c:invertIfNegative val="0"/>
          <c:dLbls>
            <c:numFmt formatCode="0.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2022-23</c:v>
                  </c:pt>
                  <c:pt idx="1">
                    <c:v>2023-24</c:v>
                  </c:pt>
                  <c:pt idx="2">
                    <c:v>2024-25</c:v>
                  </c:pt>
                </c:lvl>
              </c:multiLvlStrCache>
            </c:multiLvlStrRef>
          </c:cat>
          <c:val>
            <c:numRef>
              <c:f>Sheet1!$B$2:$B$4</c:f>
              <c:numCache>
                <c:formatCode>General</c:formatCode>
                <c:ptCount val="3"/>
                <c:pt idx="0">
                  <c:v>14.77</c:v>
                </c:pt>
                <c:pt idx="1">
                  <c:v>14.69</c:v>
                </c:pt>
                <c:pt idx="2">
                  <c:v>15.39</c:v>
                </c:pt>
              </c:numCache>
            </c:numRef>
          </c:val>
        </c:ser>
        <c:ser>
          <c:idx val="1"/>
          <c:order val="1"/>
          <c:tx>
            <c:strRef>
              <c:f>Sheet1!$C$1</c:f>
              <c:strCache>
                <c:ptCount val="1"/>
                <c:pt idx="0">
                  <c:v>Hired</c:v>
                </c:pt>
              </c:strCache>
            </c:strRef>
          </c:tx>
          <c:spPr>
            <a:solidFill>
              <a:srgbClr val="BC892B"/>
            </a:solidFill>
            <a:effectLst/>
          </c:spPr>
          <c:invertIfNegative val="0"/>
          <c:dLbls>
            <c:numFmt formatCode="0.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2022-23</c:v>
                  </c:pt>
                  <c:pt idx="1">
                    <c:v>2023-24</c:v>
                  </c:pt>
                  <c:pt idx="2">
                    <c:v>2024-25</c:v>
                  </c:pt>
                </c:lvl>
              </c:multiLvlStrCache>
            </c:multiLvlStrRef>
          </c:cat>
          <c:val>
            <c:numRef>
              <c:f>Sheet1!$C$2:$C$4</c:f>
              <c:numCache>
                <c:formatCode>General</c:formatCode>
                <c:ptCount val="3"/>
                <c:pt idx="0">
                  <c:v>18.97</c:v>
                </c:pt>
                <c:pt idx="1">
                  <c:v>22.44</c:v>
                </c:pt>
                <c:pt idx="2">
                  <c:v>30.48</c:v>
                </c:pt>
              </c:numCache>
            </c:numRef>
          </c:val>
        </c:ser>
        <c:dLbls>
          <c:numFmt formatCode="0.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53122"/>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35A3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minor project analyses how the Food Corporation of India has performed operationally and financially from 2022-23 to 2024-25, using a set of key performance indicators, with special reference to FCI's Gujarat Region. My supervisor is Dr. Ramdas Gore.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FCI procures, stores and distributes foodgrains for the central pool. NFSA makes this a legal entitlement for up to 75% of rural and 50% of urban people. In Gujarat, FCI does not procure; MSP procurement in the state is done by the Gujarat State Civil Supplies Corporation. FCI's Gujarat Region stores and distributes grain. The figures on the right are from FCI Annual Report 2024-25.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reviewed five sources. The Shanta Kumar Committee gave policy advice in 2015. Srivastav 2017 is a descriptive appraisal. The CAG audit of 2023 covers up to 2021-22 only. Kumar, Dey and Gupta 2023 look only at procurement. The PIB 2024 note is an official summary. None tracks FCI with one consistent set of KPIs after COVID, and none looks at Gujarat. Note: I could read only the abstract of Kumar et al.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FCI's size has grown, but its efficiency is mixed. In 2024-25 the subsidy released was ₹17,434 crore less than the subsidy required, and short-term borrowings rose 262% in the same year. Existing studies are either audits of the past or descriptive overviews, so this project tracks FCI using one consistent set of indicators.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aim is to evaluate FCI's performance using KPIs. I have grouped my report's seven objectives into five measurable ones. O1 covers procurement, storage and distribution; O2 finance; O3 operational gaps such as transit loss, demurrage and buffer stocks; O4 the pre- versus post-COVID comparison; and O5 recommendations. Each objective has a numeric KPI, so it can be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three gaps among the studies I reviewed: a time gap, a regional gap and a method gap. My project differs because it uses one KPI framework across five areas, covers the latest three years with a 2019-20 comparison, and looks at the Gujarat Region. This is not a systematic review of all literature, so I say 'among the studies reviewed'.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workflow has five steps. First I collected data from FCI Annual Reports. Then I compiled it into an Excel master dataset with eight sheets. Third, I validated it against PIB, the Economic Survey and FCI's Regional Office in Ahmedabad. Fourth, I calculated year-on-year growth, CAGR, ratios and gaps against norms. Finally I interpreted the results. Values that looked wrong, like the 2019-20 procurement figure, were excluded rather than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uses secondary data, so the main tool is Microsoft Excel for the master dataset and calculations. Word and PowerPoint are used for the report and presentation. Data sources are official: FCI Annual Reports, the CAG audit, PIB and the Economic Survey. No special hardware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the work is done: literature review, the eight-sheet dataset, validation, analysis of all five areas, and a full draft report of eight chapters. The chart is one result: demurrage per tonne rose from ₹4.27 to ₹9.23 over six years even though movement fell, which points to a depot scheduling problem. Pending work is verifying a few flagged figures and final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findings so far. Storage capacity grew 36%, but almost all of it is hired, which costs more; storage cost rose 62.7% in 2024-25. Utilisation improved from 64% to 84%. The subsidy gap was ₹17,434 crore. Transit loss improved from 0.22% to 0.17%. In Gujarat, storage capacity rose about 50% since 2019-20 with about 91% utilisation, and offtake rose 18.6% between 2022-23 and 2024-25.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Analysis and the draft are done. In the first two weeks of November I will verify the flagged Gujarat figures and the 2019-20 baseline. Then I will re-check all KPIs and get supervisor review. In December I will finalise the report, run the plagiarism check and submit. These dates are my plan and depend on the university's final submission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deliverables are the final report, a validated KPI dataset and recommendations. Limitations are that the study uses secondary data only, there is no Gujarat-level financial data, and some dataset values still need verification. To conclude: FCI meets its mandate, but storage dependence, the subsidy gap and demurrage are the main areas to improve.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my main references in IEEE style.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12F2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25880"/>
            <a:ext cx="7863840" cy="2103120"/>
          </a:xfrm>
          <a:prstGeom prst="rect">
            <a:avLst/>
          </a:prstGeom>
          <a:noFill/>
          <a:ln/>
        </p:spPr>
        <p:txBody>
          <a:bodyPr wrap="square" rtlCol="0"/>
          <a:lstStyle>
            <a:lvl1pPr algn="l" indent="0" marL="0">
              <a:buNone/>
              <a:defRPr lang="en-US" sz="3400" b="1" dirty="0">
                <a:solidFill>
                  <a:srgbClr val="FBE6A0"/>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ph idx="101" type="body" hasCustomPrompt="1"/>
          </p:nvPr>
        </p:nvSpPr>
        <p:spPr>
          <a:xfrm>
            <a:off x="548640" y="3703320"/>
            <a:ext cx="7863840" cy="2377440"/>
          </a:xfrm>
          <a:prstGeom prst="rect">
            <a:avLst/>
          </a:prstGeom>
          <a:noFill/>
          <a:ln/>
        </p:spPr>
        <p:txBody>
          <a:bodyPr wrap="square" rtlCol="0"/>
          <a:lstStyle>
            <a:lvl1pPr indent="0" marL="0">
              <a:buNone/>
              <a:defRPr lang="en-US" sz="1600" dirty="0">
                <a:solidFill>
                  <a:srgbClr val="FFFFFF"/>
                </a:solidFill>
                <a:latin typeface="Calibri" pitchFamily="34" charset="0"/>
                <a:ea typeface="Calibri" pitchFamily="34" charset="-122"/>
                <a:cs typeface="Calibri" pitchFamily="34" charset="-120"/>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rtlCol="0"/>
          <a:lstStyle>
            <a:lvl1pPr indent="0" marL="0">
              <a:buNone/>
              <a:defRPr lang="en-US" sz="3200" b="1" dirty="0">
                <a:solidFill>
                  <a:schemeClr val="tx2"/>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latin typeface="Calibri" pitchFamily="34" charset="0"/>
                <a:ea typeface="Calibri" pitchFamily="34" charset="-122"/>
                <a:cs typeface="Calibri" pitchFamily="34" charset="-120"/>
              </a:rPr>
              <a:t>Minor Project  |  Laksh Patel  |  FCI Performance Analysis</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4-1.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0" Type="http://schemas.openxmlformats.org/officeDocument/2006/relationships/chart" Target="/ppt/charts/chart2.xml"/><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1" Type="http://schemas.openxmlformats.org/officeDocument/2006/relationships/slideLayout" Target="../slideLayouts/slideLayout3.xml"/><Relationship Id="rId1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10-1.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halo"/>
          <p:cNvSpPr/>
          <p:nvPr/>
        </p:nvSpPr>
        <p:spPr>
          <a:xfrm>
            <a:off x="7863840" y="-1463040"/>
            <a:ext cx="5669280" cy="5669280"/>
          </a:xfrm>
          <a:prstGeom prst="ellipse">
            <a:avLst/>
          </a:prstGeom>
          <a:solidFill>
            <a:srgbClr val="E2B540">
              <a:alpha val="12000"/>
            </a:srgbClr>
          </a:solidFill>
          <a:ln w="12700">
            <a:solidFill>
              <a:srgbClr val="E2B540">
                <a:alpha val="0"/>
              </a:srgbClr>
            </a:solidFill>
            <a:prstDash val="solid"/>
          </a:ln>
        </p:spPr>
      </p:sp>
      <p:sp>
        <p:nvSpPr>
          <p:cNvPr id="3" name="Text 0"/>
          <p:cNvSpPr/>
          <p:nvPr>
            <p:ph idx="100" type="title" hasCustomPrompt="1"/>
          </p:nvPr>
        </p:nvSpPr>
        <p:spPr>
          <a:xfrm>
            <a:off x="548640" y="1325880"/>
            <a:ext cx="7863840" cy="2103120"/>
          </a:xfrm>
          <a:prstGeom prst="rect">
            <a:avLst/>
          </a:prstGeom>
          <a:noFill/>
          <a:ln/>
        </p:spPr>
        <p:txBody>
          <a:bodyPr wrap="square" lIns="0" tIns="0" rIns="0" bIns="0" rtlCol="0" anchor="t"/>
          <a:lstStyle/>
          <a:p>
            <a:pPr algn="l" indent="0" marL="0">
              <a:buNone/>
            </a:pPr>
            <a:r>
              <a:rPr lang="en-US" sz="3400" b="1" dirty="0">
                <a:solidFill>
                  <a:srgbClr val="FBE6A0"/>
                </a:solidFill>
                <a:latin typeface="Cambria" pitchFamily="34" charset="0"/>
                <a:ea typeface="Cambria" pitchFamily="34" charset="-122"/>
                <a:cs typeface="Cambria" pitchFamily="34" charset="-120"/>
              </a:rPr>
              <a:t>Operational and Financial Performance of the Food Corporation of India: A KPI-Based Analysis with Special Reference to Gujarat Region</a:t>
            </a:r>
            <a:endParaRPr lang="en-US" sz="3400" dirty="0"/>
          </a:p>
        </p:txBody>
      </p:sp>
      <p:sp>
        <p:nvSpPr>
          <p:cNvPr id="4" name="Text 0"/>
          <p:cNvSpPr/>
          <p:nvPr>
            <p:ph idx="101" type="body" hasCustomPrompt="1"/>
          </p:nvPr>
        </p:nvSpPr>
        <p:spPr>
          <a:xfrm>
            <a:off x="548640" y="3703320"/>
            <a:ext cx="7863840" cy="2377440"/>
          </a:xfrm>
          <a:prstGeom prst="rect">
            <a:avLst/>
          </a:prstGeom>
          <a:noFill/>
          <a:ln/>
        </p:spPr>
        <p:txBody>
          <a:bodyPr wrap="square" lIns="0" tIns="0" rIns="0" bIns="0" rtlCol="0" anchor="t"/>
          <a:lstStyle/>
          <a:p>
            <a:pPr indent="0" marL="0">
              <a:spcAft>
                <a:spcPts val="600"/>
              </a:spcAft>
              <a:buNone/>
            </a:pPr>
            <a:r>
              <a:rPr lang="en-US" sz="1600" b="1" dirty="0">
                <a:solidFill>
                  <a:srgbClr val="E2B540"/>
                </a:solidFill>
                <a:latin typeface="Calibri" pitchFamily="34" charset="0"/>
                <a:ea typeface="Calibri" pitchFamily="34" charset="-122"/>
                <a:cs typeface="Calibri" pitchFamily="34" charset="-120"/>
              </a:rPr>
              <a:t>Laksh Patel  |  Enrolment No. 250104004025</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MBA (Business Analytics and Intelligence), Semester III</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School of Management Studies, National Forensic Sciences University, Gandhinagar</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Supervisor: Dr. Ramdas Gore, Assistant Professor</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Academic Year 2026-27  |  Minor Project – Mid-Semester Examination</a:t>
            </a:r>
            <a:endParaRPr lang="en-US" sz="1600" dirty="0"/>
          </a:p>
        </p:txBody>
      </p:sp>
      <p:sp>
        <p:nvSpPr>
          <p:cNvPr id="5" name="!!orb"/>
          <p:cNvSpPr/>
          <p:nvPr/>
        </p:nvSpPr>
        <p:spPr>
          <a:xfrm>
            <a:off x="9006840" y="1554480"/>
            <a:ext cx="2651760" cy="2651760"/>
          </a:xfrm>
          <a:prstGeom prst="ellipse">
            <a:avLst/>
          </a:prstGeom>
          <a:solidFill>
            <a:srgbClr val="E2B540"/>
          </a:solidFill>
          <a:ln w="12700">
            <a:solidFill>
              <a:srgbClr val="E2B540"/>
            </a:solidFill>
            <a:prstDash val="solid"/>
          </a:ln>
        </p:spPr>
      </p:sp>
      <p:pic>
        <p:nvPicPr>
          <p:cNvPr id="6" name="!!orbicon" descr="preencoded.png">    </p:cNvPr>
          <p:cNvPicPr>
            <a:picLocks noChangeAspect="1"/>
          </p:cNvPicPr>
          <p:nvPr/>
        </p:nvPicPr>
        <p:blipFill>
          <a:blip r:embed="rId1"/>
          <a:stretch>
            <a:fillRect/>
          </a:stretch>
        </p:blipFill>
        <p:spPr>
          <a:xfrm>
            <a:off x="9601200" y="2148840"/>
            <a:ext cx="1463040" cy="1463040"/>
          </a:xfrm>
          <a:prstGeom prst="rect">
            <a:avLst/>
          </a:prstGeom>
        </p:spPr>
      </p:pic>
      <p:sp>
        <p:nvSpPr>
          <p:cNvPr id="7" name="Text 4"/>
          <p:cNvSpPr txBox="1"/>
          <p:nvPr/>
        </p:nvSpPr>
        <p:spPr>
          <a:xfrm>
            <a:off x="8686800" y="4480560"/>
            <a:ext cx="3291840" cy="365760"/>
          </a:xfrm>
          <a:prstGeom prst="rect">
            <a:avLst/>
          </a:prstGeom>
          <a:noFill/>
          <a:ln/>
        </p:spPr>
        <p:txBody>
          <a:bodyPr wrap="square" lIns="0" tIns="0" rIns="0" bIns="0" rtlCol="0" anchor="t"/>
          <a:lstStyle/>
          <a:p>
            <a:pPr algn="ctr" indent="0" marL="0">
              <a:buNone/>
            </a:pPr>
            <a:r>
              <a:rPr lang="en-US" sz="1200" i="1" dirty="0">
                <a:solidFill>
                  <a:srgbClr val="FBE6A0"/>
                </a:solidFill>
                <a:latin typeface="Calibri" pitchFamily="34" charset="0"/>
                <a:ea typeface="Calibri" pitchFamily="34" charset="-122"/>
                <a:cs typeface="Calibri" pitchFamily="34" charset="-120"/>
              </a:rPr>
              <a:t>Data: FCI Annual Reports, 2019-20 to 2024-25</a:t>
            </a:r>
            <a:endParaRPr lang="en-US" sz="12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halo"/>
          <p:cNvSpPr/>
          <p:nvPr/>
        </p:nvSpPr>
        <p:spPr>
          <a:xfrm>
            <a:off x="-2377440" y="4206240"/>
            <a:ext cx="4572000" cy="4572000"/>
          </a:xfrm>
          <a:prstGeom prst="ellipse">
            <a:avLst/>
          </a:prstGeom>
          <a:solidFill>
            <a:srgbClr val="437742">
              <a:alpha val="14000"/>
            </a:srgbClr>
          </a:solidFill>
          <a:ln w="12700">
            <a:solidFill>
              <a:srgbClr val="437742">
                <a:alpha val="0"/>
              </a:srgbClr>
            </a:solidFill>
            <a:prstDash val="solid"/>
          </a:ln>
        </p:spPr>
      </p:sp>
      <p:sp>
        <p:nvSpPr>
          <p:cNvPr id="3"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Introduction and Background</a:t>
            </a:r>
            <a:endParaRPr lang="en-US" sz="3200" dirty="0"/>
          </a:p>
        </p:txBody>
      </p:sp>
      <p:sp>
        <p:nvSpPr>
          <p:cNvPr id="4" name="!!orb"/>
          <p:cNvSpPr/>
          <p:nvPr/>
        </p:nvSpPr>
        <p:spPr>
          <a:xfrm>
            <a:off x="10957255" y="347472"/>
            <a:ext cx="685800" cy="685800"/>
          </a:xfrm>
          <a:prstGeom prst="ellipse">
            <a:avLst/>
          </a:prstGeom>
          <a:solidFill>
            <a:srgbClr val="437742"/>
          </a:solidFill>
          <a:ln w="12700">
            <a:solidFill>
              <a:srgbClr val="437742"/>
            </a:solidFill>
            <a:prstDash val="solid"/>
          </a:ln>
        </p:spPr>
      </p:sp>
      <p:pic>
        <p:nvPicPr>
          <p:cNvPr id="5" name="!!orbicon" descr="preencoded.png">    </p:cNvPr>
          <p:cNvPicPr>
            <a:picLocks noChangeAspect="1"/>
          </p:cNvPicPr>
          <p:nvPr/>
        </p:nvPicPr>
        <p:blipFill>
          <a:blip r:embed="rId1"/>
          <a:stretch>
            <a:fillRect/>
          </a:stretch>
        </p:blipFill>
        <p:spPr>
          <a:xfrm>
            <a:off x="11130991" y="521208"/>
            <a:ext cx="338328" cy="338328"/>
          </a:xfrm>
          <a:prstGeom prst="rect">
            <a:avLst/>
          </a:prstGeom>
        </p:spPr>
      </p:pic>
      <p:sp>
        <p:nvSpPr>
          <p:cNvPr id="6" name="Text 3"/>
          <p:cNvSpPr txBox="1"/>
          <p:nvPr/>
        </p:nvSpPr>
        <p:spPr>
          <a:xfrm>
            <a:off x="548640" y="1325880"/>
            <a:ext cx="6583680" cy="4754880"/>
          </a:xfrm>
          <a:prstGeom prst="rect">
            <a:avLst/>
          </a:prstGeom>
          <a:noFill/>
          <a:ln/>
        </p:spPr>
        <p:txBody>
          <a:bodyPr wrap="square" lIns="0" tIns="0" rIns="0" bIns="0" rtlCol="0" anchor="t"/>
          <a:lstStyle/>
          <a:p>
            <a:pPr marL="203200" indent="-203200">
              <a:spcAft>
                <a:spcPts val="1000"/>
              </a:spcAft>
              <a:buSzPct val="100000"/>
              <a:buChar char="•"/>
            </a:pPr>
            <a:r>
              <a:rPr lang="en-US" sz="1700" b="1" dirty="0">
                <a:solidFill>
                  <a:srgbClr val="004F46"/>
                </a:solidFill>
                <a:latin typeface="Calibri" pitchFamily="34" charset="0"/>
                <a:ea typeface="Calibri" pitchFamily="34" charset="-122"/>
                <a:cs typeface="Calibri" pitchFamily="34" charset="-120"/>
              </a:rPr>
              <a:t>Domain: </a:t>
            </a:r>
            <a:pPr indent="0" marL="0">
              <a:buNone/>
            </a:pPr>
            <a:r>
              <a:rPr lang="en-US" sz="1700" dirty="0">
                <a:solidFill>
                  <a:srgbClr val="253122"/>
                </a:solidFill>
                <a:latin typeface="Calibri" pitchFamily="34" charset="0"/>
                <a:ea typeface="Calibri" pitchFamily="34" charset="-122"/>
                <a:cs typeface="Calibri" pitchFamily="34" charset="-120"/>
              </a:rPr>
              <a:t>public food supply chain – procurement, storage and distribution of foodgrains</a:t>
            </a:r>
            <a:endParaRPr lang="en-US" sz="1700" dirty="0"/>
          </a:p>
          <a:p>
            <a:pPr marL="203200" indent="-203200">
              <a:spcAft>
                <a:spcPts val="1000"/>
              </a:spcAft>
              <a:buSzPct val="100000"/>
              <a:buChar char="•"/>
            </a:pPr>
            <a:r>
              <a:rPr lang="en-US" sz="1700" b="1" dirty="0">
                <a:solidFill>
                  <a:srgbClr val="004F46"/>
                </a:solidFill>
                <a:latin typeface="Calibri" pitchFamily="34" charset="0"/>
                <a:ea typeface="Calibri" pitchFamily="34" charset="-122"/>
                <a:cs typeface="Calibri" pitchFamily="34" charset="-120"/>
              </a:rPr>
              <a:t>FCI: </a:t>
            </a:r>
            <a:pPr indent="0" marL="0">
              <a:buNone/>
            </a:pPr>
            <a:r>
              <a:rPr lang="en-US" sz="1700" dirty="0">
                <a:solidFill>
                  <a:srgbClr val="253122"/>
                </a:solidFill>
                <a:latin typeface="Calibri" pitchFamily="34" charset="0"/>
                <a:ea typeface="Calibri" pitchFamily="34" charset="-122"/>
                <a:cs typeface="Calibri" pitchFamily="34" charset="-120"/>
              </a:rPr>
              <a:t>set up under the Food Corporations Act, 1964; central agency for India’s food security system</a:t>
            </a:r>
            <a:endParaRPr lang="en-US" sz="1700" dirty="0"/>
          </a:p>
          <a:p>
            <a:pPr marL="203200" indent="-203200">
              <a:spcAft>
                <a:spcPts val="1000"/>
              </a:spcAft>
              <a:buSzPct val="100000"/>
              <a:buChar char="•"/>
            </a:pPr>
            <a:r>
              <a:rPr lang="en-US" sz="1700" b="1" dirty="0">
                <a:solidFill>
                  <a:srgbClr val="004F46"/>
                </a:solidFill>
                <a:latin typeface="Calibri" pitchFamily="34" charset="0"/>
                <a:ea typeface="Calibri" pitchFamily="34" charset="-122"/>
                <a:cs typeface="Calibri" pitchFamily="34" charset="-120"/>
              </a:rPr>
              <a:t>Relevance: </a:t>
            </a:r>
            <a:pPr indent="0" marL="0">
              <a:buNone/>
            </a:pPr>
            <a:r>
              <a:rPr lang="en-US" sz="1700" dirty="0">
                <a:solidFill>
                  <a:srgbClr val="253122"/>
                </a:solidFill>
                <a:latin typeface="Calibri" pitchFamily="34" charset="0"/>
                <a:ea typeface="Calibri" pitchFamily="34" charset="-122"/>
                <a:cs typeface="Calibri" pitchFamily="34" charset="-120"/>
              </a:rPr>
              <a:t>NFSA 2013 entitles up to 75% of the rural and 50% of the urban population to subsidised grain</a:t>
            </a:r>
            <a:endParaRPr lang="en-US" sz="1700" dirty="0"/>
          </a:p>
          <a:p>
            <a:pPr marL="203200" indent="-203200">
              <a:spcAft>
                <a:spcPts val="1000"/>
              </a:spcAft>
              <a:buSzPct val="100000"/>
              <a:buChar char="•"/>
            </a:pPr>
            <a:r>
              <a:rPr lang="en-US" sz="1700" b="1" dirty="0">
                <a:solidFill>
                  <a:srgbClr val="004F46"/>
                </a:solidFill>
                <a:latin typeface="Calibri" pitchFamily="34" charset="0"/>
                <a:ea typeface="Calibri" pitchFamily="34" charset="-122"/>
                <a:cs typeface="Calibri" pitchFamily="34" charset="-120"/>
              </a:rPr>
              <a:t>Gujarat: </a:t>
            </a:r>
            <a:pPr indent="0" marL="0">
              <a:buNone/>
            </a:pPr>
            <a:r>
              <a:rPr lang="en-US" sz="1700" dirty="0">
                <a:solidFill>
                  <a:srgbClr val="253122"/>
                </a:solidFill>
                <a:latin typeface="Calibri" pitchFamily="34" charset="0"/>
                <a:ea typeface="Calibri" pitchFamily="34" charset="-122"/>
                <a:cs typeface="Calibri" pitchFamily="34" charset="-120"/>
              </a:rPr>
              <a:t>FCI does not procure in Gujarat; its Gujarat Region stores and distributes central pool stock</a:t>
            </a:r>
            <a:endParaRPr lang="en-US" sz="1700" dirty="0"/>
          </a:p>
          <a:p>
            <a:pPr marL="203200" indent="-203200">
              <a:spcAft>
                <a:spcPts val="1000"/>
              </a:spcAft>
              <a:buSzPct val="100000"/>
              <a:buChar char="•"/>
            </a:pPr>
            <a:r>
              <a:rPr lang="en-US" sz="1700" b="1" dirty="0">
                <a:solidFill>
                  <a:srgbClr val="004F46"/>
                </a:solidFill>
                <a:latin typeface="Calibri" pitchFamily="34" charset="0"/>
                <a:ea typeface="Calibri" pitchFamily="34" charset="-122"/>
                <a:cs typeface="Calibri" pitchFamily="34" charset="-120"/>
              </a:rPr>
              <a:t>Current challenges: </a:t>
            </a:r>
            <a:pPr indent="0" marL="0">
              <a:buNone/>
            </a:pPr>
            <a:r>
              <a:rPr lang="en-US" sz="1700" dirty="0">
                <a:solidFill>
                  <a:srgbClr val="253122"/>
                </a:solidFill>
                <a:latin typeface="Calibri" pitchFamily="34" charset="0"/>
                <a:ea typeface="Calibri" pitchFamily="34" charset="-122"/>
                <a:cs typeface="Calibri" pitchFamily="34" charset="-120"/>
              </a:rPr>
              <a:t>rising storage cost, dependence on hired godowns, subsidy funding gap, rising demurrage</a:t>
            </a:r>
            <a:endParaRPr lang="en-US" sz="1700" dirty="0"/>
          </a:p>
        </p:txBody>
      </p:sp>
      <p:sp>
        <p:nvSpPr>
          <p:cNvPr id="7" name="!!card1"/>
          <p:cNvSpPr/>
          <p:nvPr/>
        </p:nvSpPr>
        <p:spPr>
          <a:xfrm>
            <a:off x="7589520" y="1325880"/>
            <a:ext cx="4050792" cy="1371600"/>
          </a:xfrm>
          <a:prstGeom prst="roundRect">
            <a:avLst>
              <a:gd name="adj" fmla="val 5333"/>
            </a:avLst>
          </a:prstGeom>
          <a:solidFill>
            <a:srgbClr val="FEEDD5"/>
          </a:solidFill>
          <a:ln w="12700">
            <a:solidFill>
              <a:srgbClr val="FEEDD5"/>
            </a:solidFill>
            <a:prstDash val="solid"/>
          </a:ln>
        </p:spPr>
      </p:sp>
      <p:sp>
        <p:nvSpPr>
          <p:cNvPr id="8" name="Text 5"/>
          <p:cNvSpPr txBox="1"/>
          <p:nvPr/>
        </p:nvSpPr>
        <p:spPr>
          <a:xfrm>
            <a:off x="7818120" y="1463040"/>
            <a:ext cx="3657600" cy="685800"/>
          </a:xfrm>
          <a:prstGeom prst="rect">
            <a:avLst/>
          </a:prstGeom>
          <a:noFill/>
          <a:ln/>
        </p:spPr>
        <p:txBody>
          <a:bodyPr wrap="square" lIns="0" tIns="0" rIns="0" bIns="0" rtlCol="0" anchor="t"/>
          <a:lstStyle/>
          <a:p>
            <a:pPr indent="0" marL="0">
              <a:buNone/>
            </a:pPr>
            <a:r>
              <a:rPr lang="en-US" sz="3200" b="1" dirty="0">
                <a:solidFill>
                  <a:srgbClr val="004F46"/>
                </a:solidFill>
                <a:latin typeface="Cambria" pitchFamily="34" charset="0"/>
                <a:ea typeface="Cambria" pitchFamily="34" charset="-122"/>
                <a:cs typeface="Cambria" pitchFamily="34" charset="-120"/>
              </a:rPr>
              <a:t>45.87</a:t>
            </a:r>
            <a:endParaRPr lang="en-US" sz="3200" dirty="0"/>
          </a:p>
        </p:txBody>
      </p:sp>
      <p:sp>
        <p:nvSpPr>
          <p:cNvPr id="9" name="Text 6"/>
          <p:cNvSpPr txBox="1"/>
          <p:nvPr/>
        </p:nvSpPr>
        <p:spPr>
          <a:xfrm>
            <a:off x="7818120" y="2167128"/>
            <a:ext cx="3657600" cy="411480"/>
          </a:xfrm>
          <a:prstGeom prst="rect">
            <a:avLst/>
          </a:prstGeom>
          <a:noFill/>
          <a:ln/>
        </p:spPr>
        <p:txBody>
          <a:bodyPr wrap="square" lIns="0" tIns="0" rIns="0" bIns="0" rtlCol="0" anchor="t"/>
          <a:lstStyle/>
          <a:p>
            <a:pPr indent="0" marL="0">
              <a:buNone/>
            </a:pPr>
            <a:r>
              <a:rPr lang="en-US" sz="1300" dirty="0">
                <a:solidFill>
                  <a:srgbClr val="635A3A"/>
                </a:solidFill>
                <a:latin typeface="Calibri" pitchFamily="34" charset="0"/>
                <a:ea typeface="Calibri" pitchFamily="34" charset="-122"/>
                <a:cs typeface="Calibri" pitchFamily="34" charset="-120"/>
              </a:rPr>
              <a:t>million tonnes storage capacity (2024-25)</a:t>
            </a:r>
            <a:endParaRPr lang="en-US" sz="1300" dirty="0"/>
          </a:p>
        </p:txBody>
      </p:sp>
      <p:sp>
        <p:nvSpPr>
          <p:cNvPr id="10" name="!!card2"/>
          <p:cNvSpPr/>
          <p:nvPr/>
        </p:nvSpPr>
        <p:spPr>
          <a:xfrm>
            <a:off x="7589520" y="2926080"/>
            <a:ext cx="4050792" cy="1371600"/>
          </a:xfrm>
          <a:prstGeom prst="roundRect">
            <a:avLst>
              <a:gd name="adj" fmla="val 5333"/>
            </a:avLst>
          </a:prstGeom>
          <a:solidFill>
            <a:srgbClr val="F3E9C5"/>
          </a:solidFill>
          <a:ln w="12700">
            <a:solidFill>
              <a:srgbClr val="F3E9C5"/>
            </a:solidFill>
            <a:prstDash val="solid"/>
          </a:ln>
        </p:spPr>
      </p:sp>
      <p:sp>
        <p:nvSpPr>
          <p:cNvPr id="11" name="Text 8"/>
          <p:cNvSpPr txBox="1"/>
          <p:nvPr/>
        </p:nvSpPr>
        <p:spPr>
          <a:xfrm>
            <a:off x="7818120" y="3063240"/>
            <a:ext cx="3657600" cy="685800"/>
          </a:xfrm>
          <a:prstGeom prst="rect">
            <a:avLst/>
          </a:prstGeom>
          <a:noFill/>
          <a:ln/>
        </p:spPr>
        <p:txBody>
          <a:bodyPr wrap="square" lIns="0" tIns="0" rIns="0" bIns="0" rtlCol="0" anchor="t"/>
          <a:lstStyle/>
          <a:p>
            <a:pPr indent="0" marL="0">
              <a:buNone/>
            </a:pPr>
            <a:r>
              <a:rPr lang="en-US" sz="3200" b="1" dirty="0">
                <a:solidFill>
                  <a:srgbClr val="437742"/>
                </a:solidFill>
                <a:latin typeface="Cambria" pitchFamily="34" charset="0"/>
                <a:ea typeface="Cambria" pitchFamily="34" charset="-122"/>
                <a:cs typeface="Cambria" pitchFamily="34" charset="-120"/>
              </a:rPr>
              <a:t>₹1.47 lakh cr</a:t>
            </a:r>
            <a:endParaRPr lang="en-US" sz="3200" dirty="0"/>
          </a:p>
        </p:txBody>
      </p:sp>
      <p:sp>
        <p:nvSpPr>
          <p:cNvPr id="12" name="Text 9"/>
          <p:cNvSpPr txBox="1"/>
          <p:nvPr/>
        </p:nvSpPr>
        <p:spPr>
          <a:xfrm>
            <a:off x="7818120" y="3767328"/>
            <a:ext cx="3657600" cy="411480"/>
          </a:xfrm>
          <a:prstGeom prst="rect">
            <a:avLst/>
          </a:prstGeom>
          <a:noFill/>
          <a:ln/>
        </p:spPr>
        <p:txBody>
          <a:bodyPr wrap="square" lIns="0" tIns="0" rIns="0" bIns="0" rtlCol="0" anchor="t"/>
          <a:lstStyle/>
          <a:p>
            <a:pPr indent="0" marL="0">
              <a:buNone/>
            </a:pPr>
            <a:r>
              <a:rPr lang="en-US" sz="1300" dirty="0">
                <a:solidFill>
                  <a:srgbClr val="635A3A"/>
                </a:solidFill>
                <a:latin typeface="Calibri" pitchFamily="34" charset="0"/>
                <a:ea typeface="Calibri" pitchFamily="34" charset="-122"/>
                <a:cs typeface="Calibri" pitchFamily="34" charset="-120"/>
              </a:rPr>
              <a:t>food subsidy required (2024-25)</a:t>
            </a:r>
            <a:endParaRPr lang="en-US" sz="1300" dirty="0"/>
          </a:p>
        </p:txBody>
      </p:sp>
      <p:sp>
        <p:nvSpPr>
          <p:cNvPr id="13" name="!!card3"/>
          <p:cNvSpPr/>
          <p:nvPr/>
        </p:nvSpPr>
        <p:spPr>
          <a:xfrm>
            <a:off x="7589520" y="4526280"/>
            <a:ext cx="4050792" cy="1371600"/>
          </a:xfrm>
          <a:prstGeom prst="roundRect">
            <a:avLst>
              <a:gd name="adj" fmla="val 5333"/>
            </a:avLst>
          </a:prstGeom>
          <a:solidFill>
            <a:srgbClr val="FEEDD5"/>
          </a:solidFill>
          <a:ln w="12700">
            <a:solidFill>
              <a:srgbClr val="FEEDD5"/>
            </a:solidFill>
            <a:prstDash val="solid"/>
          </a:ln>
        </p:spPr>
      </p:sp>
      <p:sp>
        <p:nvSpPr>
          <p:cNvPr id="14" name="Text 11"/>
          <p:cNvSpPr txBox="1"/>
          <p:nvPr/>
        </p:nvSpPr>
        <p:spPr>
          <a:xfrm>
            <a:off x="7818120" y="4663440"/>
            <a:ext cx="3657600" cy="685800"/>
          </a:xfrm>
          <a:prstGeom prst="rect">
            <a:avLst/>
          </a:prstGeom>
          <a:noFill/>
          <a:ln/>
        </p:spPr>
        <p:txBody>
          <a:bodyPr wrap="square" lIns="0" tIns="0" rIns="0" bIns="0" rtlCol="0" anchor="t"/>
          <a:lstStyle/>
          <a:p>
            <a:pPr indent="0" marL="0">
              <a:buNone/>
            </a:pPr>
            <a:r>
              <a:rPr lang="en-US" sz="3200" b="1" dirty="0">
                <a:solidFill>
                  <a:srgbClr val="986F2D"/>
                </a:solidFill>
                <a:latin typeface="Cambria" pitchFamily="34" charset="0"/>
                <a:ea typeface="Cambria" pitchFamily="34" charset="-122"/>
                <a:cs typeface="Cambria" pitchFamily="34" charset="-120"/>
              </a:rPr>
              <a:t>455 LMT</a:t>
            </a:r>
            <a:endParaRPr lang="en-US" sz="3200" dirty="0"/>
          </a:p>
        </p:txBody>
      </p:sp>
      <p:sp>
        <p:nvSpPr>
          <p:cNvPr id="15" name="Text 12"/>
          <p:cNvSpPr txBox="1"/>
          <p:nvPr/>
        </p:nvSpPr>
        <p:spPr>
          <a:xfrm>
            <a:off x="7818120" y="5367528"/>
            <a:ext cx="3657600" cy="411480"/>
          </a:xfrm>
          <a:prstGeom prst="rect">
            <a:avLst/>
          </a:prstGeom>
          <a:noFill/>
          <a:ln/>
        </p:spPr>
        <p:txBody>
          <a:bodyPr wrap="square" lIns="0" tIns="0" rIns="0" bIns="0" rtlCol="0" anchor="t"/>
          <a:lstStyle/>
          <a:p>
            <a:pPr indent="0" marL="0">
              <a:buNone/>
            </a:pPr>
            <a:r>
              <a:rPr lang="en-US" sz="1300" dirty="0">
                <a:solidFill>
                  <a:srgbClr val="635A3A"/>
                </a:solidFill>
                <a:latin typeface="Calibri" pitchFamily="34" charset="0"/>
                <a:ea typeface="Calibri" pitchFamily="34" charset="-122"/>
                <a:cs typeface="Calibri" pitchFamily="34" charset="-120"/>
              </a:rPr>
              <a:t>total foodgrain sales (2024-25)</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5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halo"/>
          <p:cNvSpPr/>
          <p:nvPr/>
        </p:nvSpPr>
        <p:spPr>
          <a:xfrm>
            <a:off x="9509760" y="4480560"/>
            <a:ext cx="4206240" cy="4206240"/>
          </a:xfrm>
          <a:prstGeom prst="ellipse">
            <a:avLst/>
          </a:prstGeom>
          <a:solidFill>
            <a:srgbClr val="D6B43E">
              <a:alpha val="20000"/>
            </a:srgbClr>
          </a:solidFill>
          <a:ln w="12700">
            <a:solidFill>
              <a:srgbClr val="D6B43E">
                <a:alpha val="0"/>
              </a:srgbClr>
            </a:solidFill>
            <a:prstDash val="solid"/>
          </a:ln>
        </p:spPr>
      </p:sp>
      <p:sp>
        <p:nvSpPr>
          <p:cNvPr id="3"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Literature Review</a:t>
            </a:r>
            <a:endParaRPr lang="en-US" sz="3200" dirty="0"/>
          </a:p>
        </p:txBody>
      </p:sp>
      <p:sp>
        <p:nvSpPr>
          <p:cNvPr id="4" name="!!orb"/>
          <p:cNvSpPr/>
          <p:nvPr/>
        </p:nvSpPr>
        <p:spPr>
          <a:xfrm>
            <a:off x="10957255" y="347472"/>
            <a:ext cx="685800" cy="685800"/>
          </a:xfrm>
          <a:prstGeom prst="ellipse">
            <a:avLst/>
          </a:prstGeom>
          <a:solidFill>
            <a:srgbClr val="004F46"/>
          </a:solidFill>
          <a:ln w="12700">
            <a:solidFill>
              <a:srgbClr val="004F46"/>
            </a:solidFill>
            <a:prstDash val="solid"/>
          </a:ln>
        </p:spPr>
      </p:sp>
      <p:pic>
        <p:nvPicPr>
          <p:cNvPr id="5" name="!!orbicon" descr="preencoded.png">    </p:cNvPr>
          <p:cNvPicPr>
            <a:picLocks noChangeAspect="1"/>
          </p:cNvPicPr>
          <p:nvPr/>
        </p:nvPicPr>
        <p:blipFill>
          <a:blip r:embed="rId1"/>
          <a:stretch>
            <a:fillRect/>
          </a:stretch>
        </p:blipFill>
        <p:spPr>
          <a:xfrm>
            <a:off x="11130991" y="521208"/>
            <a:ext cx="338328" cy="338328"/>
          </a:xfrm>
          <a:prstGeom prst="rect">
            <a:avLst/>
          </a:prstGeom>
        </p:spPr>
      </p:pic>
      <p:graphicFrame>
        <p:nvGraphicFramePr>
          <p:cNvPr id="4" name="Literature comparison 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377440"/>
                <a:gridCol w="2103120"/>
                <a:gridCol w="3749040"/>
                <a:gridCol w="2864815"/>
              </a:tblGrid>
              <a:tr h="566928">
                <a:tc>
                  <a:txBody>
                    <a:bodyPr/>
                    <a:lstStyle/>
                    <a:p>
                      <a:pPr indent="0" marL="0">
                        <a:buNone/>
                      </a:pPr>
                      <a:r>
                        <a:rPr lang="en-US" sz="1300" b="1" dirty="0">
                          <a:solidFill>
                            <a:srgbClr val="FFFFFF"/>
                          </a:solidFill>
                        </a:rPr>
                        <a:t>Author / Year</a:t>
                      </a:r>
                      <a:endParaRPr lang="en-US" sz="1300" dirty="0"/>
                    </a:p>
                  </a:txBody>
                  <a:tcPr marL="73152" marR="73152" marT="54864" marB="54864" anchor="ctr">
                    <a:lnL w="6350" cap="flat" cmpd="sng" algn="ctr">
                      <a:solidFill>
                        <a:srgbClr val="E6D9B8"/>
                      </a:solidFill>
                      <a:prstDash val="solid"/>
                      <a:round/>
                      <a:headEnd type="none" w="med" len="med"/>
                      <a:tailEnd type="none" w="med" len="med"/>
                    </a:lnL>
                    <a:lnR w="6350" cap="flat" cmpd="sng" algn="ctr">
                      <a:solidFill>
                        <a:srgbClr val="E6D9B8"/>
                      </a:solidFill>
                      <a:prstDash val="solid"/>
                      <a:round/>
                      <a:headEnd type="none" w="med" len="med"/>
                      <a:tailEnd type="none" w="med" len="med"/>
                    </a:lnR>
                    <a:lnT w="6350" cap="flat" cmpd="sng" algn="ctr">
                      <a:solidFill>
                        <a:srgbClr val="E6D9B8"/>
                      </a:solidFill>
                      <a:prstDash val="solid"/>
                      <a:round/>
                      <a:headEnd type="none" w="med" len="med"/>
                      <a:tailEnd type="none" w="med" len="med"/>
                    </a:lnT>
                    <a:lnB w="6350" cap="flat" cmpd="sng" algn="ctr">
                      <a:solidFill>
                        <a:srgbClr val="E6D9B8"/>
                      </a:solidFill>
                      <a:prstDash val="solid"/>
                      <a:round/>
                      <a:headEnd type="none" w="med" len="med"/>
                      <a:tailEnd type="none" w="med" len="med"/>
                    </a:lnB>
                    <a:solidFill>
                      <a:srgbClr val="004F46"/>
                    </a:solidFill>
                  </a:tcPr>
                </a:tc>
                <a:tc>
                  <a:txBody>
                    <a:bodyPr/>
                    <a:lstStyle/>
                    <a:p>
                      <a:pPr indent="0" marL="0">
                        <a:buNone/>
                      </a:pPr>
                      <a:r>
                        <a:rPr lang="en-US" sz="1300" b="1" dirty="0">
                          <a:solidFill>
                            <a:srgbClr val="FFFFFF"/>
                          </a:solidFill>
                        </a:rPr>
                        <a:t>Method</a:t>
                      </a:r>
                      <a:endParaRPr lang="en-US" sz="1300" dirty="0"/>
                    </a:p>
                  </a:txBody>
                  <a:tcPr marL="73152" marR="73152" marT="54864" marB="54864" anchor="ctr">
                    <a:lnL w="6350" cap="flat" cmpd="sng" algn="ctr">
                      <a:solidFill>
                        <a:srgbClr val="E6D9B8"/>
                      </a:solidFill>
                      <a:prstDash val="solid"/>
                      <a:round/>
                      <a:headEnd type="none" w="med" len="med"/>
                      <a:tailEnd type="none" w="med" len="med"/>
                    </a:lnL>
                    <a:lnR w="6350" cap="flat" cmpd="sng" algn="ctr">
                      <a:solidFill>
                        <a:srgbClr val="E6D9B8"/>
                      </a:solidFill>
                      <a:prstDash val="solid"/>
                      <a:round/>
                      <a:headEnd type="none" w="med" len="med"/>
                      <a:tailEnd type="none" w="med" len="med"/>
                    </a:lnR>
                    <a:lnT w="6350" cap="flat" cmpd="sng" algn="ctr">
                      <a:solidFill>
                        <a:srgbClr val="E6D9B8"/>
                      </a:solidFill>
                      <a:prstDash val="solid"/>
                      <a:round/>
                      <a:headEnd type="none" w="med" len="med"/>
                      <a:tailEnd type="none" w="med" len="med"/>
                    </a:lnT>
                    <a:lnB w="6350" cap="flat" cmpd="sng" algn="ctr">
                      <a:solidFill>
                        <a:srgbClr val="E6D9B8"/>
                      </a:solidFill>
                      <a:prstDash val="solid"/>
                      <a:round/>
                      <a:headEnd type="none" w="med" len="med"/>
                      <a:tailEnd type="none" w="med" len="med"/>
                    </a:lnB>
                    <a:solidFill>
                      <a:srgbClr val="004F46"/>
                    </a:solidFill>
                  </a:tcPr>
                </a:tc>
                <a:tc>
                  <a:txBody>
                    <a:bodyPr/>
                    <a:lstStyle/>
                    <a:p>
                      <a:pPr indent="0" marL="0">
                        <a:buNone/>
                      </a:pPr>
                      <a:r>
                        <a:rPr lang="en-US" sz="1300" b="1" dirty="0">
                          <a:solidFill>
                            <a:srgbClr val="FFFFFF"/>
                          </a:solidFill>
                        </a:rPr>
                        <a:t>Key finding</a:t>
                      </a:r>
                      <a:endParaRPr lang="en-US" sz="1300" dirty="0"/>
                    </a:p>
                  </a:txBody>
                  <a:tcPr marL="73152" marR="73152" marT="54864" marB="54864" anchor="ctr">
                    <a:lnL w="6350" cap="flat" cmpd="sng" algn="ctr">
                      <a:solidFill>
                        <a:srgbClr val="E6D9B8"/>
                      </a:solidFill>
                      <a:prstDash val="solid"/>
                      <a:round/>
                      <a:headEnd type="none" w="med" len="med"/>
                      <a:tailEnd type="none" w="med" len="med"/>
                    </a:lnL>
                    <a:lnR w="6350" cap="flat" cmpd="sng" algn="ctr">
                      <a:solidFill>
                        <a:srgbClr val="E6D9B8"/>
                      </a:solidFill>
                      <a:prstDash val="solid"/>
                      <a:round/>
                      <a:headEnd type="none" w="med" len="med"/>
                      <a:tailEnd type="none" w="med" len="med"/>
                    </a:lnR>
                    <a:lnT w="6350" cap="flat" cmpd="sng" algn="ctr">
                      <a:solidFill>
                        <a:srgbClr val="E6D9B8"/>
                      </a:solidFill>
                      <a:prstDash val="solid"/>
                      <a:round/>
                      <a:headEnd type="none" w="med" len="med"/>
                      <a:tailEnd type="none" w="med" len="med"/>
                    </a:lnT>
                    <a:lnB w="6350" cap="flat" cmpd="sng" algn="ctr">
                      <a:solidFill>
                        <a:srgbClr val="E6D9B8"/>
                      </a:solidFill>
                      <a:prstDash val="solid"/>
                      <a:round/>
                      <a:headEnd type="none" w="med" len="med"/>
                      <a:tailEnd type="none" w="med" len="med"/>
                    </a:lnB>
                    <a:solidFill>
                      <a:srgbClr val="004F46"/>
                    </a:solidFill>
                  </a:tcPr>
                </a:tc>
                <a:tc>
                  <a:txBody>
                    <a:bodyPr/>
                    <a:lstStyle/>
                    <a:p>
                      <a:pPr indent="0" marL="0">
                        <a:buNone/>
                      </a:pPr>
                      <a:r>
                        <a:rPr lang="en-US" sz="1300" b="1" dirty="0">
                          <a:solidFill>
                            <a:srgbClr val="FFFFFF"/>
                          </a:solidFill>
                        </a:rPr>
                        <a:t>Limitation / gap</a:t>
                      </a:r>
                      <a:endParaRPr lang="en-US" sz="1300" dirty="0"/>
                    </a:p>
                  </a:txBody>
                  <a:tcPr marL="73152" marR="73152" marT="54864" marB="54864" anchor="ctr">
                    <a:lnL w="6350" cap="flat" cmpd="sng" algn="ctr">
                      <a:solidFill>
                        <a:srgbClr val="E6D9B8"/>
                      </a:solidFill>
                      <a:prstDash val="solid"/>
                      <a:round/>
                      <a:headEnd type="none" w="med" len="med"/>
                      <a:tailEnd type="none" w="med" len="med"/>
                    </a:lnL>
                    <a:lnR w="6350" cap="flat" cmpd="sng" algn="ctr">
                      <a:solidFill>
                        <a:srgbClr val="E6D9B8"/>
                      </a:solidFill>
                      <a:prstDash val="solid"/>
                      <a:round/>
                      <a:headEnd type="none" w="med" len="med"/>
                      <a:tailEnd type="none" w="med" len="med"/>
                    </a:lnR>
                    <a:lnT w="6350" cap="flat" cmpd="sng" algn="ctr">
                      <a:solidFill>
                        <a:srgbClr val="E6D9B8"/>
                      </a:solidFill>
                      <a:prstDash val="solid"/>
                      <a:round/>
                      <a:headEnd type="none" w="med" len="med"/>
                      <a:tailEnd type="none" w="med" len="med"/>
                    </a:lnT>
                    <a:lnB w="6350" cap="flat" cmpd="sng" algn="ctr">
                      <a:solidFill>
                        <a:srgbClr val="E6D9B8"/>
                      </a:solidFill>
                      <a:prstDash val="solid"/>
                      <a:round/>
                      <a:headEnd type="none" w="med" len="med"/>
                      <a:tailEnd type="none" w="med" len="med"/>
                    </a:lnB>
                    <a:solidFill>
                      <a:srgbClr val="437742"/>
                    </a:solidFill>
                  </a:tcPr>
                </a:tc>
              </a:tr>
              <a:tr h="566928">
                <a:tc>
                  <a:txBody>
                    <a:bodyPr/>
                    <a:lstStyle/>
                    <a:p>
                      <a:pPr indent="0" marL="0">
                        <a:buNone/>
                      </a:pPr>
                      <a:r>
                        <a:rPr lang="en-US" sz="1200" b="1" dirty="0">
                          <a:solidFill>
                            <a:srgbClr val="253122"/>
                          </a:solidFill>
                        </a:rPr>
                        <a:t>High Level Committee (Shanta Kumar), 2015</a:t>
                      </a:r>
                      <a:endParaRPr lang="en-US" sz="1200" dirty="0"/>
                    </a:p>
                  </a:txBody>
                  <a:tcPr marL="73152" marR="73152" marT="54864" marB="54864" anchor="ctr">
                    <a:lnL w="6350" cap="flat" cmpd="sng" algn="ctr">
                      <a:solidFill>
                        <a:srgbClr val="E6D9B8"/>
                      </a:solidFill>
                      <a:prstDash val="solid"/>
                      <a:round/>
                      <a:headEnd type="none" w="med" len="med"/>
                      <a:tailEnd type="none" w="med" len="med"/>
                    </a:lnL>
                    <a:lnR w="6350" cap="flat" cmpd="sng" algn="ctr">
                      <a:solidFill>
                        <a:srgbClr val="E6D9B8"/>
                      </a:solidFill>
                      <a:prstDash val="solid"/>
                      <a:round/>
                      <a:headEnd type="none" w="med" len="med"/>
                      <a:tailEnd type="none" w="med" len="med"/>
                    </a:lnR>
                    <a:lnT w="6350" cap="flat" cmpd="sng" algn="ctr">
                      <a:solidFill>
                        <a:srgbClr val="E6D9B8"/>
                      </a:solidFill>
                      <a:prstDash val="solid"/>
                      <a:round/>
                      <a:headEnd type="none" w="med" len="med"/>
                      <a:tailEnd type="none" w="med" len="med"/>
                    </a:lnT>
                    <a:lnB w="6350" cap="flat" cmpd="sng" algn="ctr">
                      <a:solidFill>
                        <a:srgbClr val="E6D9B8"/>
                      </a:solidFill>
                      <a:prstDash val="solid"/>
                      <a:round/>
                      <a:headEnd type="none" w="med" len="med"/>
                      <a:tailEnd type="none" w="med" len="med"/>
                    </a:lnB>
                    <a:solidFill>
                      <a:srgbClr val="FFFFFF"/>
                    </a:solidFill>
                  </a:tcPr>
                </a:tc>
                <a:tc>
                  <a:txBody>
                    <a:bodyPr/>
                    <a:lstStyle/>
                    <a:p>
                      <a:pPr indent="0" marL="0">
                        <a:buNone/>
                      </a:pPr>
                      <a:r>
                        <a:rPr lang="en-US" sz="1200" dirty="0">
                          <a:solidFill>
                            <a:srgbClr val="253122"/>
                          </a:solidFill>
                        </a:rPr>
                        <a:t>Committee policy review</a:t>
                      </a:r>
                      <a:endParaRPr lang="en-US" sz="1200" dirty="0"/>
                    </a:p>
                  </a:txBody>
                  <a:tcPr marL="73152" marR="73152" marT="54864" marB="54864" anchor="ctr">
                    <a:lnL w="6350" cap="flat" cmpd="sng" algn="ctr">
                      <a:solidFill>
                        <a:srgbClr val="E6D9B8"/>
                      </a:solidFill>
                      <a:prstDash val="solid"/>
                      <a:round/>
                      <a:headEnd type="none" w="med" len="med"/>
                      <a:tailEnd type="none" w="med" len="med"/>
                    </a:lnL>
                    <a:lnR w="6350" cap="flat" cmpd="sng" algn="ctr">
                      <a:solidFill>
                        <a:srgbClr val="E6D9B8"/>
                      </a:solidFill>
                      <a:prstDash val="solid"/>
                      <a:round/>
                      <a:headEnd type="none" w="med" len="med"/>
                      <a:tailEnd type="none" w="med" len="med"/>
                    </a:lnR>
                    <a:lnT w="6350" cap="flat" cmpd="sng" algn="ctr">
                      <a:solidFill>
                        <a:srgbClr val="E6D9B8"/>
                      </a:solidFill>
                      <a:prstDash val="solid"/>
                      <a:round/>
                      <a:headEnd type="none" w="med" len="med"/>
                      <a:tailEnd type="none" w="med" len="med"/>
                    </a:lnT>
                    <a:lnB w="6350" cap="flat" cmpd="sng" algn="ctr">
                      <a:solidFill>
                        <a:srgbClr val="E6D9B8"/>
                      </a:solidFill>
                      <a:prstDash val="solid"/>
                      <a:round/>
                      <a:headEnd type="none" w="med" len="med"/>
                      <a:tailEnd type="none" w="med" len="med"/>
                    </a:lnB>
                    <a:solidFill>
                      <a:srgbClr val="FFFFFF"/>
                    </a:solidFill>
                  </a:tcPr>
                </a:tc>
                <a:tc>
                  <a:txBody>
                    <a:bodyPr/>
                    <a:lstStyle/>
                    <a:p>
                      <a:pPr indent="0" marL="0">
                        <a:buNone/>
                      </a:pPr>
                      <a:r>
                        <a:rPr lang="en-US" sz="1200" dirty="0">
                          <a:solidFill>
                            <a:srgbClr val="253122"/>
                          </a:solidFill>
                        </a:rPr>
                        <a:t>Recommended reorienting FCI: review procurement policy, outsource storage, warehouse receipts</a:t>
                      </a:r>
                      <a:endParaRPr lang="en-US" sz="1200" dirty="0"/>
                    </a:p>
                  </a:txBody>
                  <a:tcPr marL="73152" marR="73152" marT="54864" marB="54864" anchor="ctr">
                    <a:lnL w="6350" cap="flat" cmpd="sng" algn="ctr">
                      <a:solidFill>
                        <a:srgbClr val="E6D9B8"/>
                      </a:solidFill>
                      <a:prstDash val="solid"/>
                      <a:round/>
                      <a:headEnd type="none" w="med" len="med"/>
                      <a:tailEnd type="none" w="med" len="med"/>
                    </a:lnL>
                    <a:lnR w="6350" cap="flat" cmpd="sng" algn="ctr">
                      <a:solidFill>
                        <a:srgbClr val="E6D9B8"/>
                      </a:solidFill>
                      <a:prstDash val="solid"/>
                      <a:round/>
                      <a:headEnd type="none" w="med" len="med"/>
                      <a:tailEnd type="none" w="med" len="med"/>
                    </a:lnR>
                    <a:lnT w="6350" cap="flat" cmpd="sng" algn="ctr">
                      <a:solidFill>
                        <a:srgbClr val="E6D9B8"/>
                      </a:solidFill>
                      <a:prstDash val="solid"/>
                      <a:round/>
                      <a:headEnd type="none" w="med" len="med"/>
                      <a:tailEnd type="none" w="med" len="med"/>
                    </a:lnT>
                    <a:lnB w="6350" cap="flat" cmpd="sng" algn="ctr">
                      <a:solidFill>
                        <a:srgbClr val="E6D9B8"/>
                      </a:solidFill>
                      <a:prstDash val="solid"/>
                      <a:round/>
                      <a:headEnd type="none" w="med" len="med"/>
                      <a:tailEnd type="none" w="med" len="med"/>
                    </a:lnB>
                    <a:solidFill>
                      <a:srgbClr val="FFFFFF"/>
                    </a:solidFill>
                  </a:tcPr>
                </a:tc>
                <a:tc>
                  <a:txBody>
                    <a:bodyPr/>
                    <a:lstStyle/>
                    <a:p>
                      <a:pPr indent="0" marL="0">
                        <a:buNone/>
                      </a:pPr>
                      <a:r>
                        <a:rPr lang="en-US" sz="1200" dirty="0">
                          <a:solidFill>
                            <a:srgbClr val="A62C37"/>
                          </a:solidFill>
                        </a:rPr>
                        <a:t>Policy advice; no year-by-year performance tracking</a:t>
                      </a:r>
                      <a:endParaRPr lang="en-US" sz="1200" dirty="0"/>
                    </a:p>
                  </a:txBody>
                  <a:tcPr marL="73152" marR="73152" marT="54864" marB="54864" anchor="ctr">
                    <a:lnL w="6350" cap="flat" cmpd="sng" algn="ctr">
                      <a:solidFill>
                        <a:srgbClr val="E6D9B8"/>
                      </a:solidFill>
                      <a:prstDash val="solid"/>
                      <a:round/>
                      <a:headEnd type="none" w="med" len="med"/>
                      <a:tailEnd type="none" w="med" len="med"/>
                    </a:lnL>
                    <a:lnR w="6350" cap="flat" cmpd="sng" algn="ctr">
                      <a:solidFill>
                        <a:srgbClr val="E6D9B8"/>
                      </a:solidFill>
                      <a:prstDash val="solid"/>
                      <a:round/>
                      <a:headEnd type="none" w="med" len="med"/>
                      <a:tailEnd type="none" w="med" len="med"/>
                    </a:lnR>
                    <a:lnT w="6350" cap="flat" cmpd="sng" algn="ctr">
                      <a:solidFill>
                        <a:srgbClr val="E6D9B8"/>
                      </a:solidFill>
                      <a:prstDash val="solid"/>
                      <a:round/>
                      <a:headEnd type="none" w="med" len="med"/>
                      <a:tailEnd type="none" w="med" len="med"/>
                    </a:lnT>
                    <a:lnB w="6350" cap="flat" cmpd="sng" algn="ctr">
                      <a:solidFill>
                        <a:srgbClr val="E6D9B8"/>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253122"/>
                          </a:solidFill>
                        </a:rPr>
                        <a:t>Srivastav, 2017</a:t>
                      </a:r>
                      <a:endParaRPr lang="en-US" sz="1200" dirty="0"/>
                    </a:p>
                  </a:txBody>
                  <a:tcPr marL="73152" marR="73152" marT="54864" marB="54864" anchor="ctr">
                    <a:lnL w="6350" cap="flat" cmpd="sng" algn="ctr">
                      <a:solidFill>
                        <a:srgbClr val="E6D9B8"/>
                      </a:solidFill>
                      <a:prstDash val="solid"/>
                      <a:round/>
                      <a:headEnd type="none" w="med" len="med"/>
                      <a:tailEnd type="none" w="med" len="med"/>
                    </a:lnL>
                    <a:lnR w="6350" cap="flat" cmpd="sng" algn="ctr">
                      <a:solidFill>
                        <a:srgbClr val="E6D9B8"/>
                      </a:solidFill>
                      <a:prstDash val="solid"/>
                      <a:round/>
                      <a:headEnd type="none" w="med" len="med"/>
                      <a:tailEnd type="none" w="med" len="med"/>
                    </a:lnR>
                    <a:lnT w="6350" cap="flat" cmpd="sng" algn="ctr">
                      <a:solidFill>
                        <a:srgbClr val="E6D9B8"/>
                      </a:solidFill>
                      <a:prstDash val="solid"/>
                      <a:round/>
                      <a:headEnd type="none" w="med" len="med"/>
                      <a:tailEnd type="none" w="med" len="med"/>
                    </a:lnT>
                    <a:lnB w="6350" cap="flat" cmpd="sng" algn="ctr">
                      <a:solidFill>
                        <a:srgbClr val="E6D9B8"/>
                      </a:solidFill>
                      <a:prstDash val="solid"/>
                      <a:round/>
                      <a:headEnd type="none" w="med" len="med"/>
                      <a:tailEnd type="none" w="med" len="med"/>
                    </a:lnB>
                    <a:solidFill>
                      <a:srgbClr val="FEF2E1"/>
                    </a:solidFill>
                  </a:tcPr>
                </a:tc>
                <a:tc>
                  <a:txBody>
                    <a:bodyPr/>
                    <a:lstStyle/>
                    <a:p>
                      <a:pPr indent="0" marL="0">
                        <a:buNone/>
                      </a:pPr>
                      <a:r>
                        <a:rPr lang="en-US" sz="1200" dirty="0">
                          <a:solidFill>
                            <a:srgbClr val="253122"/>
                          </a:solidFill>
                        </a:rPr>
                        <a:t>Descriptive appraisal</a:t>
                      </a:r>
                      <a:endParaRPr lang="en-US" sz="1200" dirty="0"/>
                    </a:p>
                  </a:txBody>
                  <a:tcPr marL="73152" marR="73152" marT="54864" marB="54864" anchor="ctr">
                    <a:lnL w="6350" cap="flat" cmpd="sng" algn="ctr">
                      <a:solidFill>
                        <a:srgbClr val="E6D9B8"/>
                      </a:solidFill>
                      <a:prstDash val="solid"/>
                      <a:round/>
                      <a:headEnd type="none" w="med" len="med"/>
                      <a:tailEnd type="none" w="med" len="med"/>
                    </a:lnL>
                    <a:lnR w="6350" cap="flat" cmpd="sng" algn="ctr">
                      <a:solidFill>
                        <a:srgbClr val="E6D9B8"/>
                      </a:solidFill>
                      <a:prstDash val="solid"/>
                      <a:round/>
                      <a:headEnd type="none" w="med" len="med"/>
                      <a:tailEnd type="none" w="med" len="med"/>
                    </a:lnR>
                    <a:lnT w="6350" cap="flat" cmpd="sng" algn="ctr">
                      <a:solidFill>
                        <a:srgbClr val="E6D9B8"/>
                      </a:solidFill>
                      <a:prstDash val="solid"/>
                      <a:round/>
                      <a:headEnd type="none" w="med" len="med"/>
                      <a:tailEnd type="none" w="med" len="med"/>
                    </a:lnT>
                    <a:lnB w="6350" cap="flat" cmpd="sng" algn="ctr">
                      <a:solidFill>
                        <a:srgbClr val="E6D9B8"/>
                      </a:solidFill>
                      <a:prstDash val="solid"/>
                      <a:round/>
                      <a:headEnd type="none" w="med" len="med"/>
                      <a:tailEnd type="none" w="med" len="med"/>
                    </a:lnB>
                    <a:solidFill>
                      <a:srgbClr val="FEF2E1"/>
                    </a:solidFill>
                  </a:tcPr>
                </a:tc>
                <a:tc>
                  <a:txBody>
                    <a:bodyPr/>
                    <a:lstStyle/>
                    <a:p>
                      <a:pPr indent="0" marL="0">
                        <a:buNone/>
                      </a:pPr>
                      <a:r>
                        <a:rPr lang="en-US" sz="1200" dirty="0">
                          <a:solidFill>
                            <a:srgbClr val="253122"/>
                          </a:solidFill>
                        </a:rPr>
                        <a:t>FCI is a key instrument of food policy; built up sizeable buffer stocks</a:t>
                      </a:r>
                      <a:endParaRPr lang="en-US" sz="1200" dirty="0"/>
                    </a:p>
                  </a:txBody>
                  <a:tcPr marL="73152" marR="73152" marT="54864" marB="54864" anchor="ctr">
                    <a:lnL w="6350" cap="flat" cmpd="sng" algn="ctr">
                      <a:solidFill>
                        <a:srgbClr val="E6D9B8"/>
                      </a:solidFill>
                      <a:prstDash val="solid"/>
                      <a:round/>
                      <a:headEnd type="none" w="med" len="med"/>
                      <a:tailEnd type="none" w="med" len="med"/>
                    </a:lnL>
                    <a:lnR w="6350" cap="flat" cmpd="sng" algn="ctr">
                      <a:solidFill>
                        <a:srgbClr val="E6D9B8"/>
                      </a:solidFill>
                      <a:prstDash val="solid"/>
                      <a:round/>
                      <a:headEnd type="none" w="med" len="med"/>
                      <a:tailEnd type="none" w="med" len="med"/>
                    </a:lnR>
                    <a:lnT w="6350" cap="flat" cmpd="sng" algn="ctr">
                      <a:solidFill>
                        <a:srgbClr val="E6D9B8"/>
                      </a:solidFill>
                      <a:prstDash val="solid"/>
                      <a:round/>
                      <a:headEnd type="none" w="med" len="med"/>
                      <a:tailEnd type="none" w="med" len="med"/>
                    </a:lnT>
                    <a:lnB w="6350" cap="flat" cmpd="sng" algn="ctr">
                      <a:solidFill>
                        <a:srgbClr val="E6D9B8"/>
                      </a:solidFill>
                      <a:prstDash val="solid"/>
                      <a:round/>
                      <a:headEnd type="none" w="med" len="med"/>
                      <a:tailEnd type="none" w="med" len="med"/>
                    </a:lnB>
                    <a:solidFill>
                      <a:srgbClr val="FEF2E1"/>
                    </a:solidFill>
                  </a:tcPr>
                </a:tc>
                <a:tc>
                  <a:txBody>
                    <a:bodyPr/>
                    <a:lstStyle/>
                    <a:p>
                      <a:pPr indent="0" marL="0">
                        <a:buNone/>
                      </a:pPr>
                      <a:r>
                        <a:rPr lang="en-US" sz="1200" dirty="0">
                          <a:solidFill>
                            <a:srgbClr val="A62C37"/>
                          </a:solidFill>
                        </a:rPr>
                        <a:t>Pre-2017 data; no KPIs or regional view</a:t>
                      </a:r>
                      <a:endParaRPr lang="en-US" sz="1200" dirty="0"/>
                    </a:p>
                  </a:txBody>
                  <a:tcPr marL="73152" marR="73152" marT="54864" marB="54864" anchor="ctr">
                    <a:lnL w="6350" cap="flat" cmpd="sng" algn="ctr">
                      <a:solidFill>
                        <a:srgbClr val="E6D9B8"/>
                      </a:solidFill>
                      <a:prstDash val="solid"/>
                      <a:round/>
                      <a:headEnd type="none" w="med" len="med"/>
                      <a:tailEnd type="none" w="med" len="med"/>
                    </a:lnL>
                    <a:lnR w="6350" cap="flat" cmpd="sng" algn="ctr">
                      <a:solidFill>
                        <a:srgbClr val="E6D9B8"/>
                      </a:solidFill>
                      <a:prstDash val="solid"/>
                      <a:round/>
                      <a:headEnd type="none" w="med" len="med"/>
                      <a:tailEnd type="none" w="med" len="med"/>
                    </a:lnR>
                    <a:lnT w="6350" cap="flat" cmpd="sng" algn="ctr">
                      <a:solidFill>
                        <a:srgbClr val="E6D9B8"/>
                      </a:solidFill>
                      <a:prstDash val="solid"/>
                      <a:round/>
                      <a:headEnd type="none" w="med" len="med"/>
                      <a:tailEnd type="none" w="med" len="med"/>
                    </a:lnT>
                    <a:lnB w="6350" cap="flat" cmpd="sng" algn="ctr">
                      <a:solidFill>
                        <a:srgbClr val="E6D9B8"/>
                      </a:solidFill>
                      <a:prstDash val="solid"/>
                      <a:round/>
                      <a:headEnd type="none" w="med" len="med"/>
                      <a:tailEnd type="none" w="med" len="med"/>
                    </a:lnB>
                    <a:solidFill>
                      <a:srgbClr val="FEF2E1"/>
                    </a:solidFill>
                  </a:tcPr>
                </a:tc>
              </a:tr>
              <a:tr h="566928">
                <a:tc>
                  <a:txBody>
                    <a:bodyPr/>
                    <a:lstStyle/>
                    <a:p>
                      <a:pPr indent="0" marL="0">
                        <a:buNone/>
                      </a:pPr>
                      <a:r>
                        <a:rPr lang="en-US" sz="1200" b="1" dirty="0">
                          <a:solidFill>
                            <a:srgbClr val="253122"/>
                          </a:solidFill>
                        </a:rPr>
                        <a:t>CAG, Report No. 20 of 2023</a:t>
                      </a:r>
                      <a:endParaRPr lang="en-US" sz="1200" dirty="0"/>
                    </a:p>
                  </a:txBody>
                  <a:tcPr marL="73152" marR="73152" marT="54864" marB="54864" anchor="ctr">
                    <a:lnL w="6350" cap="flat" cmpd="sng" algn="ctr">
                      <a:solidFill>
                        <a:srgbClr val="E6D9B8"/>
                      </a:solidFill>
                      <a:prstDash val="solid"/>
                      <a:round/>
                      <a:headEnd type="none" w="med" len="med"/>
                      <a:tailEnd type="none" w="med" len="med"/>
                    </a:lnL>
                    <a:lnR w="6350" cap="flat" cmpd="sng" algn="ctr">
                      <a:solidFill>
                        <a:srgbClr val="E6D9B8"/>
                      </a:solidFill>
                      <a:prstDash val="solid"/>
                      <a:round/>
                      <a:headEnd type="none" w="med" len="med"/>
                      <a:tailEnd type="none" w="med" len="med"/>
                    </a:lnR>
                    <a:lnT w="6350" cap="flat" cmpd="sng" algn="ctr">
                      <a:solidFill>
                        <a:srgbClr val="E6D9B8"/>
                      </a:solidFill>
                      <a:prstDash val="solid"/>
                      <a:round/>
                      <a:headEnd type="none" w="med" len="med"/>
                      <a:tailEnd type="none" w="med" len="med"/>
                    </a:lnT>
                    <a:lnB w="6350" cap="flat" cmpd="sng" algn="ctr">
                      <a:solidFill>
                        <a:srgbClr val="E6D9B8"/>
                      </a:solidFill>
                      <a:prstDash val="solid"/>
                      <a:round/>
                      <a:headEnd type="none" w="med" len="med"/>
                      <a:tailEnd type="none" w="med" len="med"/>
                    </a:lnB>
                    <a:solidFill>
                      <a:srgbClr val="FFFFFF"/>
                    </a:solidFill>
                  </a:tcPr>
                </a:tc>
                <a:tc>
                  <a:txBody>
                    <a:bodyPr/>
                    <a:lstStyle/>
                    <a:p>
                      <a:pPr indent="0" marL="0">
                        <a:buNone/>
                      </a:pPr>
                      <a:r>
                        <a:rPr lang="en-US" sz="1200" dirty="0">
                          <a:solidFill>
                            <a:srgbClr val="253122"/>
                          </a:solidFill>
                        </a:rPr>
                        <a:t>Performance audit, 2017-18 to 2021-22</a:t>
                      </a:r>
                      <a:endParaRPr lang="en-US" sz="1200" dirty="0"/>
                    </a:p>
                  </a:txBody>
                  <a:tcPr marL="73152" marR="73152" marT="54864" marB="54864" anchor="ctr">
                    <a:lnL w="6350" cap="flat" cmpd="sng" algn="ctr">
                      <a:solidFill>
                        <a:srgbClr val="E6D9B8"/>
                      </a:solidFill>
                      <a:prstDash val="solid"/>
                      <a:round/>
                      <a:headEnd type="none" w="med" len="med"/>
                      <a:tailEnd type="none" w="med" len="med"/>
                    </a:lnL>
                    <a:lnR w="6350" cap="flat" cmpd="sng" algn="ctr">
                      <a:solidFill>
                        <a:srgbClr val="E6D9B8"/>
                      </a:solidFill>
                      <a:prstDash val="solid"/>
                      <a:round/>
                      <a:headEnd type="none" w="med" len="med"/>
                      <a:tailEnd type="none" w="med" len="med"/>
                    </a:lnR>
                    <a:lnT w="6350" cap="flat" cmpd="sng" algn="ctr">
                      <a:solidFill>
                        <a:srgbClr val="E6D9B8"/>
                      </a:solidFill>
                      <a:prstDash val="solid"/>
                      <a:round/>
                      <a:headEnd type="none" w="med" len="med"/>
                      <a:tailEnd type="none" w="med" len="med"/>
                    </a:lnT>
                    <a:lnB w="6350" cap="flat" cmpd="sng" algn="ctr">
                      <a:solidFill>
                        <a:srgbClr val="E6D9B8"/>
                      </a:solidFill>
                      <a:prstDash val="solid"/>
                      <a:round/>
                      <a:headEnd type="none" w="med" len="med"/>
                      <a:tailEnd type="none" w="med" len="med"/>
                    </a:lnB>
                    <a:solidFill>
                      <a:srgbClr val="FFFFFF"/>
                    </a:solidFill>
                  </a:tcPr>
                </a:tc>
                <a:tc>
                  <a:txBody>
                    <a:bodyPr/>
                    <a:lstStyle/>
                    <a:p>
                      <a:pPr indent="0" marL="0">
                        <a:buNone/>
                      </a:pPr>
                      <a:r>
                        <a:rPr lang="en-US" sz="1200" dirty="0">
                          <a:solidFill>
                            <a:srgbClr val="253122"/>
                          </a:solidFill>
                        </a:rPr>
                        <a:t>Gaps in storage planning, godown hiring and cost control</a:t>
                      </a:r>
                      <a:endParaRPr lang="en-US" sz="1200" dirty="0"/>
                    </a:p>
                  </a:txBody>
                  <a:tcPr marL="73152" marR="73152" marT="54864" marB="54864" anchor="ctr">
                    <a:lnL w="6350" cap="flat" cmpd="sng" algn="ctr">
                      <a:solidFill>
                        <a:srgbClr val="E6D9B8"/>
                      </a:solidFill>
                      <a:prstDash val="solid"/>
                      <a:round/>
                      <a:headEnd type="none" w="med" len="med"/>
                      <a:tailEnd type="none" w="med" len="med"/>
                    </a:lnL>
                    <a:lnR w="6350" cap="flat" cmpd="sng" algn="ctr">
                      <a:solidFill>
                        <a:srgbClr val="E6D9B8"/>
                      </a:solidFill>
                      <a:prstDash val="solid"/>
                      <a:round/>
                      <a:headEnd type="none" w="med" len="med"/>
                      <a:tailEnd type="none" w="med" len="med"/>
                    </a:lnR>
                    <a:lnT w="6350" cap="flat" cmpd="sng" algn="ctr">
                      <a:solidFill>
                        <a:srgbClr val="E6D9B8"/>
                      </a:solidFill>
                      <a:prstDash val="solid"/>
                      <a:round/>
                      <a:headEnd type="none" w="med" len="med"/>
                      <a:tailEnd type="none" w="med" len="med"/>
                    </a:lnT>
                    <a:lnB w="6350" cap="flat" cmpd="sng" algn="ctr">
                      <a:solidFill>
                        <a:srgbClr val="E6D9B8"/>
                      </a:solidFill>
                      <a:prstDash val="solid"/>
                      <a:round/>
                      <a:headEnd type="none" w="med" len="med"/>
                      <a:tailEnd type="none" w="med" len="med"/>
                    </a:lnB>
                    <a:solidFill>
                      <a:srgbClr val="FFFFFF"/>
                    </a:solidFill>
                  </a:tcPr>
                </a:tc>
                <a:tc>
                  <a:txBody>
                    <a:bodyPr/>
                    <a:lstStyle/>
                    <a:p>
                      <a:pPr indent="0" marL="0">
                        <a:buNone/>
                      </a:pPr>
                      <a:r>
                        <a:rPr lang="en-US" sz="1200" dirty="0">
                          <a:solidFill>
                            <a:srgbClr val="A62C37"/>
                          </a:solidFill>
                        </a:rPr>
                        <a:t>Ends before post-COVID years; no Gujarat analysis</a:t>
                      </a:r>
                      <a:endParaRPr lang="en-US" sz="1200" dirty="0"/>
                    </a:p>
                  </a:txBody>
                  <a:tcPr marL="73152" marR="73152" marT="54864" marB="54864" anchor="ctr">
                    <a:lnL w="6350" cap="flat" cmpd="sng" algn="ctr">
                      <a:solidFill>
                        <a:srgbClr val="E6D9B8"/>
                      </a:solidFill>
                      <a:prstDash val="solid"/>
                      <a:round/>
                      <a:headEnd type="none" w="med" len="med"/>
                      <a:tailEnd type="none" w="med" len="med"/>
                    </a:lnL>
                    <a:lnR w="6350" cap="flat" cmpd="sng" algn="ctr">
                      <a:solidFill>
                        <a:srgbClr val="E6D9B8"/>
                      </a:solidFill>
                      <a:prstDash val="solid"/>
                      <a:round/>
                      <a:headEnd type="none" w="med" len="med"/>
                      <a:tailEnd type="none" w="med" len="med"/>
                    </a:lnR>
                    <a:lnT w="6350" cap="flat" cmpd="sng" algn="ctr">
                      <a:solidFill>
                        <a:srgbClr val="E6D9B8"/>
                      </a:solidFill>
                      <a:prstDash val="solid"/>
                      <a:round/>
                      <a:headEnd type="none" w="med" len="med"/>
                      <a:tailEnd type="none" w="med" len="med"/>
                    </a:lnT>
                    <a:lnB w="6350" cap="flat" cmpd="sng" algn="ctr">
                      <a:solidFill>
                        <a:srgbClr val="E6D9B8"/>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253122"/>
                          </a:solidFill>
                        </a:rPr>
                        <a:t>Kumar, Dey &amp; Gupta, 2023</a:t>
                      </a:r>
                      <a:endParaRPr lang="en-US" sz="1200" dirty="0"/>
                    </a:p>
                  </a:txBody>
                  <a:tcPr marL="73152" marR="73152" marT="54864" marB="54864" anchor="ctr">
                    <a:lnL w="6350" cap="flat" cmpd="sng" algn="ctr">
                      <a:solidFill>
                        <a:srgbClr val="E6D9B8"/>
                      </a:solidFill>
                      <a:prstDash val="solid"/>
                      <a:round/>
                      <a:headEnd type="none" w="med" len="med"/>
                      <a:tailEnd type="none" w="med" len="med"/>
                    </a:lnL>
                    <a:lnR w="6350" cap="flat" cmpd="sng" algn="ctr">
                      <a:solidFill>
                        <a:srgbClr val="E6D9B8"/>
                      </a:solidFill>
                      <a:prstDash val="solid"/>
                      <a:round/>
                      <a:headEnd type="none" w="med" len="med"/>
                      <a:tailEnd type="none" w="med" len="med"/>
                    </a:lnR>
                    <a:lnT w="6350" cap="flat" cmpd="sng" algn="ctr">
                      <a:solidFill>
                        <a:srgbClr val="E6D9B8"/>
                      </a:solidFill>
                      <a:prstDash val="solid"/>
                      <a:round/>
                      <a:headEnd type="none" w="med" len="med"/>
                      <a:tailEnd type="none" w="med" len="med"/>
                    </a:lnT>
                    <a:lnB w="6350" cap="flat" cmpd="sng" algn="ctr">
                      <a:solidFill>
                        <a:srgbClr val="E6D9B8"/>
                      </a:solidFill>
                      <a:prstDash val="solid"/>
                      <a:round/>
                      <a:headEnd type="none" w="med" len="med"/>
                      <a:tailEnd type="none" w="med" len="med"/>
                    </a:lnB>
                    <a:solidFill>
                      <a:srgbClr val="FEF2E1"/>
                    </a:solidFill>
                  </a:tcPr>
                </a:tc>
                <a:tc>
                  <a:txBody>
                    <a:bodyPr/>
                    <a:lstStyle/>
                    <a:p>
                      <a:pPr indent="0" marL="0">
                        <a:buNone/>
                      </a:pPr>
                      <a:r>
                        <a:rPr lang="en-US" sz="1200" dirty="0">
                          <a:solidFill>
                            <a:srgbClr val="253122"/>
                          </a:solidFill>
                        </a:rPr>
                        <a:t>Management case study</a:t>
                      </a:r>
                      <a:endParaRPr lang="en-US" sz="1200" dirty="0"/>
                    </a:p>
                  </a:txBody>
                  <a:tcPr marL="73152" marR="73152" marT="54864" marB="54864" anchor="ctr">
                    <a:lnL w="6350" cap="flat" cmpd="sng" algn="ctr">
                      <a:solidFill>
                        <a:srgbClr val="E6D9B8"/>
                      </a:solidFill>
                      <a:prstDash val="solid"/>
                      <a:round/>
                      <a:headEnd type="none" w="med" len="med"/>
                      <a:tailEnd type="none" w="med" len="med"/>
                    </a:lnL>
                    <a:lnR w="6350" cap="flat" cmpd="sng" algn="ctr">
                      <a:solidFill>
                        <a:srgbClr val="E6D9B8"/>
                      </a:solidFill>
                      <a:prstDash val="solid"/>
                      <a:round/>
                      <a:headEnd type="none" w="med" len="med"/>
                      <a:tailEnd type="none" w="med" len="med"/>
                    </a:lnR>
                    <a:lnT w="6350" cap="flat" cmpd="sng" algn="ctr">
                      <a:solidFill>
                        <a:srgbClr val="E6D9B8"/>
                      </a:solidFill>
                      <a:prstDash val="solid"/>
                      <a:round/>
                      <a:headEnd type="none" w="med" len="med"/>
                      <a:tailEnd type="none" w="med" len="med"/>
                    </a:lnT>
                    <a:lnB w="6350" cap="flat" cmpd="sng" algn="ctr">
                      <a:solidFill>
                        <a:srgbClr val="E6D9B8"/>
                      </a:solidFill>
                      <a:prstDash val="solid"/>
                      <a:round/>
                      <a:headEnd type="none" w="med" len="med"/>
                      <a:tailEnd type="none" w="med" len="med"/>
                    </a:lnB>
                    <a:solidFill>
                      <a:srgbClr val="FEF2E1"/>
                    </a:solidFill>
                  </a:tcPr>
                </a:tc>
                <a:tc>
                  <a:txBody>
                    <a:bodyPr/>
                    <a:lstStyle/>
                    <a:p>
                      <a:pPr indent="0" marL="0">
                        <a:buNone/>
                      </a:pPr>
                      <a:r>
                        <a:rPr lang="en-US" sz="1200" dirty="0">
                          <a:solidFill>
                            <a:srgbClr val="253122"/>
                          </a:solidFill>
                        </a:rPr>
                        <a:t>Ways to make FCI procurement more inclusive and efficient</a:t>
                      </a:r>
                      <a:endParaRPr lang="en-US" sz="1200" dirty="0"/>
                    </a:p>
                  </a:txBody>
                  <a:tcPr marL="73152" marR="73152" marT="54864" marB="54864" anchor="ctr">
                    <a:lnL w="6350" cap="flat" cmpd="sng" algn="ctr">
                      <a:solidFill>
                        <a:srgbClr val="E6D9B8"/>
                      </a:solidFill>
                      <a:prstDash val="solid"/>
                      <a:round/>
                      <a:headEnd type="none" w="med" len="med"/>
                      <a:tailEnd type="none" w="med" len="med"/>
                    </a:lnL>
                    <a:lnR w="6350" cap="flat" cmpd="sng" algn="ctr">
                      <a:solidFill>
                        <a:srgbClr val="E6D9B8"/>
                      </a:solidFill>
                      <a:prstDash val="solid"/>
                      <a:round/>
                      <a:headEnd type="none" w="med" len="med"/>
                      <a:tailEnd type="none" w="med" len="med"/>
                    </a:lnR>
                    <a:lnT w="6350" cap="flat" cmpd="sng" algn="ctr">
                      <a:solidFill>
                        <a:srgbClr val="E6D9B8"/>
                      </a:solidFill>
                      <a:prstDash val="solid"/>
                      <a:round/>
                      <a:headEnd type="none" w="med" len="med"/>
                      <a:tailEnd type="none" w="med" len="med"/>
                    </a:lnT>
                    <a:lnB w="6350" cap="flat" cmpd="sng" algn="ctr">
                      <a:solidFill>
                        <a:srgbClr val="E6D9B8"/>
                      </a:solidFill>
                      <a:prstDash val="solid"/>
                      <a:round/>
                      <a:headEnd type="none" w="med" len="med"/>
                      <a:tailEnd type="none" w="med" len="med"/>
                    </a:lnB>
                    <a:solidFill>
                      <a:srgbClr val="FEF2E1"/>
                    </a:solidFill>
                  </a:tcPr>
                </a:tc>
                <a:tc>
                  <a:txBody>
                    <a:bodyPr/>
                    <a:lstStyle/>
                    <a:p>
                      <a:pPr indent="0" marL="0">
                        <a:buNone/>
                      </a:pPr>
                      <a:r>
                        <a:rPr lang="en-US" sz="1200" dirty="0">
                          <a:solidFill>
                            <a:srgbClr val="A62C37"/>
                          </a:solidFill>
                        </a:rPr>
                        <a:t>Procurement only; no storage, finance or losses</a:t>
                      </a:r>
                      <a:endParaRPr lang="en-US" sz="1200" dirty="0"/>
                    </a:p>
                  </a:txBody>
                  <a:tcPr marL="73152" marR="73152" marT="54864" marB="54864" anchor="ctr">
                    <a:lnL w="6350" cap="flat" cmpd="sng" algn="ctr">
                      <a:solidFill>
                        <a:srgbClr val="E6D9B8"/>
                      </a:solidFill>
                      <a:prstDash val="solid"/>
                      <a:round/>
                      <a:headEnd type="none" w="med" len="med"/>
                      <a:tailEnd type="none" w="med" len="med"/>
                    </a:lnL>
                    <a:lnR w="6350" cap="flat" cmpd="sng" algn="ctr">
                      <a:solidFill>
                        <a:srgbClr val="E6D9B8"/>
                      </a:solidFill>
                      <a:prstDash val="solid"/>
                      <a:round/>
                      <a:headEnd type="none" w="med" len="med"/>
                      <a:tailEnd type="none" w="med" len="med"/>
                    </a:lnR>
                    <a:lnT w="6350" cap="flat" cmpd="sng" algn="ctr">
                      <a:solidFill>
                        <a:srgbClr val="E6D9B8"/>
                      </a:solidFill>
                      <a:prstDash val="solid"/>
                      <a:round/>
                      <a:headEnd type="none" w="med" len="med"/>
                      <a:tailEnd type="none" w="med" len="med"/>
                    </a:lnT>
                    <a:lnB w="6350" cap="flat" cmpd="sng" algn="ctr">
                      <a:solidFill>
                        <a:srgbClr val="E6D9B8"/>
                      </a:solidFill>
                      <a:prstDash val="solid"/>
                      <a:round/>
                      <a:headEnd type="none" w="med" len="med"/>
                      <a:tailEnd type="none" w="med" len="med"/>
                    </a:lnB>
                    <a:solidFill>
                      <a:srgbClr val="FEF2E1"/>
                    </a:solidFill>
                  </a:tcPr>
                </a:tc>
              </a:tr>
              <a:tr h="566928">
                <a:tc>
                  <a:txBody>
                    <a:bodyPr/>
                    <a:lstStyle/>
                    <a:p>
                      <a:pPr indent="0" marL="0">
                        <a:buNone/>
                      </a:pPr>
                      <a:r>
                        <a:rPr lang="en-US" sz="1200" b="1" dirty="0">
                          <a:solidFill>
                            <a:srgbClr val="253122"/>
                          </a:solidFill>
                        </a:rPr>
                        <a:t>PIB (Govt. of India), 2024</a:t>
                      </a:r>
                      <a:endParaRPr lang="en-US" sz="1200" dirty="0"/>
                    </a:p>
                  </a:txBody>
                  <a:tcPr marL="73152" marR="73152" marT="54864" marB="54864" anchor="ctr">
                    <a:lnL w="6350" cap="flat" cmpd="sng" algn="ctr">
                      <a:solidFill>
                        <a:srgbClr val="E6D9B8"/>
                      </a:solidFill>
                      <a:prstDash val="solid"/>
                      <a:round/>
                      <a:headEnd type="none" w="med" len="med"/>
                      <a:tailEnd type="none" w="med" len="med"/>
                    </a:lnL>
                    <a:lnR w="6350" cap="flat" cmpd="sng" algn="ctr">
                      <a:solidFill>
                        <a:srgbClr val="E6D9B8"/>
                      </a:solidFill>
                      <a:prstDash val="solid"/>
                      <a:round/>
                      <a:headEnd type="none" w="med" len="med"/>
                      <a:tailEnd type="none" w="med" len="med"/>
                    </a:lnR>
                    <a:lnT w="6350" cap="flat" cmpd="sng" algn="ctr">
                      <a:solidFill>
                        <a:srgbClr val="E6D9B8"/>
                      </a:solidFill>
                      <a:prstDash val="solid"/>
                      <a:round/>
                      <a:headEnd type="none" w="med" len="med"/>
                      <a:tailEnd type="none" w="med" len="med"/>
                    </a:lnT>
                    <a:lnB w="6350" cap="flat" cmpd="sng" algn="ctr">
                      <a:solidFill>
                        <a:srgbClr val="E6D9B8"/>
                      </a:solidFill>
                      <a:prstDash val="solid"/>
                      <a:round/>
                      <a:headEnd type="none" w="med" len="med"/>
                      <a:tailEnd type="none" w="med" len="med"/>
                    </a:lnB>
                    <a:solidFill>
                      <a:srgbClr val="FFFFFF"/>
                    </a:solidFill>
                  </a:tcPr>
                </a:tc>
                <a:tc>
                  <a:txBody>
                    <a:bodyPr/>
                    <a:lstStyle/>
                    <a:p>
                      <a:pPr indent="0" marL="0">
                        <a:buNone/>
                      </a:pPr>
                      <a:r>
                        <a:rPr lang="en-US" sz="1200" dirty="0">
                          <a:solidFill>
                            <a:srgbClr val="253122"/>
                          </a:solidFill>
                        </a:rPr>
                        <a:t>Official backgrounder</a:t>
                      </a:r>
                      <a:endParaRPr lang="en-US" sz="1200" dirty="0"/>
                    </a:p>
                  </a:txBody>
                  <a:tcPr marL="73152" marR="73152" marT="54864" marB="54864" anchor="ctr">
                    <a:lnL w="6350" cap="flat" cmpd="sng" algn="ctr">
                      <a:solidFill>
                        <a:srgbClr val="E6D9B8"/>
                      </a:solidFill>
                      <a:prstDash val="solid"/>
                      <a:round/>
                      <a:headEnd type="none" w="med" len="med"/>
                      <a:tailEnd type="none" w="med" len="med"/>
                    </a:lnL>
                    <a:lnR w="6350" cap="flat" cmpd="sng" algn="ctr">
                      <a:solidFill>
                        <a:srgbClr val="E6D9B8"/>
                      </a:solidFill>
                      <a:prstDash val="solid"/>
                      <a:round/>
                      <a:headEnd type="none" w="med" len="med"/>
                      <a:tailEnd type="none" w="med" len="med"/>
                    </a:lnR>
                    <a:lnT w="6350" cap="flat" cmpd="sng" algn="ctr">
                      <a:solidFill>
                        <a:srgbClr val="E6D9B8"/>
                      </a:solidFill>
                      <a:prstDash val="solid"/>
                      <a:round/>
                      <a:headEnd type="none" w="med" len="med"/>
                      <a:tailEnd type="none" w="med" len="med"/>
                    </a:lnT>
                    <a:lnB w="6350" cap="flat" cmpd="sng" algn="ctr">
                      <a:solidFill>
                        <a:srgbClr val="E6D9B8"/>
                      </a:solidFill>
                      <a:prstDash val="solid"/>
                      <a:round/>
                      <a:headEnd type="none" w="med" len="med"/>
                      <a:tailEnd type="none" w="med" len="med"/>
                    </a:lnB>
                    <a:solidFill>
                      <a:srgbClr val="FFFFFF"/>
                    </a:solidFill>
                  </a:tcPr>
                </a:tc>
                <a:tc>
                  <a:txBody>
                    <a:bodyPr/>
                    <a:lstStyle/>
                    <a:p>
                      <a:pPr indent="0" marL="0">
                        <a:buNone/>
                      </a:pPr>
                      <a:r>
                        <a:rPr lang="en-US" sz="1200" dirty="0">
                          <a:solidFill>
                            <a:srgbClr val="253122"/>
                          </a:solidFill>
                        </a:rPr>
                        <a:t>Transit loss down to 0.16% (2023-24); interest cost ₹3,268 cr</a:t>
                      </a:r>
                      <a:endParaRPr lang="en-US" sz="1200" dirty="0"/>
                    </a:p>
                  </a:txBody>
                  <a:tcPr marL="73152" marR="73152" marT="54864" marB="54864" anchor="ctr">
                    <a:lnL w="6350" cap="flat" cmpd="sng" algn="ctr">
                      <a:solidFill>
                        <a:srgbClr val="E6D9B8"/>
                      </a:solidFill>
                      <a:prstDash val="solid"/>
                      <a:round/>
                      <a:headEnd type="none" w="med" len="med"/>
                      <a:tailEnd type="none" w="med" len="med"/>
                    </a:lnL>
                    <a:lnR w="6350" cap="flat" cmpd="sng" algn="ctr">
                      <a:solidFill>
                        <a:srgbClr val="E6D9B8"/>
                      </a:solidFill>
                      <a:prstDash val="solid"/>
                      <a:round/>
                      <a:headEnd type="none" w="med" len="med"/>
                      <a:tailEnd type="none" w="med" len="med"/>
                    </a:lnR>
                    <a:lnT w="6350" cap="flat" cmpd="sng" algn="ctr">
                      <a:solidFill>
                        <a:srgbClr val="E6D9B8"/>
                      </a:solidFill>
                      <a:prstDash val="solid"/>
                      <a:round/>
                      <a:headEnd type="none" w="med" len="med"/>
                      <a:tailEnd type="none" w="med" len="med"/>
                    </a:lnT>
                    <a:lnB w="6350" cap="flat" cmpd="sng" algn="ctr">
                      <a:solidFill>
                        <a:srgbClr val="E6D9B8"/>
                      </a:solidFill>
                      <a:prstDash val="solid"/>
                      <a:round/>
                      <a:headEnd type="none" w="med" len="med"/>
                      <a:tailEnd type="none" w="med" len="med"/>
                    </a:lnB>
                    <a:solidFill>
                      <a:srgbClr val="FFFFFF"/>
                    </a:solidFill>
                  </a:tcPr>
                </a:tc>
                <a:tc>
                  <a:txBody>
                    <a:bodyPr/>
                    <a:lstStyle/>
                    <a:p>
                      <a:pPr indent="0" marL="0">
                        <a:buNone/>
                      </a:pPr>
                      <a:r>
                        <a:rPr lang="en-US" sz="1200" dirty="0">
                          <a:solidFill>
                            <a:srgbClr val="A62C37"/>
                          </a:solidFill>
                        </a:rPr>
                        <a:t>Summary of achievements, not independent analysis</a:t>
                      </a:r>
                      <a:endParaRPr lang="en-US" sz="1200" dirty="0"/>
                    </a:p>
                  </a:txBody>
                  <a:tcPr marL="73152" marR="73152" marT="54864" marB="54864" anchor="ctr">
                    <a:lnL w="6350" cap="flat" cmpd="sng" algn="ctr">
                      <a:solidFill>
                        <a:srgbClr val="E6D9B8"/>
                      </a:solidFill>
                      <a:prstDash val="solid"/>
                      <a:round/>
                      <a:headEnd type="none" w="med" len="med"/>
                      <a:tailEnd type="none" w="med" len="med"/>
                    </a:lnL>
                    <a:lnR w="6350" cap="flat" cmpd="sng" algn="ctr">
                      <a:solidFill>
                        <a:srgbClr val="E6D9B8"/>
                      </a:solidFill>
                      <a:prstDash val="solid"/>
                      <a:round/>
                      <a:headEnd type="none" w="med" len="med"/>
                      <a:tailEnd type="none" w="med" len="med"/>
                    </a:lnR>
                    <a:lnT w="6350" cap="flat" cmpd="sng" algn="ctr">
                      <a:solidFill>
                        <a:srgbClr val="E6D9B8"/>
                      </a:solidFill>
                      <a:prstDash val="solid"/>
                      <a:round/>
                      <a:headEnd type="none" w="med" len="med"/>
                      <a:tailEnd type="none" w="med" len="med"/>
                    </a:lnT>
                    <a:lnB w="6350" cap="flat" cmpd="sng" algn="ctr">
                      <a:solidFill>
                        <a:srgbClr val="E6D9B8"/>
                      </a:solidFill>
                      <a:prstDash val="solid"/>
                      <a:round/>
                      <a:headEnd type="none" w="med" len="med"/>
                      <a:tailEnd type="none" w="med" len="med"/>
                    </a:lnB>
                    <a:solidFill>
                      <a:srgbClr val="FFFFFF"/>
                    </a:solidFill>
                  </a:tcPr>
                </a:tc>
              </a:tr>
            </a:tbl>
          </a:graphicData>
        </a:graphic>
      </p:graphicFrame>
      <p:sp>
        <p:nvSpPr>
          <p:cNvPr id="7" name="!!card1"/>
          <p:cNvSpPr/>
          <p:nvPr/>
        </p:nvSpPr>
        <p:spPr>
          <a:xfrm>
            <a:off x="548640" y="4800600"/>
            <a:ext cx="11094415" cy="685800"/>
          </a:xfrm>
          <a:prstGeom prst="roundRect">
            <a:avLst>
              <a:gd name="adj" fmla="val 10667"/>
            </a:avLst>
          </a:prstGeom>
          <a:solidFill>
            <a:srgbClr val="F4EAC9"/>
          </a:solidFill>
          <a:ln w="12700">
            <a:solidFill>
              <a:srgbClr val="F4EAC9"/>
            </a:solidFill>
            <a:prstDash val="solid"/>
          </a:ln>
        </p:spPr>
      </p:sp>
      <p:sp>
        <p:nvSpPr>
          <p:cNvPr id="8" name="Text 4"/>
          <p:cNvSpPr txBox="1"/>
          <p:nvPr/>
        </p:nvSpPr>
        <p:spPr>
          <a:xfrm>
            <a:off x="777240" y="4846320"/>
            <a:ext cx="10637215" cy="594360"/>
          </a:xfrm>
          <a:prstGeom prst="rect">
            <a:avLst/>
          </a:prstGeom>
          <a:noFill/>
          <a:ln/>
        </p:spPr>
        <p:txBody>
          <a:bodyPr wrap="square" lIns="0" tIns="0" rIns="0" bIns="0" rtlCol="0" anchor="ctr"/>
          <a:lstStyle/>
          <a:p>
            <a:pPr indent="0" marL="0">
              <a:buNone/>
            </a:pPr>
            <a:r>
              <a:rPr lang="en-US" sz="1500" b="1" i="1" dirty="0">
                <a:solidFill>
                  <a:srgbClr val="004F46"/>
                </a:solidFill>
                <a:latin typeface="Calibri" pitchFamily="34" charset="0"/>
                <a:ea typeface="Calibri" pitchFamily="34" charset="-122"/>
                <a:cs typeface="Calibri" pitchFamily="34" charset="-120"/>
              </a:rPr>
              <a:t>Common gap: no consistent KPI-based, multi-year review of FCI after COVID, and none at Gujarat Region level</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5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halo"/>
          <p:cNvSpPr/>
          <p:nvPr/>
        </p:nvSpPr>
        <p:spPr>
          <a:xfrm>
            <a:off x="-2011680" y="-2194560"/>
            <a:ext cx="4389120" cy="4389120"/>
          </a:xfrm>
          <a:prstGeom prst="ellipse">
            <a:avLst/>
          </a:prstGeom>
          <a:solidFill>
            <a:srgbClr val="A62C37">
              <a:alpha val="12000"/>
            </a:srgbClr>
          </a:solidFill>
          <a:ln w="12700">
            <a:solidFill>
              <a:srgbClr val="A62C37">
                <a:alpha val="0"/>
              </a:srgbClr>
            </a:solidFill>
            <a:prstDash val="solid"/>
          </a:ln>
        </p:spPr>
      </p:sp>
      <p:sp>
        <p:nvSpPr>
          <p:cNvPr id="3"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Problem Statement</a:t>
            </a:r>
            <a:endParaRPr lang="en-US" sz="3200" dirty="0"/>
          </a:p>
        </p:txBody>
      </p:sp>
      <p:sp>
        <p:nvSpPr>
          <p:cNvPr id="4" name="!!orb"/>
          <p:cNvSpPr/>
          <p:nvPr/>
        </p:nvSpPr>
        <p:spPr>
          <a:xfrm>
            <a:off x="10957255" y="347472"/>
            <a:ext cx="685800" cy="685800"/>
          </a:xfrm>
          <a:prstGeom prst="ellipse">
            <a:avLst/>
          </a:prstGeom>
          <a:solidFill>
            <a:srgbClr val="A62C37"/>
          </a:solidFill>
          <a:ln w="12700">
            <a:solidFill>
              <a:srgbClr val="A62C37"/>
            </a:solidFill>
            <a:prstDash val="solid"/>
          </a:ln>
        </p:spPr>
      </p:sp>
      <p:pic>
        <p:nvPicPr>
          <p:cNvPr id="5" name="!!orbicon" descr="preencoded.png">    </p:cNvPr>
          <p:cNvPicPr>
            <a:picLocks noChangeAspect="1"/>
          </p:cNvPicPr>
          <p:nvPr/>
        </p:nvPicPr>
        <p:blipFill>
          <a:blip r:embed="rId1"/>
          <a:stretch>
            <a:fillRect/>
          </a:stretch>
        </p:blipFill>
        <p:spPr>
          <a:xfrm>
            <a:off x="11130991" y="521208"/>
            <a:ext cx="338328" cy="338328"/>
          </a:xfrm>
          <a:prstGeom prst="rect">
            <a:avLst/>
          </a:prstGeom>
        </p:spPr>
      </p:pic>
      <p:sp>
        <p:nvSpPr>
          <p:cNvPr id="6" name="!!card1"/>
          <p:cNvSpPr/>
          <p:nvPr/>
        </p:nvSpPr>
        <p:spPr>
          <a:xfrm>
            <a:off x="548640" y="1280160"/>
            <a:ext cx="5486400" cy="1325880"/>
          </a:xfrm>
          <a:prstGeom prst="roundRect">
            <a:avLst>
              <a:gd name="adj" fmla="val 5517"/>
            </a:avLst>
          </a:prstGeom>
          <a:solidFill>
            <a:srgbClr val="A62C37"/>
          </a:solidFill>
          <a:ln w="12700">
            <a:solidFill>
              <a:srgbClr val="A62C37"/>
            </a:solidFill>
            <a:prstDash val="solid"/>
          </a:ln>
        </p:spPr>
      </p:sp>
      <p:sp>
        <p:nvSpPr>
          <p:cNvPr id="7" name="Text 4"/>
          <p:cNvSpPr txBox="1"/>
          <p:nvPr/>
        </p:nvSpPr>
        <p:spPr>
          <a:xfrm>
            <a:off x="777240" y="1417320"/>
            <a:ext cx="5029200" cy="10972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FCI has grown in capacity and funding, but it is not clear whether its operational efficiency has improved with it.</a:t>
            </a:r>
            <a:endParaRPr lang="en-US" sz="1700" dirty="0"/>
          </a:p>
        </p:txBody>
      </p:sp>
      <p:sp>
        <p:nvSpPr>
          <p:cNvPr id="8" name="Text 5"/>
          <p:cNvSpPr txBox="1"/>
          <p:nvPr/>
        </p:nvSpPr>
        <p:spPr>
          <a:xfrm>
            <a:off x="548640" y="2834640"/>
            <a:ext cx="5486400" cy="3291840"/>
          </a:xfrm>
          <a:prstGeom prst="rect">
            <a:avLst/>
          </a:prstGeom>
          <a:noFill/>
          <a:ln/>
        </p:spPr>
        <p:txBody>
          <a:bodyPr wrap="square" lIns="0" tIns="0" rIns="0" bIns="0" rtlCol="0" anchor="t"/>
          <a:lstStyle/>
          <a:p>
            <a:pPr marL="203200" indent="-203200">
              <a:spcAft>
                <a:spcPts val="1000"/>
              </a:spcAft>
              <a:buSzPct val="100000"/>
              <a:buChar char="•"/>
            </a:pPr>
            <a:r>
              <a:rPr lang="en-US" sz="1500" b="1" dirty="0">
                <a:solidFill>
                  <a:srgbClr val="A62C37"/>
                </a:solidFill>
                <a:latin typeface="Calibri" pitchFamily="34" charset="0"/>
                <a:ea typeface="Calibri" pitchFamily="34" charset="-122"/>
                <a:cs typeface="Calibri" pitchFamily="34" charset="-120"/>
              </a:rPr>
              <a:t>Why investigate: </a:t>
            </a:r>
            <a:pPr indent="0" marL="0">
              <a:buNone/>
            </a:pPr>
            <a:r>
              <a:rPr lang="en-US" sz="1500" dirty="0">
                <a:solidFill>
                  <a:srgbClr val="253122"/>
                </a:solidFill>
                <a:latin typeface="Calibri" pitchFamily="34" charset="0"/>
                <a:ea typeface="Calibri" pitchFamily="34" charset="-122"/>
                <a:cs typeface="Calibri" pitchFamily="34" charset="-120"/>
              </a:rPr>
              <a:t>costs are funded by public subsidy, so inefficiency is a direct fiscal burden</a:t>
            </a:r>
            <a:endParaRPr lang="en-US" sz="1500" dirty="0"/>
          </a:p>
          <a:p>
            <a:pPr marL="203200" indent="-203200">
              <a:spcAft>
                <a:spcPts val="1000"/>
              </a:spcAft>
              <a:buSzPct val="100000"/>
              <a:buChar char="•"/>
            </a:pPr>
            <a:r>
              <a:rPr lang="en-US" sz="1500" b="1" dirty="0">
                <a:solidFill>
                  <a:srgbClr val="A62C37"/>
                </a:solidFill>
                <a:latin typeface="Calibri" pitchFamily="34" charset="0"/>
                <a:ea typeface="Calibri" pitchFamily="34" charset="-122"/>
                <a:cs typeface="Calibri" pitchFamily="34" charset="-120"/>
              </a:rPr>
              <a:t>Limits of existing work: </a:t>
            </a:r>
            <a:pPr indent="0" marL="0">
              <a:buNone/>
            </a:pPr>
            <a:r>
              <a:rPr lang="en-US" sz="1500" dirty="0">
                <a:solidFill>
                  <a:srgbClr val="253122"/>
                </a:solidFill>
                <a:latin typeface="Calibri" pitchFamily="34" charset="0"/>
                <a:ea typeface="Calibri" pitchFamily="34" charset="-122"/>
                <a:cs typeface="Calibri" pitchFamily="34" charset="-120"/>
              </a:rPr>
              <a:t>audits look backwards; descriptive studies lack consistent indicators</a:t>
            </a:r>
            <a:endParaRPr lang="en-US" sz="1500" dirty="0"/>
          </a:p>
          <a:p>
            <a:pPr marL="203200" indent="-203200">
              <a:spcAft>
                <a:spcPts val="1000"/>
              </a:spcAft>
              <a:buSzPct val="100000"/>
              <a:buChar char="•"/>
            </a:pPr>
            <a:r>
              <a:rPr lang="en-US" sz="1500" b="1" dirty="0">
                <a:solidFill>
                  <a:srgbClr val="A62C37"/>
                </a:solidFill>
                <a:latin typeface="Calibri" pitchFamily="34" charset="0"/>
                <a:ea typeface="Calibri" pitchFamily="34" charset="-122"/>
                <a:cs typeface="Calibri" pitchFamily="34" charset="-120"/>
              </a:rPr>
              <a:t>Expected contribution: </a:t>
            </a:r>
            <a:pPr indent="0" marL="0">
              <a:buNone/>
            </a:pPr>
            <a:r>
              <a:rPr lang="en-US" sz="1500" dirty="0">
                <a:solidFill>
                  <a:srgbClr val="253122"/>
                </a:solidFill>
                <a:latin typeface="Calibri" pitchFamily="34" charset="0"/>
                <a:ea typeface="Calibri" pitchFamily="34" charset="-122"/>
                <a:cs typeface="Calibri" pitchFamily="34" charset="-120"/>
              </a:rPr>
              <a:t>a KPI view of FCI from 2022-23 to 2024-25, with a pre-COVID comparison and Gujarat focus</a:t>
            </a:r>
            <a:endParaRPr lang="en-US" sz="1500" dirty="0"/>
          </a:p>
        </p:txBody>
      </p:sp>
      <p:sp>
        <p:nvSpPr>
          <p:cNvPr id="9" name="!!card2"/>
          <p:cNvSpPr/>
          <p:nvPr/>
        </p:nvSpPr>
        <p:spPr>
          <a:xfrm>
            <a:off x="6355080" y="1234440"/>
            <a:ext cx="5285232" cy="4892040"/>
          </a:xfrm>
          <a:prstGeom prst="roundRect">
            <a:avLst>
              <a:gd name="adj" fmla="val 1495"/>
            </a:avLst>
          </a:prstGeom>
          <a:solidFill>
            <a:srgbClr val="F4F0F1"/>
          </a:solidFill>
          <a:ln w="12700">
            <a:solidFill>
              <a:srgbClr val="F4F0F1"/>
            </a:solidFill>
            <a:prstDash val="solid"/>
          </a:ln>
        </p:spPr>
      </p:sp>
      <p:graphicFrame>
        <p:nvGraphicFramePr>
          <p:cNvPr id="10" name="Subsidy chart" descr=""/>
          <p:cNvGraphicFramePr/>
          <p:nvPr/>
        </p:nvGraphicFramePr>
        <p:xfrm>
          <a:off x="6446520" y="1325880"/>
          <a:ext cx="5102352" cy="47091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5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halo"/>
          <p:cNvSpPr/>
          <p:nvPr/>
        </p:nvSpPr>
        <p:spPr>
          <a:xfrm>
            <a:off x="9875520" y="-2377440"/>
            <a:ext cx="4206240" cy="4206240"/>
          </a:xfrm>
          <a:prstGeom prst="ellipse">
            <a:avLst/>
          </a:prstGeom>
          <a:solidFill>
            <a:srgbClr val="FCB315">
              <a:alpha val="20000"/>
            </a:srgbClr>
          </a:solidFill>
          <a:ln w="12700">
            <a:solidFill>
              <a:srgbClr val="FCB315">
                <a:alpha val="0"/>
              </a:srgbClr>
            </a:solidFill>
            <a:prstDash val="solid"/>
          </a:ln>
        </p:spPr>
      </p:sp>
      <p:sp>
        <p:nvSpPr>
          <p:cNvPr id="3"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Aim and Objectives</a:t>
            </a:r>
            <a:endParaRPr lang="en-US" sz="3200" dirty="0"/>
          </a:p>
        </p:txBody>
      </p:sp>
      <p:sp>
        <p:nvSpPr>
          <p:cNvPr id="4" name="!!orb"/>
          <p:cNvSpPr/>
          <p:nvPr/>
        </p:nvSpPr>
        <p:spPr>
          <a:xfrm>
            <a:off x="10957255" y="347472"/>
            <a:ext cx="685800" cy="685800"/>
          </a:xfrm>
          <a:prstGeom prst="ellipse">
            <a:avLst/>
          </a:prstGeom>
          <a:solidFill>
            <a:srgbClr val="004F46"/>
          </a:solidFill>
          <a:ln w="12700">
            <a:solidFill>
              <a:srgbClr val="004F46"/>
            </a:solidFill>
            <a:prstDash val="solid"/>
          </a:ln>
        </p:spPr>
      </p:sp>
      <p:pic>
        <p:nvPicPr>
          <p:cNvPr id="5" name="!!orbicon" descr="preencoded.png">    </p:cNvPr>
          <p:cNvPicPr>
            <a:picLocks noChangeAspect="1"/>
          </p:cNvPicPr>
          <p:nvPr/>
        </p:nvPicPr>
        <p:blipFill>
          <a:blip r:embed="rId1"/>
          <a:stretch>
            <a:fillRect/>
          </a:stretch>
        </p:blipFill>
        <p:spPr>
          <a:xfrm>
            <a:off x="11130991" y="521208"/>
            <a:ext cx="338328" cy="338328"/>
          </a:xfrm>
          <a:prstGeom prst="rect">
            <a:avLst/>
          </a:prstGeom>
        </p:spPr>
      </p:pic>
      <p:sp>
        <p:nvSpPr>
          <p:cNvPr id="6" name="!!card1"/>
          <p:cNvSpPr/>
          <p:nvPr/>
        </p:nvSpPr>
        <p:spPr>
          <a:xfrm>
            <a:off x="548640" y="1188720"/>
            <a:ext cx="11094415" cy="731520"/>
          </a:xfrm>
          <a:prstGeom prst="roundRect">
            <a:avLst>
              <a:gd name="adj" fmla="val 10000"/>
            </a:avLst>
          </a:prstGeom>
          <a:solidFill>
            <a:srgbClr val="EDE7EA"/>
          </a:solidFill>
          <a:ln w="12700">
            <a:solidFill>
              <a:srgbClr val="EDE7EA"/>
            </a:solidFill>
            <a:prstDash val="solid"/>
          </a:ln>
        </p:spPr>
      </p:sp>
      <p:sp>
        <p:nvSpPr>
          <p:cNvPr id="7" name="Text 4"/>
          <p:cNvSpPr txBox="1"/>
          <p:nvPr/>
        </p:nvSpPr>
        <p:spPr>
          <a:xfrm>
            <a:off x="777240" y="1234440"/>
            <a:ext cx="10637215" cy="640080"/>
          </a:xfrm>
          <a:prstGeom prst="rect">
            <a:avLst/>
          </a:prstGeom>
          <a:noFill/>
          <a:ln/>
        </p:spPr>
        <p:txBody>
          <a:bodyPr wrap="square" lIns="0" tIns="0" rIns="0" bIns="0" rtlCol="0" anchor="ctr"/>
          <a:lstStyle/>
          <a:p>
            <a:pPr indent="0" marL="0">
              <a:buNone/>
            </a:pPr>
            <a:r>
              <a:rPr lang="en-US" sz="1600" b="1" dirty="0">
                <a:solidFill>
                  <a:srgbClr val="A62C37"/>
                </a:solidFill>
                <a:latin typeface="Calibri" pitchFamily="34" charset="0"/>
                <a:ea typeface="Calibri" pitchFamily="34" charset="-122"/>
                <a:cs typeface="Calibri" pitchFamily="34" charset="-120"/>
              </a:rPr>
              <a:t>Aim: </a:t>
            </a:r>
            <a:pPr indent="0" marL="0">
              <a:buNone/>
            </a:pPr>
            <a:r>
              <a:rPr lang="en-US" sz="1600" dirty="0">
                <a:solidFill>
                  <a:srgbClr val="253122"/>
                </a:solidFill>
                <a:latin typeface="Calibri" pitchFamily="34" charset="0"/>
                <a:ea typeface="Calibri" pitchFamily="34" charset="-122"/>
                <a:cs typeface="Calibri" pitchFamily="34" charset="-120"/>
              </a:rPr>
              <a:t>to evaluate FCI’s operational and financial performance from 2022-23 to 2024-25 using KPIs, with special reference to the Gujarat Region</a:t>
            </a:r>
            <a:endParaRPr lang="en-US" sz="1600" dirty="0"/>
          </a:p>
        </p:txBody>
      </p:sp>
      <p:graphicFrame>
        <p:nvGraphicFramePr>
          <p:cNvPr id="6" name="Objectives table"/>
          <p:cNvGraphicFramePr>
            <a:graphicFrameLocks noGrp="1"/>
          </p:cNvGraphicFramePr>
          <p:nvPr>
            <p:extLst>
              <p:ext uri="{D42A27DB-BD31-4B8C-83A1-F6EECF244321}">
                <p14:modId xmlns:p14="http://schemas.microsoft.com/office/powerpoint/2010/main" val="1579011935"/>
              </p:ext>
            </p:extLst>
          </p:nvPr>
        </p:nvGraphicFramePr>
        <p:xfrm>
          <a:off x="548640" y="2103120"/>
          <a:ext cx="11094415" cy="914400"/>
        </p:xfrm>
        <a:graphic>
          <a:graphicData uri="http://schemas.openxmlformats.org/drawingml/2006/table">
            <a:tbl>
              <a:tblPr/>
              <a:tblGrid>
                <a:gridCol w="640080"/>
                <a:gridCol w="4023360"/>
                <a:gridCol w="3566160"/>
                <a:gridCol w="2864815"/>
              </a:tblGrid>
              <a:tr h="640080">
                <a:tc>
                  <a:txBody>
                    <a:bodyPr/>
                    <a:lstStyle/>
                    <a:p>
                      <a:pPr indent="0" marL="0">
                        <a:buNone/>
                      </a:pPr>
                      <a:r>
                        <a:rPr lang="en-US" sz="1300" b="1" dirty="0">
                          <a:solidFill>
                            <a:srgbClr val="FFFFFF"/>
                          </a:solidFill>
                        </a:rPr>
                        <a:t>#</a:t>
                      </a:r>
                      <a:endParaRPr lang="en-US" sz="1300" dirty="0"/>
                    </a:p>
                  </a:txBody>
                  <a:tcPr marL="91440" marR="91440" marT="54864" marB="54864" anchor="ctr">
                    <a:lnL w="6350" cap="flat" cmpd="sng" algn="ctr">
                      <a:solidFill>
                        <a:srgbClr val="DCCFD4"/>
                      </a:solidFill>
                      <a:prstDash val="solid"/>
                      <a:round/>
                      <a:headEnd type="none" w="med" len="med"/>
                      <a:tailEnd type="none" w="med" len="med"/>
                    </a:lnL>
                    <a:lnR w="6350" cap="flat" cmpd="sng" algn="ctr">
                      <a:solidFill>
                        <a:srgbClr val="DCCFD4"/>
                      </a:solidFill>
                      <a:prstDash val="solid"/>
                      <a:round/>
                      <a:headEnd type="none" w="med" len="med"/>
                      <a:tailEnd type="none" w="med" len="med"/>
                    </a:lnR>
                    <a:lnT w="6350" cap="flat" cmpd="sng" algn="ctr">
                      <a:solidFill>
                        <a:srgbClr val="DCCFD4"/>
                      </a:solidFill>
                      <a:prstDash val="solid"/>
                      <a:round/>
                      <a:headEnd type="none" w="med" len="med"/>
                      <a:tailEnd type="none" w="med" len="med"/>
                    </a:lnT>
                    <a:lnB w="6350" cap="flat" cmpd="sng" algn="ctr">
                      <a:solidFill>
                        <a:srgbClr val="DCCFD4"/>
                      </a:solidFill>
                      <a:prstDash val="solid"/>
                      <a:round/>
                      <a:headEnd type="none" w="med" len="med"/>
                      <a:tailEnd type="none" w="med" len="med"/>
                    </a:lnB>
                    <a:solidFill>
                      <a:srgbClr val="A62C37"/>
                    </a:solidFill>
                  </a:tcPr>
                </a:tc>
                <a:tc>
                  <a:txBody>
                    <a:bodyPr/>
                    <a:lstStyle/>
                    <a:p>
                      <a:pPr indent="0" marL="0">
                        <a:buNone/>
                      </a:pPr>
                      <a:r>
                        <a:rPr lang="en-US" sz="1300" b="1" dirty="0">
                          <a:solidFill>
                            <a:srgbClr val="FFFFFF"/>
                          </a:solidFill>
                        </a:rPr>
                        <a:t>Objective</a:t>
                      </a:r>
                      <a:endParaRPr lang="en-US" sz="1300" dirty="0"/>
                    </a:p>
                  </a:txBody>
                  <a:tcPr marL="91440" marR="91440" marT="54864" marB="54864" anchor="ctr">
                    <a:lnL w="6350" cap="flat" cmpd="sng" algn="ctr">
                      <a:solidFill>
                        <a:srgbClr val="DCCFD4"/>
                      </a:solidFill>
                      <a:prstDash val="solid"/>
                      <a:round/>
                      <a:headEnd type="none" w="med" len="med"/>
                      <a:tailEnd type="none" w="med" len="med"/>
                    </a:lnL>
                    <a:lnR w="6350" cap="flat" cmpd="sng" algn="ctr">
                      <a:solidFill>
                        <a:srgbClr val="DCCFD4"/>
                      </a:solidFill>
                      <a:prstDash val="solid"/>
                      <a:round/>
                      <a:headEnd type="none" w="med" len="med"/>
                      <a:tailEnd type="none" w="med" len="med"/>
                    </a:lnR>
                    <a:lnT w="6350" cap="flat" cmpd="sng" algn="ctr">
                      <a:solidFill>
                        <a:srgbClr val="DCCFD4"/>
                      </a:solidFill>
                      <a:prstDash val="solid"/>
                      <a:round/>
                      <a:headEnd type="none" w="med" len="med"/>
                      <a:tailEnd type="none" w="med" len="med"/>
                    </a:lnT>
                    <a:lnB w="6350" cap="flat" cmpd="sng" algn="ctr">
                      <a:solidFill>
                        <a:srgbClr val="DCCFD4"/>
                      </a:solidFill>
                      <a:prstDash val="solid"/>
                      <a:round/>
                      <a:headEnd type="none" w="med" len="med"/>
                      <a:tailEnd type="none" w="med" len="med"/>
                    </a:lnB>
                    <a:solidFill>
                      <a:srgbClr val="A62C37"/>
                    </a:solidFill>
                  </a:tcPr>
                </a:tc>
                <a:tc>
                  <a:txBody>
                    <a:bodyPr/>
                    <a:lstStyle/>
                    <a:p>
                      <a:pPr indent="0" marL="0">
                        <a:buNone/>
                      </a:pPr>
                      <a:r>
                        <a:rPr lang="en-US" sz="1300" b="1" dirty="0">
                          <a:solidFill>
                            <a:srgbClr val="FFFFFF"/>
                          </a:solidFill>
                        </a:rPr>
                        <a:t>Measured by (KPI)</a:t>
                      </a:r>
                      <a:endParaRPr lang="en-US" sz="1300" dirty="0"/>
                    </a:p>
                  </a:txBody>
                  <a:tcPr marL="91440" marR="91440" marT="54864" marB="54864" anchor="ctr">
                    <a:lnL w="6350" cap="flat" cmpd="sng" algn="ctr">
                      <a:solidFill>
                        <a:srgbClr val="DCCFD4"/>
                      </a:solidFill>
                      <a:prstDash val="solid"/>
                      <a:round/>
                      <a:headEnd type="none" w="med" len="med"/>
                      <a:tailEnd type="none" w="med" len="med"/>
                    </a:lnL>
                    <a:lnR w="6350" cap="flat" cmpd="sng" algn="ctr">
                      <a:solidFill>
                        <a:srgbClr val="DCCFD4"/>
                      </a:solidFill>
                      <a:prstDash val="solid"/>
                      <a:round/>
                      <a:headEnd type="none" w="med" len="med"/>
                      <a:tailEnd type="none" w="med" len="med"/>
                    </a:lnR>
                    <a:lnT w="6350" cap="flat" cmpd="sng" algn="ctr">
                      <a:solidFill>
                        <a:srgbClr val="DCCFD4"/>
                      </a:solidFill>
                      <a:prstDash val="solid"/>
                      <a:round/>
                      <a:headEnd type="none" w="med" len="med"/>
                      <a:tailEnd type="none" w="med" len="med"/>
                    </a:lnT>
                    <a:lnB w="6350" cap="flat" cmpd="sng" algn="ctr">
                      <a:solidFill>
                        <a:srgbClr val="DCCFD4"/>
                      </a:solidFill>
                      <a:prstDash val="solid"/>
                      <a:round/>
                      <a:headEnd type="none" w="med" len="med"/>
                      <a:tailEnd type="none" w="med" len="med"/>
                    </a:lnB>
                    <a:solidFill>
                      <a:srgbClr val="004F46"/>
                    </a:solidFill>
                  </a:tcPr>
                </a:tc>
                <a:tc>
                  <a:txBody>
                    <a:bodyPr/>
                    <a:lstStyle/>
                    <a:p>
                      <a:pPr indent="0" marL="0">
                        <a:buNone/>
                      </a:pPr>
                      <a:r>
                        <a:rPr lang="en-US" sz="1300" b="1" dirty="0">
                          <a:solidFill>
                            <a:srgbClr val="FFFFFF"/>
                          </a:solidFill>
                        </a:rPr>
                        <a:t>Link to problem</a:t>
                      </a:r>
                      <a:endParaRPr lang="en-US" sz="1300" dirty="0"/>
                    </a:p>
                  </a:txBody>
                  <a:tcPr marL="91440" marR="91440" marT="54864" marB="54864" anchor="ctr">
                    <a:lnL w="6350" cap="flat" cmpd="sng" algn="ctr">
                      <a:solidFill>
                        <a:srgbClr val="DCCFD4"/>
                      </a:solidFill>
                      <a:prstDash val="solid"/>
                      <a:round/>
                      <a:headEnd type="none" w="med" len="med"/>
                      <a:tailEnd type="none" w="med" len="med"/>
                    </a:lnL>
                    <a:lnR w="6350" cap="flat" cmpd="sng" algn="ctr">
                      <a:solidFill>
                        <a:srgbClr val="DCCFD4"/>
                      </a:solidFill>
                      <a:prstDash val="solid"/>
                      <a:round/>
                      <a:headEnd type="none" w="med" len="med"/>
                      <a:tailEnd type="none" w="med" len="med"/>
                    </a:lnR>
                    <a:lnT w="6350" cap="flat" cmpd="sng" algn="ctr">
                      <a:solidFill>
                        <a:srgbClr val="DCCFD4"/>
                      </a:solidFill>
                      <a:prstDash val="solid"/>
                      <a:round/>
                      <a:headEnd type="none" w="med" len="med"/>
                      <a:tailEnd type="none" w="med" len="med"/>
                    </a:lnT>
                    <a:lnB w="6350" cap="flat" cmpd="sng" algn="ctr">
                      <a:solidFill>
                        <a:srgbClr val="DCCFD4"/>
                      </a:solidFill>
                      <a:prstDash val="solid"/>
                      <a:round/>
                      <a:headEnd type="none" w="med" len="med"/>
                      <a:tailEnd type="none" w="med" len="med"/>
                    </a:lnB>
                    <a:solidFill>
                      <a:srgbClr val="004F46"/>
                    </a:solidFill>
                  </a:tcPr>
                </a:tc>
              </a:tr>
              <a:tr h="640080">
                <a:tc>
                  <a:txBody>
                    <a:bodyPr/>
                    <a:lstStyle/>
                    <a:p>
                      <a:pPr indent="0" marL="0">
                        <a:buNone/>
                      </a:pPr>
                      <a:r>
                        <a:rPr lang="en-US" sz="1300" b="1" dirty="0">
                          <a:solidFill>
                            <a:srgbClr val="A62C37"/>
                          </a:solidFill>
                        </a:rPr>
                        <a:t>O1</a:t>
                      </a:r>
                      <a:endParaRPr lang="en-US" sz="1300" dirty="0"/>
                    </a:p>
                  </a:txBody>
                  <a:tcPr marL="91440" marR="91440" marT="54864" marB="54864" anchor="ctr">
                    <a:lnL w="6350" cap="flat" cmpd="sng" algn="ctr">
                      <a:solidFill>
                        <a:srgbClr val="DCCFD4"/>
                      </a:solidFill>
                      <a:prstDash val="solid"/>
                      <a:round/>
                      <a:headEnd type="none" w="med" len="med"/>
                      <a:tailEnd type="none" w="med" len="med"/>
                    </a:lnL>
                    <a:lnR w="6350" cap="flat" cmpd="sng" algn="ctr">
                      <a:solidFill>
                        <a:srgbClr val="DCCFD4"/>
                      </a:solidFill>
                      <a:prstDash val="solid"/>
                      <a:round/>
                      <a:headEnd type="none" w="med" len="med"/>
                      <a:tailEnd type="none" w="med" len="med"/>
                    </a:lnR>
                    <a:lnT w="6350" cap="flat" cmpd="sng" algn="ctr">
                      <a:solidFill>
                        <a:srgbClr val="DCCFD4"/>
                      </a:solidFill>
                      <a:prstDash val="solid"/>
                      <a:round/>
                      <a:headEnd type="none" w="med" len="med"/>
                      <a:tailEnd type="none" w="med" len="med"/>
                    </a:lnT>
                    <a:lnB w="6350" cap="flat" cmpd="sng" algn="ctr">
                      <a:solidFill>
                        <a:srgbClr val="DCCFD4"/>
                      </a:solidFill>
                      <a:prstDash val="solid"/>
                      <a:round/>
                      <a:headEnd type="none" w="med" len="med"/>
                      <a:tailEnd type="none" w="med" len="med"/>
                    </a:lnB>
                    <a:solidFill>
                      <a:srgbClr val="FFFFFF"/>
                    </a:solidFill>
                  </a:tcPr>
                </a:tc>
                <a:tc>
                  <a:txBody>
                    <a:bodyPr/>
                    <a:lstStyle/>
                    <a:p>
                      <a:pPr indent="0" marL="0">
                        <a:buNone/>
                      </a:pPr>
                      <a:r>
                        <a:rPr lang="en-US" sz="1300" b="1" dirty="0">
                          <a:solidFill>
                            <a:srgbClr val="253122"/>
                          </a:solidFill>
                        </a:rPr>
                        <a:t>Measure procurement, storage and distribution performance</a:t>
                      </a:r>
                      <a:endParaRPr lang="en-US" sz="1300" dirty="0"/>
                    </a:p>
                  </a:txBody>
                  <a:tcPr marL="91440" marR="91440" marT="54864" marB="54864" anchor="ctr">
                    <a:lnL w="6350" cap="flat" cmpd="sng" algn="ctr">
                      <a:solidFill>
                        <a:srgbClr val="DCCFD4"/>
                      </a:solidFill>
                      <a:prstDash val="solid"/>
                      <a:round/>
                      <a:headEnd type="none" w="med" len="med"/>
                      <a:tailEnd type="none" w="med" len="med"/>
                    </a:lnL>
                    <a:lnR w="6350" cap="flat" cmpd="sng" algn="ctr">
                      <a:solidFill>
                        <a:srgbClr val="DCCFD4"/>
                      </a:solidFill>
                      <a:prstDash val="solid"/>
                      <a:round/>
                      <a:headEnd type="none" w="med" len="med"/>
                      <a:tailEnd type="none" w="med" len="med"/>
                    </a:lnR>
                    <a:lnT w="6350" cap="flat" cmpd="sng" algn="ctr">
                      <a:solidFill>
                        <a:srgbClr val="DCCFD4"/>
                      </a:solidFill>
                      <a:prstDash val="solid"/>
                      <a:round/>
                      <a:headEnd type="none" w="med" len="med"/>
                      <a:tailEnd type="none" w="med" len="med"/>
                    </a:lnT>
                    <a:lnB w="6350" cap="flat" cmpd="sng" algn="ctr">
                      <a:solidFill>
                        <a:srgbClr val="DCCFD4"/>
                      </a:solidFill>
                      <a:prstDash val="solid"/>
                      <a:round/>
                      <a:headEnd type="none" w="med" len="med"/>
                      <a:tailEnd type="none" w="med" len="med"/>
                    </a:lnB>
                    <a:solidFill>
                      <a:srgbClr val="FFFFFF"/>
                    </a:solidFill>
                  </a:tcPr>
                </a:tc>
                <a:tc>
                  <a:txBody>
                    <a:bodyPr/>
                    <a:lstStyle/>
                    <a:p>
                      <a:pPr indent="0" marL="0">
                        <a:buNone/>
                      </a:pPr>
                      <a:r>
                        <a:rPr lang="en-US" sz="1300" dirty="0">
                          <a:solidFill>
                            <a:srgbClr val="253122"/>
                          </a:solidFill>
                        </a:rPr>
                        <a:t>Volume (LMT), utilisation %, offtake</a:t>
                      </a:r>
                      <a:endParaRPr lang="en-US" sz="1300" dirty="0"/>
                    </a:p>
                  </a:txBody>
                  <a:tcPr marL="91440" marR="91440" marT="54864" marB="54864" anchor="ctr">
                    <a:lnL w="6350" cap="flat" cmpd="sng" algn="ctr">
                      <a:solidFill>
                        <a:srgbClr val="DCCFD4"/>
                      </a:solidFill>
                      <a:prstDash val="solid"/>
                      <a:round/>
                      <a:headEnd type="none" w="med" len="med"/>
                      <a:tailEnd type="none" w="med" len="med"/>
                    </a:lnL>
                    <a:lnR w="6350" cap="flat" cmpd="sng" algn="ctr">
                      <a:solidFill>
                        <a:srgbClr val="DCCFD4"/>
                      </a:solidFill>
                      <a:prstDash val="solid"/>
                      <a:round/>
                      <a:headEnd type="none" w="med" len="med"/>
                      <a:tailEnd type="none" w="med" len="med"/>
                    </a:lnR>
                    <a:lnT w="6350" cap="flat" cmpd="sng" algn="ctr">
                      <a:solidFill>
                        <a:srgbClr val="DCCFD4"/>
                      </a:solidFill>
                      <a:prstDash val="solid"/>
                      <a:round/>
                      <a:headEnd type="none" w="med" len="med"/>
                      <a:tailEnd type="none" w="med" len="med"/>
                    </a:lnT>
                    <a:lnB w="6350" cap="flat" cmpd="sng" algn="ctr">
                      <a:solidFill>
                        <a:srgbClr val="DCCFD4"/>
                      </a:solidFill>
                      <a:prstDash val="solid"/>
                      <a:round/>
                      <a:headEnd type="none" w="med" len="med"/>
                      <a:tailEnd type="none" w="med" len="med"/>
                    </a:lnB>
                    <a:solidFill>
                      <a:srgbClr val="FFFFFF"/>
                    </a:solidFill>
                  </a:tcPr>
                </a:tc>
                <a:tc>
                  <a:txBody>
                    <a:bodyPr/>
                    <a:lstStyle/>
                    <a:p>
                      <a:pPr indent="0" marL="0">
                        <a:buNone/>
                      </a:pPr>
                      <a:r>
                        <a:rPr lang="en-US" sz="1300" dirty="0">
                          <a:solidFill>
                            <a:srgbClr val="253122"/>
                          </a:solidFill>
                        </a:rPr>
                        <a:t>Is FCI using its capacity well?</a:t>
                      </a:r>
                      <a:endParaRPr lang="en-US" sz="1300" dirty="0"/>
                    </a:p>
                  </a:txBody>
                  <a:tcPr marL="91440" marR="91440" marT="54864" marB="54864" anchor="ctr">
                    <a:lnL w="6350" cap="flat" cmpd="sng" algn="ctr">
                      <a:solidFill>
                        <a:srgbClr val="DCCFD4"/>
                      </a:solidFill>
                      <a:prstDash val="solid"/>
                      <a:round/>
                      <a:headEnd type="none" w="med" len="med"/>
                      <a:tailEnd type="none" w="med" len="med"/>
                    </a:lnL>
                    <a:lnR w="6350" cap="flat" cmpd="sng" algn="ctr">
                      <a:solidFill>
                        <a:srgbClr val="DCCFD4"/>
                      </a:solidFill>
                      <a:prstDash val="solid"/>
                      <a:round/>
                      <a:headEnd type="none" w="med" len="med"/>
                      <a:tailEnd type="none" w="med" len="med"/>
                    </a:lnR>
                    <a:lnT w="6350" cap="flat" cmpd="sng" algn="ctr">
                      <a:solidFill>
                        <a:srgbClr val="DCCFD4"/>
                      </a:solidFill>
                      <a:prstDash val="solid"/>
                      <a:round/>
                      <a:headEnd type="none" w="med" len="med"/>
                      <a:tailEnd type="none" w="med" len="med"/>
                    </a:lnT>
                    <a:lnB w="6350" cap="flat" cmpd="sng" algn="ctr">
                      <a:solidFill>
                        <a:srgbClr val="DCCFD4"/>
                      </a:solidFill>
                      <a:prstDash val="solid"/>
                      <a:round/>
                      <a:headEnd type="none" w="med" len="med"/>
                      <a:tailEnd type="none" w="med" len="med"/>
                    </a:lnB>
                    <a:solidFill>
                      <a:srgbClr val="FFFFFF"/>
                    </a:solidFill>
                  </a:tcPr>
                </a:tc>
              </a:tr>
              <a:tr h="640080">
                <a:tc>
                  <a:txBody>
                    <a:bodyPr/>
                    <a:lstStyle/>
                    <a:p>
                      <a:pPr indent="0" marL="0">
                        <a:buNone/>
                      </a:pPr>
                      <a:r>
                        <a:rPr lang="en-US" sz="1300" b="1" dirty="0">
                          <a:solidFill>
                            <a:srgbClr val="A62C37"/>
                          </a:solidFill>
                        </a:rPr>
                        <a:t>O2</a:t>
                      </a:r>
                      <a:endParaRPr lang="en-US" sz="1300" dirty="0"/>
                    </a:p>
                  </a:txBody>
                  <a:tcPr marL="91440" marR="91440" marT="54864" marB="54864" anchor="ctr">
                    <a:lnL w="6350" cap="flat" cmpd="sng" algn="ctr">
                      <a:solidFill>
                        <a:srgbClr val="DCCFD4"/>
                      </a:solidFill>
                      <a:prstDash val="solid"/>
                      <a:round/>
                      <a:headEnd type="none" w="med" len="med"/>
                      <a:tailEnd type="none" w="med" len="med"/>
                    </a:lnL>
                    <a:lnR w="6350" cap="flat" cmpd="sng" algn="ctr">
                      <a:solidFill>
                        <a:srgbClr val="DCCFD4"/>
                      </a:solidFill>
                      <a:prstDash val="solid"/>
                      <a:round/>
                      <a:headEnd type="none" w="med" len="med"/>
                      <a:tailEnd type="none" w="med" len="med"/>
                    </a:lnR>
                    <a:lnT w="6350" cap="flat" cmpd="sng" algn="ctr">
                      <a:solidFill>
                        <a:srgbClr val="DCCFD4"/>
                      </a:solidFill>
                      <a:prstDash val="solid"/>
                      <a:round/>
                      <a:headEnd type="none" w="med" len="med"/>
                      <a:tailEnd type="none" w="med" len="med"/>
                    </a:lnT>
                    <a:lnB w="6350" cap="flat" cmpd="sng" algn="ctr">
                      <a:solidFill>
                        <a:srgbClr val="DCCFD4"/>
                      </a:solidFill>
                      <a:prstDash val="solid"/>
                      <a:round/>
                      <a:headEnd type="none" w="med" len="med"/>
                      <a:tailEnd type="none" w="med" len="med"/>
                    </a:lnB>
                    <a:solidFill>
                      <a:srgbClr val="F4EEF0"/>
                    </a:solidFill>
                  </a:tcPr>
                </a:tc>
                <a:tc>
                  <a:txBody>
                    <a:bodyPr/>
                    <a:lstStyle/>
                    <a:p>
                      <a:pPr indent="0" marL="0">
                        <a:buNone/>
                      </a:pPr>
                      <a:r>
                        <a:rPr lang="en-US" sz="1300" b="1" dirty="0">
                          <a:solidFill>
                            <a:srgbClr val="253122"/>
                          </a:solidFill>
                        </a:rPr>
                        <a:t>Evaluate financial performance</a:t>
                      </a:r>
                      <a:endParaRPr lang="en-US" sz="1300" dirty="0"/>
                    </a:p>
                  </a:txBody>
                  <a:tcPr marL="91440" marR="91440" marT="54864" marB="54864" anchor="ctr">
                    <a:lnL w="6350" cap="flat" cmpd="sng" algn="ctr">
                      <a:solidFill>
                        <a:srgbClr val="DCCFD4"/>
                      </a:solidFill>
                      <a:prstDash val="solid"/>
                      <a:round/>
                      <a:headEnd type="none" w="med" len="med"/>
                      <a:tailEnd type="none" w="med" len="med"/>
                    </a:lnL>
                    <a:lnR w="6350" cap="flat" cmpd="sng" algn="ctr">
                      <a:solidFill>
                        <a:srgbClr val="DCCFD4"/>
                      </a:solidFill>
                      <a:prstDash val="solid"/>
                      <a:round/>
                      <a:headEnd type="none" w="med" len="med"/>
                      <a:tailEnd type="none" w="med" len="med"/>
                    </a:lnR>
                    <a:lnT w="6350" cap="flat" cmpd="sng" algn="ctr">
                      <a:solidFill>
                        <a:srgbClr val="DCCFD4"/>
                      </a:solidFill>
                      <a:prstDash val="solid"/>
                      <a:round/>
                      <a:headEnd type="none" w="med" len="med"/>
                      <a:tailEnd type="none" w="med" len="med"/>
                    </a:lnT>
                    <a:lnB w="6350" cap="flat" cmpd="sng" algn="ctr">
                      <a:solidFill>
                        <a:srgbClr val="DCCFD4"/>
                      </a:solidFill>
                      <a:prstDash val="solid"/>
                      <a:round/>
                      <a:headEnd type="none" w="med" len="med"/>
                      <a:tailEnd type="none" w="med" len="med"/>
                    </a:lnB>
                    <a:solidFill>
                      <a:srgbClr val="F4EEF0"/>
                    </a:solidFill>
                  </a:tcPr>
                </a:tc>
                <a:tc>
                  <a:txBody>
                    <a:bodyPr/>
                    <a:lstStyle/>
                    <a:p>
                      <a:pPr indent="0" marL="0">
                        <a:buNone/>
                      </a:pPr>
                      <a:r>
                        <a:rPr lang="en-US" sz="1300" dirty="0">
                          <a:solidFill>
                            <a:srgbClr val="253122"/>
                          </a:solidFill>
                        </a:rPr>
                        <a:t>Subsidy required vs released, borrowings, cost CAGR</a:t>
                      </a:r>
                      <a:endParaRPr lang="en-US" sz="1300" dirty="0"/>
                    </a:p>
                  </a:txBody>
                  <a:tcPr marL="91440" marR="91440" marT="54864" marB="54864" anchor="ctr">
                    <a:lnL w="6350" cap="flat" cmpd="sng" algn="ctr">
                      <a:solidFill>
                        <a:srgbClr val="DCCFD4"/>
                      </a:solidFill>
                      <a:prstDash val="solid"/>
                      <a:round/>
                      <a:headEnd type="none" w="med" len="med"/>
                      <a:tailEnd type="none" w="med" len="med"/>
                    </a:lnL>
                    <a:lnR w="6350" cap="flat" cmpd="sng" algn="ctr">
                      <a:solidFill>
                        <a:srgbClr val="DCCFD4"/>
                      </a:solidFill>
                      <a:prstDash val="solid"/>
                      <a:round/>
                      <a:headEnd type="none" w="med" len="med"/>
                      <a:tailEnd type="none" w="med" len="med"/>
                    </a:lnR>
                    <a:lnT w="6350" cap="flat" cmpd="sng" algn="ctr">
                      <a:solidFill>
                        <a:srgbClr val="DCCFD4"/>
                      </a:solidFill>
                      <a:prstDash val="solid"/>
                      <a:round/>
                      <a:headEnd type="none" w="med" len="med"/>
                      <a:tailEnd type="none" w="med" len="med"/>
                    </a:lnT>
                    <a:lnB w="6350" cap="flat" cmpd="sng" algn="ctr">
                      <a:solidFill>
                        <a:srgbClr val="DCCFD4"/>
                      </a:solidFill>
                      <a:prstDash val="solid"/>
                      <a:round/>
                      <a:headEnd type="none" w="med" len="med"/>
                      <a:tailEnd type="none" w="med" len="med"/>
                    </a:lnB>
                    <a:solidFill>
                      <a:srgbClr val="F4EEF0"/>
                    </a:solidFill>
                  </a:tcPr>
                </a:tc>
                <a:tc>
                  <a:txBody>
                    <a:bodyPr/>
                    <a:lstStyle/>
                    <a:p>
                      <a:pPr indent="0" marL="0">
                        <a:buNone/>
                      </a:pPr>
                      <a:r>
                        <a:rPr lang="en-US" sz="1300" dirty="0">
                          <a:solidFill>
                            <a:srgbClr val="253122"/>
                          </a:solidFill>
                        </a:rPr>
                        <a:t>Is the cost burden rising?</a:t>
                      </a:r>
                      <a:endParaRPr lang="en-US" sz="1300" dirty="0"/>
                    </a:p>
                  </a:txBody>
                  <a:tcPr marL="91440" marR="91440" marT="54864" marB="54864" anchor="ctr">
                    <a:lnL w="6350" cap="flat" cmpd="sng" algn="ctr">
                      <a:solidFill>
                        <a:srgbClr val="DCCFD4"/>
                      </a:solidFill>
                      <a:prstDash val="solid"/>
                      <a:round/>
                      <a:headEnd type="none" w="med" len="med"/>
                      <a:tailEnd type="none" w="med" len="med"/>
                    </a:lnL>
                    <a:lnR w="6350" cap="flat" cmpd="sng" algn="ctr">
                      <a:solidFill>
                        <a:srgbClr val="DCCFD4"/>
                      </a:solidFill>
                      <a:prstDash val="solid"/>
                      <a:round/>
                      <a:headEnd type="none" w="med" len="med"/>
                      <a:tailEnd type="none" w="med" len="med"/>
                    </a:lnR>
                    <a:lnT w="6350" cap="flat" cmpd="sng" algn="ctr">
                      <a:solidFill>
                        <a:srgbClr val="DCCFD4"/>
                      </a:solidFill>
                      <a:prstDash val="solid"/>
                      <a:round/>
                      <a:headEnd type="none" w="med" len="med"/>
                      <a:tailEnd type="none" w="med" len="med"/>
                    </a:lnT>
                    <a:lnB w="6350" cap="flat" cmpd="sng" algn="ctr">
                      <a:solidFill>
                        <a:srgbClr val="DCCFD4"/>
                      </a:solidFill>
                      <a:prstDash val="solid"/>
                      <a:round/>
                      <a:headEnd type="none" w="med" len="med"/>
                      <a:tailEnd type="none" w="med" len="med"/>
                    </a:lnB>
                    <a:solidFill>
                      <a:srgbClr val="F4EEF0"/>
                    </a:solidFill>
                  </a:tcPr>
                </a:tc>
              </a:tr>
              <a:tr h="640080">
                <a:tc>
                  <a:txBody>
                    <a:bodyPr/>
                    <a:lstStyle/>
                    <a:p>
                      <a:pPr indent="0" marL="0">
                        <a:buNone/>
                      </a:pPr>
                      <a:r>
                        <a:rPr lang="en-US" sz="1300" b="1" dirty="0">
                          <a:solidFill>
                            <a:srgbClr val="A62C37"/>
                          </a:solidFill>
                        </a:rPr>
                        <a:t>O3</a:t>
                      </a:r>
                      <a:endParaRPr lang="en-US" sz="1300" dirty="0"/>
                    </a:p>
                  </a:txBody>
                  <a:tcPr marL="91440" marR="91440" marT="54864" marB="54864" anchor="ctr">
                    <a:lnL w="6350" cap="flat" cmpd="sng" algn="ctr">
                      <a:solidFill>
                        <a:srgbClr val="DCCFD4"/>
                      </a:solidFill>
                      <a:prstDash val="solid"/>
                      <a:round/>
                      <a:headEnd type="none" w="med" len="med"/>
                      <a:tailEnd type="none" w="med" len="med"/>
                    </a:lnL>
                    <a:lnR w="6350" cap="flat" cmpd="sng" algn="ctr">
                      <a:solidFill>
                        <a:srgbClr val="DCCFD4"/>
                      </a:solidFill>
                      <a:prstDash val="solid"/>
                      <a:round/>
                      <a:headEnd type="none" w="med" len="med"/>
                      <a:tailEnd type="none" w="med" len="med"/>
                    </a:lnR>
                    <a:lnT w="6350" cap="flat" cmpd="sng" algn="ctr">
                      <a:solidFill>
                        <a:srgbClr val="DCCFD4"/>
                      </a:solidFill>
                      <a:prstDash val="solid"/>
                      <a:round/>
                      <a:headEnd type="none" w="med" len="med"/>
                      <a:tailEnd type="none" w="med" len="med"/>
                    </a:lnT>
                    <a:lnB w="6350" cap="flat" cmpd="sng" algn="ctr">
                      <a:solidFill>
                        <a:srgbClr val="DCCFD4"/>
                      </a:solidFill>
                      <a:prstDash val="solid"/>
                      <a:round/>
                      <a:headEnd type="none" w="med" len="med"/>
                      <a:tailEnd type="none" w="med" len="med"/>
                    </a:lnB>
                    <a:solidFill>
                      <a:srgbClr val="FFFFFF"/>
                    </a:solidFill>
                  </a:tcPr>
                </a:tc>
                <a:tc>
                  <a:txBody>
                    <a:bodyPr/>
                    <a:lstStyle/>
                    <a:p>
                      <a:pPr indent="0" marL="0">
                        <a:buNone/>
                      </a:pPr>
                      <a:r>
                        <a:rPr lang="en-US" sz="1300" b="1" dirty="0">
                          <a:solidFill>
                            <a:srgbClr val="253122"/>
                          </a:solidFill>
                        </a:rPr>
                        <a:t>Identify operational gaps</a:t>
                      </a:r>
                      <a:endParaRPr lang="en-US" sz="1300" dirty="0"/>
                    </a:p>
                  </a:txBody>
                  <a:tcPr marL="91440" marR="91440" marT="54864" marB="54864" anchor="ctr">
                    <a:lnL w="6350" cap="flat" cmpd="sng" algn="ctr">
                      <a:solidFill>
                        <a:srgbClr val="DCCFD4"/>
                      </a:solidFill>
                      <a:prstDash val="solid"/>
                      <a:round/>
                      <a:headEnd type="none" w="med" len="med"/>
                      <a:tailEnd type="none" w="med" len="med"/>
                    </a:lnL>
                    <a:lnR w="6350" cap="flat" cmpd="sng" algn="ctr">
                      <a:solidFill>
                        <a:srgbClr val="DCCFD4"/>
                      </a:solidFill>
                      <a:prstDash val="solid"/>
                      <a:round/>
                      <a:headEnd type="none" w="med" len="med"/>
                      <a:tailEnd type="none" w="med" len="med"/>
                    </a:lnR>
                    <a:lnT w="6350" cap="flat" cmpd="sng" algn="ctr">
                      <a:solidFill>
                        <a:srgbClr val="DCCFD4"/>
                      </a:solidFill>
                      <a:prstDash val="solid"/>
                      <a:round/>
                      <a:headEnd type="none" w="med" len="med"/>
                      <a:tailEnd type="none" w="med" len="med"/>
                    </a:lnT>
                    <a:lnB w="6350" cap="flat" cmpd="sng" algn="ctr">
                      <a:solidFill>
                        <a:srgbClr val="DCCFD4"/>
                      </a:solidFill>
                      <a:prstDash val="solid"/>
                      <a:round/>
                      <a:headEnd type="none" w="med" len="med"/>
                      <a:tailEnd type="none" w="med" len="med"/>
                    </a:lnB>
                    <a:solidFill>
                      <a:srgbClr val="FFFFFF"/>
                    </a:solidFill>
                  </a:tcPr>
                </a:tc>
                <a:tc>
                  <a:txBody>
                    <a:bodyPr/>
                    <a:lstStyle/>
                    <a:p>
                      <a:pPr indent="0" marL="0">
                        <a:buNone/>
                      </a:pPr>
                      <a:r>
                        <a:rPr lang="en-US" sz="1300" dirty="0">
                          <a:solidFill>
                            <a:srgbClr val="253122"/>
                          </a:solidFill>
                        </a:rPr>
                        <a:t>Transit loss %, demurrage ₹/MT, buffer vs norm</a:t>
                      </a:r>
                      <a:endParaRPr lang="en-US" sz="1300" dirty="0"/>
                    </a:p>
                  </a:txBody>
                  <a:tcPr marL="91440" marR="91440" marT="54864" marB="54864" anchor="ctr">
                    <a:lnL w="6350" cap="flat" cmpd="sng" algn="ctr">
                      <a:solidFill>
                        <a:srgbClr val="DCCFD4"/>
                      </a:solidFill>
                      <a:prstDash val="solid"/>
                      <a:round/>
                      <a:headEnd type="none" w="med" len="med"/>
                      <a:tailEnd type="none" w="med" len="med"/>
                    </a:lnL>
                    <a:lnR w="6350" cap="flat" cmpd="sng" algn="ctr">
                      <a:solidFill>
                        <a:srgbClr val="DCCFD4"/>
                      </a:solidFill>
                      <a:prstDash val="solid"/>
                      <a:round/>
                      <a:headEnd type="none" w="med" len="med"/>
                      <a:tailEnd type="none" w="med" len="med"/>
                    </a:lnR>
                    <a:lnT w="6350" cap="flat" cmpd="sng" algn="ctr">
                      <a:solidFill>
                        <a:srgbClr val="DCCFD4"/>
                      </a:solidFill>
                      <a:prstDash val="solid"/>
                      <a:round/>
                      <a:headEnd type="none" w="med" len="med"/>
                      <a:tailEnd type="none" w="med" len="med"/>
                    </a:lnT>
                    <a:lnB w="6350" cap="flat" cmpd="sng" algn="ctr">
                      <a:solidFill>
                        <a:srgbClr val="DCCFD4"/>
                      </a:solidFill>
                      <a:prstDash val="solid"/>
                      <a:round/>
                      <a:headEnd type="none" w="med" len="med"/>
                      <a:tailEnd type="none" w="med" len="med"/>
                    </a:lnB>
                    <a:solidFill>
                      <a:srgbClr val="FFFFFF"/>
                    </a:solidFill>
                  </a:tcPr>
                </a:tc>
                <a:tc>
                  <a:txBody>
                    <a:bodyPr/>
                    <a:lstStyle/>
                    <a:p>
                      <a:pPr indent="0" marL="0">
                        <a:buNone/>
                      </a:pPr>
                      <a:r>
                        <a:rPr lang="en-US" sz="1300" dirty="0">
                          <a:solidFill>
                            <a:srgbClr val="253122"/>
                          </a:solidFill>
                        </a:rPr>
                        <a:t>Where is efficiency lost?</a:t>
                      </a:r>
                      <a:endParaRPr lang="en-US" sz="1300" dirty="0"/>
                    </a:p>
                  </a:txBody>
                  <a:tcPr marL="91440" marR="91440" marT="54864" marB="54864" anchor="ctr">
                    <a:lnL w="6350" cap="flat" cmpd="sng" algn="ctr">
                      <a:solidFill>
                        <a:srgbClr val="DCCFD4"/>
                      </a:solidFill>
                      <a:prstDash val="solid"/>
                      <a:round/>
                      <a:headEnd type="none" w="med" len="med"/>
                      <a:tailEnd type="none" w="med" len="med"/>
                    </a:lnL>
                    <a:lnR w="6350" cap="flat" cmpd="sng" algn="ctr">
                      <a:solidFill>
                        <a:srgbClr val="DCCFD4"/>
                      </a:solidFill>
                      <a:prstDash val="solid"/>
                      <a:round/>
                      <a:headEnd type="none" w="med" len="med"/>
                      <a:tailEnd type="none" w="med" len="med"/>
                    </a:lnR>
                    <a:lnT w="6350" cap="flat" cmpd="sng" algn="ctr">
                      <a:solidFill>
                        <a:srgbClr val="DCCFD4"/>
                      </a:solidFill>
                      <a:prstDash val="solid"/>
                      <a:round/>
                      <a:headEnd type="none" w="med" len="med"/>
                      <a:tailEnd type="none" w="med" len="med"/>
                    </a:lnT>
                    <a:lnB w="6350" cap="flat" cmpd="sng" algn="ctr">
                      <a:solidFill>
                        <a:srgbClr val="DCCFD4"/>
                      </a:solidFill>
                      <a:prstDash val="solid"/>
                      <a:round/>
                      <a:headEnd type="none" w="med" len="med"/>
                      <a:tailEnd type="none" w="med" len="med"/>
                    </a:lnB>
                    <a:solidFill>
                      <a:srgbClr val="FFFFFF"/>
                    </a:solidFill>
                  </a:tcPr>
                </a:tc>
              </a:tr>
              <a:tr h="640080">
                <a:tc>
                  <a:txBody>
                    <a:bodyPr/>
                    <a:lstStyle/>
                    <a:p>
                      <a:pPr indent="0" marL="0">
                        <a:buNone/>
                      </a:pPr>
                      <a:r>
                        <a:rPr lang="en-US" sz="1300" b="1" dirty="0">
                          <a:solidFill>
                            <a:srgbClr val="A62C37"/>
                          </a:solidFill>
                        </a:rPr>
                        <a:t>O4</a:t>
                      </a:r>
                      <a:endParaRPr lang="en-US" sz="1300" dirty="0"/>
                    </a:p>
                  </a:txBody>
                  <a:tcPr marL="91440" marR="91440" marT="54864" marB="54864" anchor="ctr">
                    <a:lnL w="6350" cap="flat" cmpd="sng" algn="ctr">
                      <a:solidFill>
                        <a:srgbClr val="DCCFD4"/>
                      </a:solidFill>
                      <a:prstDash val="solid"/>
                      <a:round/>
                      <a:headEnd type="none" w="med" len="med"/>
                      <a:tailEnd type="none" w="med" len="med"/>
                    </a:lnL>
                    <a:lnR w="6350" cap="flat" cmpd="sng" algn="ctr">
                      <a:solidFill>
                        <a:srgbClr val="DCCFD4"/>
                      </a:solidFill>
                      <a:prstDash val="solid"/>
                      <a:round/>
                      <a:headEnd type="none" w="med" len="med"/>
                      <a:tailEnd type="none" w="med" len="med"/>
                    </a:lnR>
                    <a:lnT w="6350" cap="flat" cmpd="sng" algn="ctr">
                      <a:solidFill>
                        <a:srgbClr val="DCCFD4"/>
                      </a:solidFill>
                      <a:prstDash val="solid"/>
                      <a:round/>
                      <a:headEnd type="none" w="med" len="med"/>
                      <a:tailEnd type="none" w="med" len="med"/>
                    </a:lnT>
                    <a:lnB w="6350" cap="flat" cmpd="sng" algn="ctr">
                      <a:solidFill>
                        <a:srgbClr val="DCCFD4"/>
                      </a:solidFill>
                      <a:prstDash val="solid"/>
                      <a:round/>
                      <a:headEnd type="none" w="med" len="med"/>
                      <a:tailEnd type="none" w="med" len="med"/>
                    </a:lnB>
                    <a:solidFill>
                      <a:srgbClr val="F4EEF0"/>
                    </a:solidFill>
                  </a:tcPr>
                </a:tc>
                <a:tc>
                  <a:txBody>
                    <a:bodyPr/>
                    <a:lstStyle/>
                    <a:p>
                      <a:pPr indent="0" marL="0">
                        <a:buNone/>
                      </a:pPr>
                      <a:r>
                        <a:rPr lang="en-US" sz="1300" b="1" dirty="0">
                          <a:solidFill>
                            <a:srgbClr val="253122"/>
                          </a:solidFill>
                        </a:rPr>
                        <a:t>Compare post-COVID with pre-COVID (2019-20)</a:t>
                      </a:r>
                      <a:endParaRPr lang="en-US" sz="1300" dirty="0"/>
                    </a:p>
                  </a:txBody>
                  <a:tcPr marL="91440" marR="91440" marT="54864" marB="54864" anchor="ctr">
                    <a:lnL w="6350" cap="flat" cmpd="sng" algn="ctr">
                      <a:solidFill>
                        <a:srgbClr val="DCCFD4"/>
                      </a:solidFill>
                      <a:prstDash val="solid"/>
                      <a:round/>
                      <a:headEnd type="none" w="med" len="med"/>
                      <a:tailEnd type="none" w="med" len="med"/>
                    </a:lnL>
                    <a:lnR w="6350" cap="flat" cmpd="sng" algn="ctr">
                      <a:solidFill>
                        <a:srgbClr val="DCCFD4"/>
                      </a:solidFill>
                      <a:prstDash val="solid"/>
                      <a:round/>
                      <a:headEnd type="none" w="med" len="med"/>
                      <a:tailEnd type="none" w="med" len="med"/>
                    </a:lnR>
                    <a:lnT w="6350" cap="flat" cmpd="sng" algn="ctr">
                      <a:solidFill>
                        <a:srgbClr val="DCCFD4"/>
                      </a:solidFill>
                      <a:prstDash val="solid"/>
                      <a:round/>
                      <a:headEnd type="none" w="med" len="med"/>
                      <a:tailEnd type="none" w="med" len="med"/>
                    </a:lnT>
                    <a:lnB w="6350" cap="flat" cmpd="sng" algn="ctr">
                      <a:solidFill>
                        <a:srgbClr val="DCCFD4"/>
                      </a:solidFill>
                      <a:prstDash val="solid"/>
                      <a:round/>
                      <a:headEnd type="none" w="med" len="med"/>
                      <a:tailEnd type="none" w="med" len="med"/>
                    </a:lnB>
                    <a:solidFill>
                      <a:srgbClr val="F4EEF0"/>
                    </a:solidFill>
                  </a:tcPr>
                </a:tc>
                <a:tc>
                  <a:txBody>
                    <a:bodyPr/>
                    <a:lstStyle/>
                    <a:p>
                      <a:pPr indent="0" marL="0">
                        <a:buNone/>
                      </a:pPr>
                      <a:r>
                        <a:rPr lang="en-US" sz="1300" dirty="0">
                          <a:solidFill>
                            <a:srgbClr val="253122"/>
                          </a:solidFill>
                        </a:rPr>
                        <a:t>% change on selected KPIs</a:t>
                      </a:r>
                      <a:endParaRPr lang="en-US" sz="1300" dirty="0"/>
                    </a:p>
                  </a:txBody>
                  <a:tcPr marL="91440" marR="91440" marT="54864" marB="54864" anchor="ctr">
                    <a:lnL w="6350" cap="flat" cmpd="sng" algn="ctr">
                      <a:solidFill>
                        <a:srgbClr val="DCCFD4"/>
                      </a:solidFill>
                      <a:prstDash val="solid"/>
                      <a:round/>
                      <a:headEnd type="none" w="med" len="med"/>
                      <a:tailEnd type="none" w="med" len="med"/>
                    </a:lnL>
                    <a:lnR w="6350" cap="flat" cmpd="sng" algn="ctr">
                      <a:solidFill>
                        <a:srgbClr val="DCCFD4"/>
                      </a:solidFill>
                      <a:prstDash val="solid"/>
                      <a:round/>
                      <a:headEnd type="none" w="med" len="med"/>
                      <a:tailEnd type="none" w="med" len="med"/>
                    </a:lnR>
                    <a:lnT w="6350" cap="flat" cmpd="sng" algn="ctr">
                      <a:solidFill>
                        <a:srgbClr val="DCCFD4"/>
                      </a:solidFill>
                      <a:prstDash val="solid"/>
                      <a:round/>
                      <a:headEnd type="none" w="med" len="med"/>
                      <a:tailEnd type="none" w="med" len="med"/>
                    </a:lnT>
                    <a:lnB w="6350" cap="flat" cmpd="sng" algn="ctr">
                      <a:solidFill>
                        <a:srgbClr val="DCCFD4"/>
                      </a:solidFill>
                      <a:prstDash val="solid"/>
                      <a:round/>
                      <a:headEnd type="none" w="med" len="med"/>
                      <a:tailEnd type="none" w="med" len="med"/>
                    </a:lnB>
                    <a:solidFill>
                      <a:srgbClr val="F4EEF0"/>
                    </a:solidFill>
                  </a:tcPr>
                </a:tc>
                <a:tc>
                  <a:txBody>
                    <a:bodyPr/>
                    <a:lstStyle/>
                    <a:p>
                      <a:pPr indent="0" marL="0">
                        <a:buNone/>
                      </a:pPr>
                      <a:r>
                        <a:rPr lang="en-US" sz="1300" dirty="0">
                          <a:solidFill>
                            <a:srgbClr val="253122"/>
                          </a:solidFill>
                        </a:rPr>
                        <a:t>Is the change structural or COVID-driven?</a:t>
                      </a:r>
                      <a:endParaRPr lang="en-US" sz="1300" dirty="0"/>
                    </a:p>
                  </a:txBody>
                  <a:tcPr marL="91440" marR="91440" marT="54864" marB="54864" anchor="ctr">
                    <a:lnL w="6350" cap="flat" cmpd="sng" algn="ctr">
                      <a:solidFill>
                        <a:srgbClr val="DCCFD4"/>
                      </a:solidFill>
                      <a:prstDash val="solid"/>
                      <a:round/>
                      <a:headEnd type="none" w="med" len="med"/>
                      <a:tailEnd type="none" w="med" len="med"/>
                    </a:lnL>
                    <a:lnR w="6350" cap="flat" cmpd="sng" algn="ctr">
                      <a:solidFill>
                        <a:srgbClr val="DCCFD4"/>
                      </a:solidFill>
                      <a:prstDash val="solid"/>
                      <a:round/>
                      <a:headEnd type="none" w="med" len="med"/>
                      <a:tailEnd type="none" w="med" len="med"/>
                    </a:lnR>
                    <a:lnT w="6350" cap="flat" cmpd="sng" algn="ctr">
                      <a:solidFill>
                        <a:srgbClr val="DCCFD4"/>
                      </a:solidFill>
                      <a:prstDash val="solid"/>
                      <a:round/>
                      <a:headEnd type="none" w="med" len="med"/>
                      <a:tailEnd type="none" w="med" len="med"/>
                    </a:lnT>
                    <a:lnB w="6350" cap="flat" cmpd="sng" algn="ctr">
                      <a:solidFill>
                        <a:srgbClr val="DCCFD4"/>
                      </a:solidFill>
                      <a:prstDash val="solid"/>
                      <a:round/>
                      <a:headEnd type="none" w="med" len="med"/>
                      <a:tailEnd type="none" w="med" len="med"/>
                    </a:lnB>
                    <a:solidFill>
                      <a:srgbClr val="F4EEF0"/>
                    </a:solidFill>
                  </a:tcPr>
                </a:tc>
              </a:tr>
              <a:tr h="640080">
                <a:tc>
                  <a:txBody>
                    <a:bodyPr/>
                    <a:lstStyle/>
                    <a:p>
                      <a:pPr indent="0" marL="0">
                        <a:buNone/>
                      </a:pPr>
                      <a:r>
                        <a:rPr lang="en-US" sz="1300" b="1" dirty="0">
                          <a:solidFill>
                            <a:srgbClr val="A62C37"/>
                          </a:solidFill>
                        </a:rPr>
                        <a:t>O5</a:t>
                      </a:r>
                      <a:endParaRPr lang="en-US" sz="1300" dirty="0"/>
                    </a:p>
                  </a:txBody>
                  <a:tcPr marL="91440" marR="91440" marT="54864" marB="54864" anchor="ctr">
                    <a:lnL w="6350" cap="flat" cmpd="sng" algn="ctr">
                      <a:solidFill>
                        <a:srgbClr val="DCCFD4"/>
                      </a:solidFill>
                      <a:prstDash val="solid"/>
                      <a:round/>
                      <a:headEnd type="none" w="med" len="med"/>
                      <a:tailEnd type="none" w="med" len="med"/>
                    </a:lnL>
                    <a:lnR w="6350" cap="flat" cmpd="sng" algn="ctr">
                      <a:solidFill>
                        <a:srgbClr val="DCCFD4"/>
                      </a:solidFill>
                      <a:prstDash val="solid"/>
                      <a:round/>
                      <a:headEnd type="none" w="med" len="med"/>
                      <a:tailEnd type="none" w="med" len="med"/>
                    </a:lnR>
                    <a:lnT w="6350" cap="flat" cmpd="sng" algn="ctr">
                      <a:solidFill>
                        <a:srgbClr val="DCCFD4"/>
                      </a:solidFill>
                      <a:prstDash val="solid"/>
                      <a:round/>
                      <a:headEnd type="none" w="med" len="med"/>
                      <a:tailEnd type="none" w="med" len="med"/>
                    </a:lnT>
                    <a:lnB w="6350" cap="flat" cmpd="sng" algn="ctr">
                      <a:solidFill>
                        <a:srgbClr val="DCCFD4"/>
                      </a:solidFill>
                      <a:prstDash val="solid"/>
                      <a:round/>
                      <a:headEnd type="none" w="med" len="med"/>
                      <a:tailEnd type="none" w="med" len="med"/>
                    </a:lnB>
                    <a:solidFill>
                      <a:srgbClr val="FFFFFF"/>
                    </a:solidFill>
                  </a:tcPr>
                </a:tc>
                <a:tc>
                  <a:txBody>
                    <a:bodyPr/>
                    <a:lstStyle/>
                    <a:p>
                      <a:pPr indent="0" marL="0">
                        <a:buNone/>
                      </a:pPr>
                      <a:r>
                        <a:rPr lang="en-US" sz="1300" b="1" dirty="0">
                          <a:solidFill>
                            <a:srgbClr val="253122"/>
                          </a:solidFill>
                        </a:rPr>
                        <a:t>Recommend data-based improvements</a:t>
                      </a:r>
                      <a:endParaRPr lang="en-US" sz="1300" dirty="0"/>
                    </a:p>
                  </a:txBody>
                  <a:tcPr marL="91440" marR="91440" marT="54864" marB="54864" anchor="ctr">
                    <a:lnL w="6350" cap="flat" cmpd="sng" algn="ctr">
                      <a:solidFill>
                        <a:srgbClr val="DCCFD4"/>
                      </a:solidFill>
                      <a:prstDash val="solid"/>
                      <a:round/>
                      <a:headEnd type="none" w="med" len="med"/>
                      <a:tailEnd type="none" w="med" len="med"/>
                    </a:lnL>
                    <a:lnR w="6350" cap="flat" cmpd="sng" algn="ctr">
                      <a:solidFill>
                        <a:srgbClr val="DCCFD4"/>
                      </a:solidFill>
                      <a:prstDash val="solid"/>
                      <a:round/>
                      <a:headEnd type="none" w="med" len="med"/>
                      <a:tailEnd type="none" w="med" len="med"/>
                    </a:lnR>
                    <a:lnT w="6350" cap="flat" cmpd="sng" algn="ctr">
                      <a:solidFill>
                        <a:srgbClr val="DCCFD4"/>
                      </a:solidFill>
                      <a:prstDash val="solid"/>
                      <a:round/>
                      <a:headEnd type="none" w="med" len="med"/>
                      <a:tailEnd type="none" w="med" len="med"/>
                    </a:lnT>
                    <a:lnB w="6350" cap="flat" cmpd="sng" algn="ctr">
                      <a:solidFill>
                        <a:srgbClr val="DCCFD4"/>
                      </a:solidFill>
                      <a:prstDash val="solid"/>
                      <a:round/>
                      <a:headEnd type="none" w="med" len="med"/>
                      <a:tailEnd type="none" w="med" len="med"/>
                    </a:lnB>
                    <a:solidFill>
                      <a:srgbClr val="FFFFFF"/>
                    </a:solidFill>
                  </a:tcPr>
                </a:tc>
                <a:tc>
                  <a:txBody>
                    <a:bodyPr/>
                    <a:lstStyle/>
                    <a:p>
                      <a:pPr indent="0" marL="0">
                        <a:buNone/>
                      </a:pPr>
                      <a:r>
                        <a:rPr lang="en-US" sz="1300" dirty="0">
                          <a:solidFill>
                            <a:srgbClr val="253122"/>
                          </a:solidFill>
                        </a:rPr>
                        <a:t>Gaps found in O1–O4</a:t>
                      </a:r>
                      <a:endParaRPr lang="en-US" sz="1300" dirty="0"/>
                    </a:p>
                  </a:txBody>
                  <a:tcPr marL="91440" marR="91440" marT="54864" marB="54864" anchor="ctr">
                    <a:lnL w="6350" cap="flat" cmpd="sng" algn="ctr">
                      <a:solidFill>
                        <a:srgbClr val="DCCFD4"/>
                      </a:solidFill>
                      <a:prstDash val="solid"/>
                      <a:round/>
                      <a:headEnd type="none" w="med" len="med"/>
                      <a:tailEnd type="none" w="med" len="med"/>
                    </a:lnL>
                    <a:lnR w="6350" cap="flat" cmpd="sng" algn="ctr">
                      <a:solidFill>
                        <a:srgbClr val="DCCFD4"/>
                      </a:solidFill>
                      <a:prstDash val="solid"/>
                      <a:round/>
                      <a:headEnd type="none" w="med" len="med"/>
                      <a:tailEnd type="none" w="med" len="med"/>
                    </a:lnR>
                    <a:lnT w="6350" cap="flat" cmpd="sng" algn="ctr">
                      <a:solidFill>
                        <a:srgbClr val="DCCFD4"/>
                      </a:solidFill>
                      <a:prstDash val="solid"/>
                      <a:round/>
                      <a:headEnd type="none" w="med" len="med"/>
                      <a:tailEnd type="none" w="med" len="med"/>
                    </a:lnT>
                    <a:lnB w="6350" cap="flat" cmpd="sng" algn="ctr">
                      <a:solidFill>
                        <a:srgbClr val="DCCFD4"/>
                      </a:solidFill>
                      <a:prstDash val="solid"/>
                      <a:round/>
                      <a:headEnd type="none" w="med" len="med"/>
                      <a:tailEnd type="none" w="med" len="med"/>
                    </a:lnB>
                    <a:solidFill>
                      <a:srgbClr val="FFFFFF"/>
                    </a:solidFill>
                  </a:tcPr>
                </a:tc>
                <a:tc>
                  <a:txBody>
                    <a:bodyPr/>
                    <a:lstStyle/>
                    <a:p>
                      <a:pPr indent="0" marL="0">
                        <a:buNone/>
                      </a:pPr>
                      <a:r>
                        <a:rPr lang="en-US" sz="1300" dirty="0">
                          <a:solidFill>
                            <a:srgbClr val="253122"/>
                          </a:solidFill>
                        </a:rPr>
                        <a:t>What should FCI change?</a:t>
                      </a:r>
                      <a:endParaRPr lang="en-US" sz="1300" dirty="0"/>
                    </a:p>
                  </a:txBody>
                  <a:tcPr marL="91440" marR="91440" marT="54864" marB="54864" anchor="ctr">
                    <a:lnL w="6350" cap="flat" cmpd="sng" algn="ctr">
                      <a:solidFill>
                        <a:srgbClr val="DCCFD4"/>
                      </a:solidFill>
                      <a:prstDash val="solid"/>
                      <a:round/>
                      <a:headEnd type="none" w="med" len="med"/>
                      <a:tailEnd type="none" w="med" len="med"/>
                    </a:lnL>
                    <a:lnR w="6350" cap="flat" cmpd="sng" algn="ctr">
                      <a:solidFill>
                        <a:srgbClr val="DCCFD4"/>
                      </a:solidFill>
                      <a:prstDash val="solid"/>
                      <a:round/>
                      <a:headEnd type="none" w="med" len="med"/>
                      <a:tailEnd type="none" w="med" len="med"/>
                    </a:lnR>
                    <a:lnT w="6350" cap="flat" cmpd="sng" algn="ctr">
                      <a:solidFill>
                        <a:srgbClr val="DCCFD4"/>
                      </a:solidFill>
                      <a:prstDash val="solid"/>
                      <a:round/>
                      <a:headEnd type="none" w="med" len="med"/>
                      <a:tailEnd type="none" w="med" len="med"/>
                    </a:lnT>
                    <a:lnB w="6350" cap="flat" cmpd="sng" algn="ctr">
                      <a:solidFill>
                        <a:srgbClr val="DCCFD4"/>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5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halo"/>
          <p:cNvSpPr/>
          <p:nvPr/>
        </p:nvSpPr>
        <p:spPr>
          <a:xfrm>
            <a:off x="-2194560" y="4480560"/>
            <a:ext cx="4206240" cy="4206240"/>
          </a:xfrm>
          <a:prstGeom prst="ellipse">
            <a:avLst/>
          </a:prstGeom>
          <a:solidFill>
            <a:srgbClr val="004F46">
              <a:alpha val="12000"/>
            </a:srgbClr>
          </a:solidFill>
          <a:ln w="12700">
            <a:solidFill>
              <a:srgbClr val="004F46">
                <a:alpha val="0"/>
              </a:srgbClr>
            </a:solidFill>
            <a:prstDash val="solid"/>
          </a:ln>
        </p:spPr>
      </p:sp>
      <p:sp>
        <p:nvSpPr>
          <p:cNvPr id="3"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Research Gap and Proposed Contribution</a:t>
            </a:r>
            <a:endParaRPr lang="en-US" sz="3200" dirty="0"/>
          </a:p>
        </p:txBody>
      </p:sp>
      <p:sp>
        <p:nvSpPr>
          <p:cNvPr id="4" name="!!orb"/>
          <p:cNvSpPr/>
          <p:nvPr/>
        </p:nvSpPr>
        <p:spPr>
          <a:xfrm>
            <a:off x="10957255" y="347472"/>
            <a:ext cx="685800" cy="685800"/>
          </a:xfrm>
          <a:prstGeom prst="ellipse">
            <a:avLst/>
          </a:prstGeom>
          <a:solidFill>
            <a:srgbClr val="FCB315"/>
          </a:solidFill>
          <a:ln w="12700">
            <a:solidFill>
              <a:srgbClr val="FCB315"/>
            </a:solidFill>
            <a:prstDash val="solid"/>
          </a:ln>
        </p:spPr>
      </p:sp>
      <p:pic>
        <p:nvPicPr>
          <p:cNvPr id="5" name="!!orbicon" descr="preencoded.png">    </p:cNvPr>
          <p:cNvPicPr>
            <a:picLocks noChangeAspect="1"/>
          </p:cNvPicPr>
          <p:nvPr/>
        </p:nvPicPr>
        <p:blipFill>
          <a:blip r:embed="rId1"/>
          <a:stretch>
            <a:fillRect/>
          </a:stretch>
        </p:blipFill>
        <p:spPr>
          <a:xfrm>
            <a:off x="11130991" y="521208"/>
            <a:ext cx="338328" cy="338328"/>
          </a:xfrm>
          <a:prstGeom prst="rect">
            <a:avLst/>
          </a:prstGeom>
        </p:spPr>
      </p:pic>
      <p:sp>
        <p:nvSpPr>
          <p:cNvPr id="6" name="!!card1"/>
          <p:cNvSpPr/>
          <p:nvPr/>
        </p:nvSpPr>
        <p:spPr>
          <a:xfrm>
            <a:off x="548640" y="1280160"/>
            <a:ext cx="3502152" cy="4800600"/>
          </a:xfrm>
          <a:prstGeom prst="roundRect">
            <a:avLst>
              <a:gd name="adj" fmla="val 2089"/>
            </a:avLst>
          </a:prstGeom>
          <a:solidFill>
            <a:srgbClr val="EFEAEC"/>
          </a:solidFill>
          <a:ln w="12700">
            <a:solidFill>
              <a:srgbClr val="EFEAEC"/>
            </a:solidFill>
            <a:prstDash val="solid"/>
          </a:ln>
        </p:spPr>
      </p:sp>
      <p:sp>
        <p:nvSpPr>
          <p:cNvPr id="7" name="Gap 1 circle"/>
          <p:cNvSpPr/>
          <p:nvPr/>
        </p:nvSpPr>
        <p:spPr>
          <a:xfrm>
            <a:off x="822960" y="1508760"/>
            <a:ext cx="731520" cy="731520"/>
          </a:xfrm>
          <a:prstGeom prst="ellipse">
            <a:avLst/>
          </a:prstGeom>
          <a:solidFill>
            <a:srgbClr val="A62C37"/>
          </a:solidFill>
          <a:ln w="12700">
            <a:solidFill>
              <a:srgbClr val="A62C37"/>
            </a:solidFill>
            <a:prstDash val="solid"/>
          </a:ln>
        </p:spPr>
      </p:sp>
      <p:pic>
        <p:nvPicPr>
          <p:cNvPr id="8" name="Gap 1 icon" descr="preencoded.png">    </p:cNvPr>
          <p:cNvPicPr>
            <a:picLocks noChangeAspect="1"/>
          </p:cNvPicPr>
          <p:nvPr/>
        </p:nvPicPr>
        <p:blipFill>
          <a:blip r:embed="rId2"/>
          <a:stretch>
            <a:fillRect/>
          </a:stretch>
        </p:blipFill>
        <p:spPr>
          <a:xfrm>
            <a:off x="1005840" y="1691640"/>
            <a:ext cx="365760" cy="365760"/>
          </a:xfrm>
          <a:prstGeom prst="rect">
            <a:avLst/>
          </a:prstGeom>
        </p:spPr>
      </p:pic>
      <p:sp>
        <p:nvSpPr>
          <p:cNvPr id="9" name="Text 5"/>
          <p:cNvSpPr txBox="1"/>
          <p:nvPr/>
        </p:nvSpPr>
        <p:spPr>
          <a:xfrm>
            <a:off x="1691640" y="1600200"/>
            <a:ext cx="2130552" cy="548640"/>
          </a:xfrm>
          <a:prstGeom prst="rect">
            <a:avLst/>
          </a:prstGeom>
          <a:noFill/>
          <a:ln/>
        </p:spPr>
        <p:txBody>
          <a:bodyPr wrap="square" lIns="0" tIns="0" rIns="0" bIns="0" rtlCol="0" anchor="ctr"/>
          <a:lstStyle/>
          <a:p>
            <a:pPr indent="0" marL="0">
              <a:buNone/>
            </a:pPr>
            <a:r>
              <a:rPr lang="en-US" sz="2000" b="1" dirty="0">
                <a:solidFill>
                  <a:srgbClr val="A62C37"/>
                </a:solidFill>
                <a:latin typeface="Cambria" pitchFamily="34" charset="0"/>
                <a:ea typeface="Cambria" pitchFamily="34" charset="-122"/>
                <a:cs typeface="Cambria" pitchFamily="34" charset="-120"/>
              </a:rPr>
              <a:t>Time gap</a:t>
            </a:r>
            <a:endParaRPr lang="en-US" sz="2000" dirty="0"/>
          </a:p>
        </p:txBody>
      </p:sp>
      <p:sp>
        <p:nvSpPr>
          <p:cNvPr id="10" name="Text 6"/>
          <p:cNvSpPr txBox="1"/>
          <p:nvPr/>
        </p:nvSpPr>
        <p:spPr>
          <a:xfrm>
            <a:off x="822960" y="2468880"/>
            <a:ext cx="2953512" cy="320040"/>
          </a:xfrm>
          <a:prstGeom prst="rect">
            <a:avLst/>
          </a:prstGeom>
          <a:noFill/>
          <a:ln/>
        </p:spPr>
        <p:txBody>
          <a:bodyPr wrap="square" lIns="0" tIns="0" rIns="0" bIns="0" rtlCol="0" anchor="t"/>
          <a:lstStyle/>
          <a:p>
            <a:pPr indent="0" marL="0">
              <a:buNone/>
            </a:pPr>
            <a:r>
              <a:rPr lang="en-US" sz="1200" b="1" dirty="0">
                <a:solidFill>
                  <a:srgbClr val="635A3A"/>
                </a:solidFill>
                <a:latin typeface="Calibri" pitchFamily="34" charset="0"/>
                <a:ea typeface="Calibri" pitchFamily="34" charset="-122"/>
                <a:cs typeface="Calibri" pitchFamily="34" charset="-120"/>
              </a:rPr>
              <a:t>What is missing</a:t>
            </a:r>
            <a:endParaRPr lang="en-US" sz="1200" dirty="0"/>
          </a:p>
        </p:txBody>
      </p:sp>
      <p:sp>
        <p:nvSpPr>
          <p:cNvPr id="11" name="Text 7"/>
          <p:cNvSpPr txBox="1"/>
          <p:nvPr/>
        </p:nvSpPr>
        <p:spPr>
          <a:xfrm>
            <a:off x="822960" y="2788920"/>
            <a:ext cx="2953512" cy="1280160"/>
          </a:xfrm>
          <a:prstGeom prst="rect">
            <a:avLst/>
          </a:prstGeom>
          <a:noFill/>
          <a:ln/>
        </p:spPr>
        <p:txBody>
          <a:bodyPr wrap="square" lIns="0" tIns="0" rIns="0" bIns="0" rtlCol="0" anchor="t"/>
          <a:lstStyle/>
          <a:p>
            <a:pPr indent="0" marL="0">
              <a:buNone/>
            </a:pPr>
            <a:r>
              <a:rPr lang="en-US" sz="1500" dirty="0">
                <a:solidFill>
                  <a:srgbClr val="253122"/>
                </a:solidFill>
                <a:latin typeface="Calibri" pitchFamily="34" charset="0"/>
                <a:ea typeface="Calibri" pitchFamily="34" charset="-122"/>
                <a:cs typeface="Calibri" pitchFamily="34" charset="-120"/>
              </a:rPr>
              <a:t>Studies reviewed end by 2021-22; none covers 2022-23 to 2024-25 against a 2019-20 baseline</a:t>
            </a:r>
            <a:endParaRPr lang="en-US" sz="1500" dirty="0"/>
          </a:p>
        </p:txBody>
      </p:sp>
      <p:sp>
        <p:nvSpPr>
          <p:cNvPr id="12" name="Text 8"/>
          <p:cNvSpPr txBox="1"/>
          <p:nvPr/>
        </p:nvSpPr>
        <p:spPr>
          <a:xfrm>
            <a:off x="822960" y="4206240"/>
            <a:ext cx="2953512" cy="320040"/>
          </a:xfrm>
          <a:prstGeom prst="rect">
            <a:avLst/>
          </a:prstGeom>
          <a:noFill/>
          <a:ln/>
        </p:spPr>
        <p:txBody>
          <a:bodyPr wrap="square" lIns="0" tIns="0" rIns="0" bIns="0" rtlCol="0" anchor="t"/>
          <a:lstStyle/>
          <a:p>
            <a:pPr indent="0" marL="0">
              <a:buNone/>
            </a:pPr>
            <a:r>
              <a:rPr lang="en-US" sz="1200" b="1" dirty="0">
                <a:solidFill>
                  <a:srgbClr val="A62C37"/>
                </a:solidFill>
                <a:latin typeface="Calibri" pitchFamily="34" charset="0"/>
                <a:ea typeface="Calibri" pitchFamily="34" charset="-122"/>
                <a:cs typeface="Calibri" pitchFamily="34" charset="-120"/>
              </a:rPr>
              <a:t>This project</a:t>
            </a:r>
            <a:endParaRPr lang="en-US" sz="1200" dirty="0"/>
          </a:p>
        </p:txBody>
      </p:sp>
      <p:sp>
        <p:nvSpPr>
          <p:cNvPr id="13" name="Text 9"/>
          <p:cNvSpPr txBox="1"/>
          <p:nvPr/>
        </p:nvSpPr>
        <p:spPr>
          <a:xfrm>
            <a:off x="822960" y="4526280"/>
            <a:ext cx="2953512" cy="1280160"/>
          </a:xfrm>
          <a:prstGeom prst="rect">
            <a:avLst/>
          </a:prstGeom>
          <a:noFill/>
          <a:ln/>
        </p:spPr>
        <p:txBody>
          <a:bodyPr wrap="square" lIns="0" tIns="0" rIns="0" bIns="0" rtlCol="0" anchor="t"/>
          <a:lstStyle/>
          <a:p>
            <a:pPr indent="0" marL="0">
              <a:buNone/>
            </a:pPr>
            <a:r>
              <a:rPr lang="en-US" sz="1500" b="1" dirty="0">
                <a:solidFill>
                  <a:srgbClr val="253122"/>
                </a:solidFill>
                <a:latin typeface="Calibri" pitchFamily="34" charset="0"/>
                <a:ea typeface="Calibri" pitchFamily="34" charset="-122"/>
                <a:cs typeface="Calibri" pitchFamily="34" charset="-120"/>
              </a:rPr>
              <a:t>Covers 2022-23 to 2024-25 and compares with 2019-20</a:t>
            </a:r>
            <a:endParaRPr lang="en-US" sz="1500" dirty="0"/>
          </a:p>
        </p:txBody>
      </p:sp>
      <p:sp>
        <p:nvSpPr>
          <p:cNvPr id="14" name="!!card2"/>
          <p:cNvSpPr/>
          <p:nvPr/>
        </p:nvSpPr>
        <p:spPr>
          <a:xfrm>
            <a:off x="4325112" y="1280160"/>
            <a:ext cx="3502152" cy="4800600"/>
          </a:xfrm>
          <a:prstGeom prst="roundRect">
            <a:avLst>
              <a:gd name="adj" fmla="val 2089"/>
            </a:avLst>
          </a:prstGeom>
          <a:solidFill>
            <a:srgbClr val="FEF0D0"/>
          </a:solidFill>
          <a:ln w="12700">
            <a:solidFill>
              <a:srgbClr val="FEF0D0"/>
            </a:solidFill>
            <a:prstDash val="solid"/>
          </a:ln>
        </p:spPr>
      </p:sp>
      <p:sp>
        <p:nvSpPr>
          <p:cNvPr id="15" name="Gap 2 circle"/>
          <p:cNvSpPr/>
          <p:nvPr/>
        </p:nvSpPr>
        <p:spPr>
          <a:xfrm>
            <a:off x="4599432" y="1508760"/>
            <a:ext cx="731520" cy="731520"/>
          </a:xfrm>
          <a:prstGeom prst="ellipse">
            <a:avLst/>
          </a:prstGeom>
          <a:solidFill>
            <a:srgbClr val="004F46"/>
          </a:solidFill>
          <a:ln w="12700">
            <a:solidFill>
              <a:srgbClr val="004F46"/>
            </a:solidFill>
            <a:prstDash val="solid"/>
          </a:ln>
        </p:spPr>
      </p:sp>
      <p:pic>
        <p:nvPicPr>
          <p:cNvPr id="16" name="Gap 2 icon" descr="preencoded.png">    </p:cNvPr>
          <p:cNvPicPr>
            <a:picLocks noChangeAspect="1"/>
          </p:cNvPicPr>
          <p:nvPr/>
        </p:nvPicPr>
        <p:blipFill>
          <a:blip r:embed="rId3"/>
          <a:stretch>
            <a:fillRect/>
          </a:stretch>
        </p:blipFill>
        <p:spPr>
          <a:xfrm>
            <a:off x="4782312" y="1691640"/>
            <a:ext cx="365760" cy="365760"/>
          </a:xfrm>
          <a:prstGeom prst="rect">
            <a:avLst/>
          </a:prstGeom>
        </p:spPr>
      </p:pic>
      <p:sp>
        <p:nvSpPr>
          <p:cNvPr id="17" name="Text 12"/>
          <p:cNvSpPr txBox="1"/>
          <p:nvPr/>
        </p:nvSpPr>
        <p:spPr>
          <a:xfrm>
            <a:off x="5468112" y="1600200"/>
            <a:ext cx="2130552" cy="548640"/>
          </a:xfrm>
          <a:prstGeom prst="rect">
            <a:avLst/>
          </a:prstGeom>
          <a:noFill/>
          <a:ln/>
        </p:spPr>
        <p:txBody>
          <a:bodyPr wrap="square" lIns="0" tIns="0" rIns="0" bIns="0" rtlCol="0" anchor="ctr"/>
          <a:lstStyle/>
          <a:p>
            <a:pPr indent="0" marL="0">
              <a:buNone/>
            </a:pPr>
            <a:r>
              <a:rPr lang="en-US" sz="2000" b="1" dirty="0">
                <a:solidFill>
                  <a:srgbClr val="004F46"/>
                </a:solidFill>
                <a:latin typeface="Cambria" pitchFamily="34" charset="0"/>
                <a:ea typeface="Cambria" pitchFamily="34" charset="-122"/>
                <a:cs typeface="Cambria" pitchFamily="34" charset="-120"/>
              </a:rPr>
              <a:t>Regional gap</a:t>
            </a:r>
            <a:endParaRPr lang="en-US" sz="2000" dirty="0"/>
          </a:p>
        </p:txBody>
      </p:sp>
      <p:sp>
        <p:nvSpPr>
          <p:cNvPr id="18" name="Text 13"/>
          <p:cNvSpPr txBox="1"/>
          <p:nvPr/>
        </p:nvSpPr>
        <p:spPr>
          <a:xfrm>
            <a:off x="4599432" y="2468880"/>
            <a:ext cx="2953512" cy="320040"/>
          </a:xfrm>
          <a:prstGeom prst="rect">
            <a:avLst/>
          </a:prstGeom>
          <a:noFill/>
          <a:ln/>
        </p:spPr>
        <p:txBody>
          <a:bodyPr wrap="square" lIns="0" tIns="0" rIns="0" bIns="0" rtlCol="0" anchor="t"/>
          <a:lstStyle/>
          <a:p>
            <a:pPr indent="0" marL="0">
              <a:buNone/>
            </a:pPr>
            <a:r>
              <a:rPr lang="en-US" sz="1200" b="1" dirty="0">
                <a:solidFill>
                  <a:srgbClr val="635A3A"/>
                </a:solidFill>
                <a:latin typeface="Calibri" pitchFamily="34" charset="0"/>
                <a:ea typeface="Calibri" pitchFamily="34" charset="-122"/>
                <a:cs typeface="Calibri" pitchFamily="34" charset="-120"/>
              </a:rPr>
              <a:t>What is missing</a:t>
            </a:r>
            <a:endParaRPr lang="en-US" sz="1200" dirty="0"/>
          </a:p>
        </p:txBody>
      </p:sp>
      <p:sp>
        <p:nvSpPr>
          <p:cNvPr id="19" name="Text 14"/>
          <p:cNvSpPr txBox="1"/>
          <p:nvPr/>
        </p:nvSpPr>
        <p:spPr>
          <a:xfrm>
            <a:off x="4599432" y="2788920"/>
            <a:ext cx="2953512" cy="1280160"/>
          </a:xfrm>
          <a:prstGeom prst="rect">
            <a:avLst/>
          </a:prstGeom>
          <a:noFill/>
          <a:ln/>
        </p:spPr>
        <p:txBody>
          <a:bodyPr wrap="square" lIns="0" tIns="0" rIns="0" bIns="0" rtlCol="0" anchor="t"/>
          <a:lstStyle/>
          <a:p>
            <a:pPr indent="0" marL="0">
              <a:buNone/>
            </a:pPr>
            <a:r>
              <a:rPr lang="en-US" sz="1500" dirty="0">
                <a:solidFill>
                  <a:srgbClr val="253122"/>
                </a:solidFill>
                <a:latin typeface="Calibri" pitchFamily="34" charset="0"/>
                <a:ea typeface="Calibri" pitchFamily="34" charset="-122"/>
                <a:cs typeface="Calibri" pitchFamily="34" charset="-120"/>
              </a:rPr>
              <a:t>Studies are national or procurement-focused; none examines Gujarat</a:t>
            </a:r>
            <a:endParaRPr lang="en-US" sz="1500" dirty="0"/>
          </a:p>
        </p:txBody>
      </p:sp>
      <p:sp>
        <p:nvSpPr>
          <p:cNvPr id="20" name="Text 15"/>
          <p:cNvSpPr txBox="1"/>
          <p:nvPr/>
        </p:nvSpPr>
        <p:spPr>
          <a:xfrm>
            <a:off x="4599432" y="4206240"/>
            <a:ext cx="2953512" cy="320040"/>
          </a:xfrm>
          <a:prstGeom prst="rect">
            <a:avLst/>
          </a:prstGeom>
          <a:noFill/>
          <a:ln/>
        </p:spPr>
        <p:txBody>
          <a:bodyPr wrap="square" lIns="0" tIns="0" rIns="0" bIns="0" rtlCol="0" anchor="t"/>
          <a:lstStyle/>
          <a:p>
            <a:pPr indent="0" marL="0">
              <a:buNone/>
            </a:pPr>
            <a:r>
              <a:rPr lang="en-US" sz="1200" b="1" dirty="0">
                <a:solidFill>
                  <a:srgbClr val="004F46"/>
                </a:solidFill>
                <a:latin typeface="Calibri" pitchFamily="34" charset="0"/>
                <a:ea typeface="Calibri" pitchFamily="34" charset="-122"/>
                <a:cs typeface="Calibri" pitchFamily="34" charset="-120"/>
              </a:rPr>
              <a:t>This project</a:t>
            </a:r>
            <a:endParaRPr lang="en-US" sz="1200" dirty="0"/>
          </a:p>
        </p:txBody>
      </p:sp>
      <p:sp>
        <p:nvSpPr>
          <p:cNvPr id="21" name="Text 16"/>
          <p:cNvSpPr txBox="1"/>
          <p:nvPr/>
        </p:nvSpPr>
        <p:spPr>
          <a:xfrm>
            <a:off x="4599432" y="4526280"/>
            <a:ext cx="2953512" cy="1280160"/>
          </a:xfrm>
          <a:prstGeom prst="rect">
            <a:avLst/>
          </a:prstGeom>
          <a:noFill/>
          <a:ln/>
        </p:spPr>
        <p:txBody>
          <a:bodyPr wrap="square" lIns="0" tIns="0" rIns="0" bIns="0" rtlCol="0" anchor="t"/>
          <a:lstStyle/>
          <a:p>
            <a:pPr indent="0" marL="0">
              <a:buNone/>
            </a:pPr>
            <a:r>
              <a:rPr lang="en-US" sz="1500" b="1" dirty="0">
                <a:solidFill>
                  <a:srgbClr val="253122"/>
                </a:solidFill>
                <a:latin typeface="Calibri" pitchFamily="34" charset="0"/>
                <a:ea typeface="Calibri" pitchFamily="34" charset="-122"/>
                <a:cs typeface="Calibri" pitchFamily="34" charset="-120"/>
              </a:rPr>
              <a:t>Analyses FCI Gujarat Region’s storage and distribution</a:t>
            </a:r>
            <a:endParaRPr lang="en-US" sz="1500" dirty="0"/>
          </a:p>
        </p:txBody>
      </p:sp>
      <p:sp>
        <p:nvSpPr>
          <p:cNvPr id="22" name="!!card3"/>
          <p:cNvSpPr/>
          <p:nvPr/>
        </p:nvSpPr>
        <p:spPr>
          <a:xfrm>
            <a:off x="8101584" y="1280160"/>
            <a:ext cx="3502152" cy="4800600"/>
          </a:xfrm>
          <a:prstGeom prst="roundRect">
            <a:avLst>
              <a:gd name="adj" fmla="val 2089"/>
            </a:avLst>
          </a:prstGeom>
          <a:solidFill>
            <a:srgbClr val="EFEAEC"/>
          </a:solidFill>
          <a:ln w="12700">
            <a:solidFill>
              <a:srgbClr val="EFEAEC"/>
            </a:solidFill>
            <a:prstDash val="solid"/>
          </a:ln>
        </p:spPr>
      </p:sp>
      <p:sp>
        <p:nvSpPr>
          <p:cNvPr id="23" name="Gap 3 circle"/>
          <p:cNvSpPr/>
          <p:nvPr/>
        </p:nvSpPr>
        <p:spPr>
          <a:xfrm>
            <a:off x="8375904" y="1508760"/>
            <a:ext cx="731520" cy="731520"/>
          </a:xfrm>
          <a:prstGeom prst="ellipse">
            <a:avLst/>
          </a:prstGeom>
          <a:solidFill>
            <a:srgbClr val="986F2D"/>
          </a:solidFill>
          <a:ln w="12700">
            <a:solidFill>
              <a:srgbClr val="986F2D"/>
            </a:solidFill>
            <a:prstDash val="solid"/>
          </a:ln>
        </p:spPr>
      </p:sp>
      <p:pic>
        <p:nvPicPr>
          <p:cNvPr id="24" name="Gap 3 icon" descr="preencoded.png">    </p:cNvPr>
          <p:cNvPicPr>
            <a:picLocks noChangeAspect="1"/>
          </p:cNvPicPr>
          <p:nvPr/>
        </p:nvPicPr>
        <p:blipFill>
          <a:blip r:embed="rId4"/>
          <a:stretch>
            <a:fillRect/>
          </a:stretch>
        </p:blipFill>
        <p:spPr>
          <a:xfrm>
            <a:off x="8558784" y="1691640"/>
            <a:ext cx="365760" cy="365760"/>
          </a:xfrm>
          <a:prstGeom prst="rect">
            <a:avLst/>
          </a:prstGeom>
        </p:spPr>
      </p:pic>
      <p:sp>
        <p:nvSpPr>
          <p:cNvPr id="25" name="Text 19"/>
          <p:cNvSpPr txBox="1"/>
          <p:nvPr/>
        </p:nvSpPr>
        <p:spPr>
          <a:xfrm>
            <a:off x="9244584" y="1600200"/>
            <a:ext cx="2130552" cy="548640"/>
          </a:xfrm>
          <a:prstGeom prst="rect">
            <a:avLst/>
          </a:prstGeom>
          <a:noFill/>
          <a:ln/>
        </p:spPr>
        <p:txBody>
          <a:bodyPr wrap="square" lIns="0" tIns="0" rIns="0" bIns="0" rtlCol="0" anchor="ctr"/>
          <a:lstStyle/>
          <a:p>
            <a:pPr indent="0" marL="0">
              <a:buNone/>
            </a:pPr>
            <a:r>
              <a:rPr lang="en-US" sz="2000" b="1" dirty="0">
                <a:solidFill>
                  <a:srgbClr val="986F2D"/>
                </a:solidFill>
                <a:latin typeface="Cambria" pitchFamily="34" charset="0"/>
                <a:ea typeface="Cambria" pitchFamily="34" charset="-122"/>
                <a:cs typeface="Cambria" pitchFamily="34" charset="-120"/>
              </a:rPr>
              <a:t>Method gap</a:t>
            </a:r>
            <a:endParaRPr lang="en-US" sz="2000" dirty="0"/>
          </a:p>
        </p:txBody>
      </p:sp>
      <p:sp>
        <p:nvSpPr>
          <p:cNvPr id="26" name="Text 20"/>
          <p:cNvSpPr txBox="1"/>
          <p:nvPr/>
        </p:nvSpPr>
        <p:spPr>
          <a:xfrm>
            <a:off x="8375904" y="2468880"/>
            <a:ext cx="2953512" cy="320040"/>
          </a:xfrm>
          <a:prstGeom prst="rect">
            <a:avLst/>
          </a:prstGeom>
          <a:noFill/>
          <a:ln/>
        </p:spPr>
        <p:txBody>
          <a:bodyPr wrap="square" lIns="0" tIns="0" rIns="0" bIns="0" rtlCol="0" anchor="t"/>
          <a:lstStyle/>
          <a:p>
            <a:pPr indent="0" marL="0">
              <a:buNone/>
            </a:pPr>
            <a:r>
              <a:rPr lang="en-US" sz="1200" b="1" dirty="0">
                <a:solidFill>
                  <a:srgbClr val="635A3A"/>
                </a:solidFill>
                <a:latin typeface="Calibri" pitchFamily="34" charset="0"/>
                <a:ea typeface="Calibri" pitchFamily="34" charset="-122"/>
                <a:cs typeface="Calibri" pitchFamily="34" charset="-120"/>
              </a:rPr>
              <a:t>What is missing</a:t>
            </a:r>
            <a:endParaRPr lang="en-US" sz="1200" dirty="0"/>
          </a:p>
        </p:txBody>
      </p:sp>
      <p:sp>
        <p:nvSpPr>
          <p:cNvPr id="27" name="Text 21"/>
          <p:cNvSpPr txBox="1"/>
          <p:nvPr/>
        </p:nvSpPr>
        <p:spPr>
          <a:xfrm>
            <a:off x="8375904" y="2788920"/>
            <a:ext cx="2953512" cy="1280160"/>
          </a:xfrm>
          <a:prstGeom prst="rect">
            <a:avLst/>
          </a:prstGeom>
          <a:noFill/>
          <a:ln/>
        </p:spPr>
        <p:txBody>
          <a:bodyPr wrap="square" lIns="0" tIns="0" rIns="0" bIns="0" rtlCol="0" anchor="t"/>
          <a:lstStyle/>
          <a:p>
            <a:pPr indent="0" marL="0">
              <a:buNone/>
            </a:pPr>
            <a:r>
              <a:rPr lang="en-US" sz="1500" dirty="0">
                <a:solidFill>
                  <a:srgbClr val="253122"/>
                </a:solidFill>
                <a:latin typeface="Calibri" pitchFamily="34" charset="0"/>
                <a:ea typeface="Calibri" pitchFamily="34" charset="-122"/>
                <a:cs typeface="Calibri" pitchFamily="34" charset="-120"/>
              </a:rPr>
              <a:t>Audits and descriptive reviews; no consistent indicator set</a:t>
            </a:r>
            <a:endParaRPr lang="en-US" sz="1500" dirty="0"/>
          </a:p>
        </p:txBody>
      </p:sp>
      <p:sp>
        <p:nvSpPr>
          <p:cNvPr id="28" name="Text 22"/>
          <p:cNvSpPr txBox="1"/>
          <p:nvPr/>
        </p:nvSpPr>
        <p:spPr>
          <a:xfrm>
            <a:off x="8375904" y="4206240"/>
            <a:ext cx="2953512" cy="320040"/>
          </a:xfrm>
          <a:prstGeom prst="rect">
            <a:avLst/>
          </a:prstGeom>
          <a:noFill/>
          <a:ln/>
        </p:spPr>
        <p:txBody>
          <a:bodyPr wrap="square" lIns="0" tIns="0" rIns="0" bIns="0" rtlCol="0" anchor="t"/>
          <a:lstStyle/>
          <a:p>
            <a:pPr indent="0" marL="0">
              <a:buNone/>
            </a:pPr>
            <a:r>
              <a:rPr lang="en-US" sz="1200" b="1" dirty="0">
                <a:solidFill>
                  <a:srgbClr val="986F2D"/>
                </a:solidFill>
                <a:latin typeface="Calibri" pitchFamily="34" charset="0"/>
                <a:ea typeface="Calibri" pitchFamily="34" charset="-122"/>
                <a:cs typeface="Calibri" pitchFamily="34" charset="-120"/>
              </a:rPr>
              <a:t>This project</a:t>
            </a:r>
            <a:endParaRPr lang="en-US" sz="1200" dirty="0"/>
          </a:p>
        </p:txBody>
      </p:sp>
      <p:sp>
        <p:nvSpPr>
          <p:cNvPr id="29" name="Text 23"/>
          <p:cNvSpPr txBox="1"/>
          <p:nvPr/>
        </p:nvSpPr>
        <p:spPr>
          <a:xfrm>
            <a:off x="8375904" y="4526280"/>
            <a:ext cx="2953512" cy="1280160"/>
          </a:xfrm>
          <a:prstGeom prst="rect">
            <a:avLst/>
          </a:prstGeom>
          <a:noFill/>
          <a:ln/>
        </p:spPr>
        <p:txBody>
          <a:bodyPr wrap="square" lIns="0" tIns="0" rIns="0" bIns="0" rtlCol="0" anchor="t"/>
          <a:lstStyle/>
          <a:p>
            <a:pPr indent="0" marL="0">
              <a:buNone/>
            </a:pPr>
            <a:r>
              <a:rPr lang="en-US" sz="1500" b="1" dirty="0">
                <a:solidFill>
                  <a:srgbClr val="253122"/>
                </a:solidFill>
                <a:latin typeface="Calibri" pitchFamily="34" charset="0"/>
                <a:ea typeface="Calibri" pitchFamily="34" charset="-122"/>
                <a:cs typeface="Calibri" pitchFamily="34" charset="-120"/>
              </a:rPr>
              <a:t>One KPI framework across five performance areas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5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halo"/>
          <p:cNvSpPr/>
          <p:nvPr/>
        </p:nvSpPr>
        <p:spPr>
          <a:xfrm>
            <a:off x="9692640" y="4572000"/>
            <a:ext cx="4023360" cy="4023360"/>
          </a:xfrm>
          <a:prstGeom prst="ellipse">
            <a:avLst/>
          </a:prstGeom>
          <a:solidFill>
            <a:srgbClr val="00B49B">
              <a:alpha val="14000"/>
            </a:srgbClr>
          </a:solidFill>
          <a:ln w="12700">
            <a:solidFill>
              <a:srgbClr val="00B49B">
                <a:alpha val="0"/>
              </a:srgbClr>
            </a:solidFill>
            <a:prstDash val="solid"/>
          </a:ln>
        </p:spPr>
      </p:sp>
      <p:sp>
        <p:nvSpPr>
          <p:cNvPr id="3"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Proposed Methodology</a:t>
            </a:r>
            <a:endParaRPr lang="en-US" sz="3200" dirty="0"/>
          </a:p>
        </p:txBody>
      </p:sp>
      <p:sp>
        <p:nvSpPr>
          <p:cNvPr id="4" name="!!orb"/>
          <p:cNvSpPr/>
          <p:nvPr/>
        </p:nvSpPr>
        <p:spPr>
          <a:xfrm>
            <a:off x="10957255" y="347472"/>
            <a:ext cx="685800" cy="685800"/>
          </a:xfrm>
          <a:prstGeom prst="ellipse">
            <a:avLst/>
          </a:prstGeom>
          <a:solidFill>
            <a:srgbClr val="00B49B"/>
          </a:solidFill>
          <a:ln w="12700">
            <a:solidFill>
              <a:srgbClr val="00B49B"/>
            </a:solidFill>
            <a:prstDash val="solid"/>
          </a:ln>
        </p:spPr>
      </p:sp>
      <p:pic>
        <p:nvPicPr>
          <p:cNvPr id="5" name="!!orbicon" descr="preencoded.png">    </p:cNvPr>
          <p:cNvPicPr>
            <a:picLocks noChangeAspect="1"/>
          </p:cNvPicPr>
          <p:nvPr/>
        </p:nvPicPr>
        <p:blipFill>
          <a:blip r:embed="rId1"/>
          <a:stretch>
            <a:fillRect/>
          </a:stretch>
        </p:blipFill>
        <p:spPr>
          <a:xfrm>
            <a:off x="11130991" y="521208"/>
            <a:ext cx="338328" cy="338328"/>
          </a:xfrm>
          <a:prstGeom prst="rect">
            <a:avLst/>
          </a:prstGeom>
        </p:spPr>
      </p:pic>
      <p:sp>
        <p:nvSpPr>
          <p:cNvPr id="6" name="!!card1"/>
          <p:cNvSpPr/>
          <p:nvPr/>
        </p:nvSpPr>
        <p:spPr>
          <a:xfrm>
            <a:off x="548640" y="1325880"/>
            <a:ext cx="1965960" cy="2514600"/>
          </a:xfrm>
          <a:prstGeom prst="roundRect">
            <a:avLst>
              <a:gd name="adj" fmla="val 3721"/>
            </a:avLst>
          </a:prstGeom>
          <a:solidFill>
            <a:srgbClr val="FFF9D1"/>
          </a:solidFill>
          <a:ln w="12700">
            <a:solidFill>
              <a:srgbClr val="FFF9D1"/>
            </a:solidFill>
            <a:prstDash val="solid"/>
          </a:ln>
        </p:spPr>
      </p:sp>
      <p:sp>
        <p:nvSpPr>
          <p:cNvPr id="7" name="Step 1 circle"/>
          <p:cNvSpPr/>
          <p:nvPr/>
        </p:nvSpPr>
        <p:spPr>
          <a:xfrm>
            <a:off x="1165860" y="1508760"/>
            <a:ext cx="731520" cy="731520"/>
          </a:xfrm>
          <a:prstGeom prst="ellipse">
            <a:avLst/>
          </a:prstGeom>
          <a:solidFill>
            <a:srgbClr val="004F46"/>
          </a:solidFill>
          <a:ln w="12700">
            <a:solidFill>
              <a:srgbClr val="004F46"/>
            </a:solidFill>
            <a:prstDash val="solid"/>
          </a:ln>
        </p:spPr>
      </p:sp>
      <p:pic>
        <p:nvPicPr>
          <p:cNvPr id="8" name="Step 1 icon" descr="preencoded.png">    </p:cNvPr>
          <p:cNvPicPr>
            <a:picLocks noChangeAspect="1"/>
          </p:cNvPicPr>
          <p:nvPr/>
        </p:nvPicPr>
        <p:blipFill>
          <a:blip r:embed="rId2"/>
          <a:stretch>
            <a:fillRect/>
          </a:stretch>
        </p:blipFill>
        <p:spPr>
          <a:xfrm>
            <a:off x="1348740" y="1691640"/>
            <a:ext cx="365760" cy="365760"/>
          </a:xfrm>
          <a:prstGeom prst="rect">
            <a:avLst/>
          </a:prstGeom>
        </p:spPr>
      </p:pic>
      <p:sp>
        <p:nvSpPr>
          <p:cNvPr id="9" name="Text 5"/>
          <p:cNvSpPr txBox="1"/>
          <p:nvPr/>
        </p:nvSpPr>
        <p:spPr>
          <a:xfrm>
            <a:off x="640080" y="2377440"/>
            <a:ext cx="1783080" cy="411480"/>
          </a:xfrm>
          <a:prstGeom prst="rect">
            <a:avLst/>
          </a:prstGeom>
          <a:noFill/>
          <a:ln/>
        </p:spPr>
        <p:txBody>
          <a:bodyPr wrap="square" lIns="0" tIns="0" rIns="0" bIns="0" rtlCol="0" anchor="t"/>
          <a:lstStyle/>
          <a:p>
            <a:pPr algn="ctr" indent="0" marL="0">
              <a:buNone/>
            </a:pPr>
            <a:r>
              <a:rPr lang="en-US" sz="1700" b="1" dirty="0">
                <a:solidFill>
                  <a:srgbClr val="004F46"/>
                </a:solidFill>
                <a:latin typeface="Cambria" pitchFamily="34" charset="0"/>
                <a:ea typeface="Cambria" pitchFamily="34" charset="-122"/>
                <a:cs typeface="Cambria" pitchFamily="34" charset="-120"/>
              </a:rPr>
              <a:t>1. Collect</a:t>
            </a:r>
            <a:endParaRPr lang="en-US" sz="1700" dirty="0"/>
          </a:p>
        </p:txBody>
      </p:sp>
      <p:sp>
        <p:nvSpPr>
          <p:cNvPr id="10" name="Text 6"/>
          <p:cNvSpPr txBox="1"/>
          <p:nvPr/>
        </p:nvSpPr>
        <p:spPr>
          <a:xfrm>
            <a:off x="685800" y="2788920"/>
            <a:ext cx="1691640" cy="960120"/>
          </a:xfrm>
          <a:prstGeom prst="rect">
            <a:avLst/>
          </a:prstGeom>
          <a:noFill/>
          <a:ln/>
        </p:spPr>
        <p:txBody>
          <a:bodyPr wrap="square" lIns="0" tIns="0" rIns="0" bIns="0" rtlCol="0" anchor="t"/>
          <a:lstStyle/>
          <a:p>
            <a:pPr algn="ctr" indent="0" marL="0">
              <a:buNone/>
            </a:pPr>
            <a:r>
              <a:rPr lang="en-US" sz="1300" dirty="0">
                <a:solidFill>
                  <a:srgbClr val="253122"/>
                </a:solidFill>
                <a:latin typeface="Calibri" pitchFamily="34" charset="0"/>
                <a:ea typeface="Calibri" pitchFamily="34" charset="-122"/>
                <a:cs typeface="Calibri" pitchFamily="34" charset="-120"/>
              </a:rPr>
              <a:t>FCI Annual Reports 2019-20 to 2024-25</a:t>
            </a:r>
            <a:endParaRPr lang="en-US" sz="1300" dirty="0"/>
          </a:p>
        </p:txBody>
      </p:sp>
      <p:sp>
        <p:nvSpPr>
          <p:cNvPr id="11" name="Arrow 1"/>
          <p:cNvSpPr/>
          <p:nvPr/>
        </p:nvSpPr>
        <p:spPr>
          <a:xfrm>
            <a:off x="2569464" y="2423160"/>
            <a:ext cx="228600" cy="320040"/>
          </a:xfrm>
          <a:prstGeom prst="rightArrow">
            <a:avLst/>
          </a:prstGeom>
          <a:solidFill>
            <a:srgbClr val="E2625E"/>
          </a:solidFill>
          <a:ln w="12700">
            <a:solidFill>
              <a:srgbClr val="E2625E"/>
            </a:solidFill>
            <a:prstDash val="solid"/>
          </a:ln>
        </p:spPr>
      </p:sp>
      <p:sp>
        <p:nvSpPr>
          <p:cNvPr id="12" name="!!card2"/>
          <p:cNvSpPr/>
          <p:nvPr/>
        </p:nvSpPr>
        <p:spPr>
          <a:xfrm>
            <a:off x="2852928" y="1325880"/>
            <a:ext cx="1965960" cy="2514600"/>
          </a:xfrm>
          <a:prstGeom prst="roundRect">
            <a:avLst>
              <a:gd name="adj" fmla="val 3721"/>
            </a:avLst>
          </a:prstGeom>
          <a:solidFill>
            <a:srgbClr val="D9F4F0"/>
          </a:solidFill>
          <a:ln w="12700">
            <a:solidFill>
              <a:srgbClr val="D9F4F0"/>
            </a:solidFill>
            <a:prstDash val="solid"/>
          </a:ln>
        </p:spPr>
      </p:sp>
      <p:sp>
        <p:nvSpPr>
          <p:cNvPr id="13" name="Step 2 circle"/>
          <p:cNvSpPr/>
          <p:nvPr/>
        </p:nvSpPr>
        <p:spPr>
          <a:xfrm>
            <a:off x="3470148" y="1508760"/>
            <a:ext cx="731520" cy="731520"/>
          </a:xfrm>
          <a:prstGeom prst="ellipse">
            <a:avLst/>
          </a:prstGeom>
          <a:solidFill>
            <a:srgbClr val="00B49B"/>
          </a:solidFill>
          <a:ln w="12700">
            <a:solidFill>
              <a:srgbClr val="00B49B"/>
            </a:solidFill>
            <a:prstDash val="solid"/>
          </a:ln>
        </p:spPr>
      </p:sp>
      <p:pic>
        <p:nvPicPr>
          <p:cNvPr id="14" name="Step 2 icon" descr="preencoded.png">    </p:cNvPr>
          <p:cNvPicPr>
            <a:picLocks noChangeAspect="1"/>
          </p:cNvPicPr>
          <p:nvPr/>
        </p:nvPicPr>
        <p:blipFill>
          <a:blip r:embed="rId3"/>
          <a:stretch>
            <a:fillRect/>
          </a:stretch>
        </p:blipFill>
        <p:spPr>
          <a:xfrm>
            <a:off x="3653028" y="1691640"/>
            <a:ext cx="365760" cy="365760"/>
          </a:xfrm>
          <a:prstGeom prst="rect">
            <a:avLst/>
          </a:prstGeom>
        </p:spPr>
      </p:pic>
      <p:sp>
        <p:nvSpPr>
          <p:cNvPr id="15" name="Text 10"/>
          <p:cNvSpPr txBox="1"/>
          <p:nvPr/>
        </p:nvSpPr>
        <p:spPr>
          <a:xfrm>
            <a:off x="2944368" y="2377440"/>
            <a:ext cx="1783080" cy="411480"/>
          </a:xfrm>
          <a:prstGeom prst="rect">
            <a:avLst/>
          </a:prstGeom>
          <a:noFill/>
          <a:ln/>
        </p:spPr>
        <p:txBody>
          <a:bodyPr wrap="square" lIns="0" tIns="0" rIns="0" bIns="0" rtlCol="0" anchor="t"/>
          <a:lstStyle/>
          <a:p>
            <a:pPr algn="ctr" indent="0" marL="0">
              <a:buNone/>
            </a:pPr>
            <a:r>
              <a:rPr lang="en-US" sz="1700" b="1" dirty="0">
                <a:solidFill>
                  <a:srgbClr val="004F46"/>
                </a:solidFill>
                <a:latin typeface="Cambria" pitchFamily="34" charset="0"/>
                <a:ea typeface="Cambria" pitchFamily="34" charset="-122"/>
                <a:cs typeface="Cambria" pitchFamily="34" charset="-120"/>
              </a:rPr>
              <a:t>2. Compile</a:t>
            </a:r>
            <a:endParaRPr lang="en-US" sz="1700" dirty="0"/>
          </a:p>
        </p:txBody>
      </p:sp>
      <p:sp>
        <p:nvSpPr>
          <p:cNvPr id="16" name="Text 11"/>
          <p:cNvSpPr txBox="1"/>
          <p:nvPr/>
        </p:nvSpPr>
        <p:spPr>
          <a:xfrm>
            <a:off x="2990088" y="2788920"/>
            <a:ext cx="1691640" cy="960120"/>
          </a:xfrm>
          <a:prstGeom prst="rect">
            <a:avLst/>
          </a:prstGeom>
          <a:noFill/>
          <a:ln/>
        </p:spPr>
        <p:txBody>
          <a:bodyPr wrap="square" lIns="0" tIns="0" rIns="0" bIns="0" rtlCol="0" anchor="t"/>
          <a:lstStyle/>
          <a:p>
            <a:pPr algn="ctr" indent="0" marL="0">
              <a:buNone/>
            </a:pPr>
            <a:r>
              <a:rPr lang="en-US" sz="1300" dirty="0">
                <a:solidFill>
                  <a:srgbClr val="253122"/>
                </a:solidFill>
                <a:latin typeface="Calibri" pitchFamily="34" charset="0"/>
                <a:ea typeface="Calibri" pitchFamily="34" charset="-122"/>
                <a:cs typeface="Calibri" pitchFamily="34" charset="-120"/>
              </a:rPr>
              <a:t>Excel master dataset, 8 sheets</a:t>
            </a:r>
            <a:endParaRPr lang="en-US" sz="1300" dirty="0"/>
          </a:p>
        </p:txBody>
      </p:sp>
      <p:sp>
        <p:nvSpPr>
          <p:cNvPr id="17" name="Arrow 2"/>
          <p:cNvSpPr/>
          <p:nvPr/>
        </p:nvSpPr>
        <p:spPr>
          <a:xfrm>
            <a:off x="4873752" y="2423160"/>
            <a:ext cx="228600" cy="320040"/>
          </a:xfrm>
          <a:prstGeom prst="rightArrow">
            <a:avLst/>
          </a:prstGeom>
          <a:solidFill>
            <a:srgbClr val="E2625E"/>
          </a:solidFill>
          <a:ln w="12700">
            <a:solidFill>
              <a:srgbClr val="E2625E"/>
            </a:solidFill>
            <a:prstDash val="solid"/>
          </a:ln>
        </p:spPr>
      </p:sp>
      <p:sp>
        <p:nvSpPr>
          <p:cNvPr id="18" name="!!card3"/>
          <p:cNvSpPr/>
          <p:nvPr/>
        </p:nvSpPr>
        <p:spPr>
          <a:xfrm>
            <a:off x="5157216" y="1325880"/>
            <a:ext cx="1965960" cy="2514600"/>
          </a:xfrm>
          <a:prstGeom prst="roundRect">
            <a:avLst>
              <a:gd name="adj" fmla="val 3721"/>
            </a:avLst>
          </a:prstGeom>
          <a:solidFill>
            <a:srgbClr val="FFF9D1"/>
          </a:solidFill>
          <a:ln w="12700">
            <a:solidFill>
              <a:srgbClr val="FFF9D1"/>
            </a:solidFill>
            <a:prstDash val="solid"/>
          </a:ln>
        </p:spPr>
      </p:sp>
      <p:sp>
        <p:nvSpPr>
          <p:cNvPr id="19" name="Step 3 circle"/>
          <p:cNvSpPr/>
          <p:nvPr/>
        </p:nvSpPr>
        <p:spPr>
          <a:xfrm>
            <a:off x="5774436" y="1508760"/>
            <a:ext cx="731520" cy="731520"/>
          </a:xfrm>
          <a:prstGeom prst="ellipse">
            <a:avLst/>
          </a:prstGeom>
          <a:solidFill>
            <a:srgbClr val="E2625E"/>
          </a:solidFill>
          <a:ln w="12700">
            <a:solidFill>
              <a:srgbClr val="E2625E"/>
            </a:solidFill>
            <a:prstDash val="solid"/>
          </a:ln>
        </p:spPr>
      </p:sp>
      <p:pic>
        <p:nvPicPr>
          <p:cNvPr id="20" name="Step 3 icon" descr="preencoded.png">    </p:cNvPr>
          <p:cNvPicPr>
            <a:picLocks noChangeAspect="1"/>
          </p:cNvPicPr>
          <p:nvPr/>
        </p:nvPicPr>
        <p:blipFill>
          <a:blip r:embed="rId4"/>
          <a:stretch>
            <a:fillRect/>
          </a:stretch>
        </p:blipFill>
        <p:spPr>
          <a:xfrm>
            <a:off x="5957316" y="1691640"/>
            <a:ext cx="365760" cy="365760"/>
          </a:xfrm>
          <a:prstGeom prst="rect">
            <a:avLst/>
          </a:prstGeom>
        </p:spPr>
      </p:pic>
      <p:sp>
        <p:nvSpPr>
          <p:cNvPr id="21" name="Text 15"/>
          <p:cNvSpPr txBox="1"/>
          <p:nvPr/>
        </p:nvSpPr>
        <p:spPr>
          <a:xfrm>
            <a:off x="5248656" y="2377440"/>
            <a:ext cx="1783080" cy="411480"/>
          </a:xfrm>
          <a:prstGeom prst="rect">
            <a:avLst/>
          </a:prstGeom>
          <a:noFill/>
          <a:ln/>
        </p:spPr>
        <p:txBody>
          <a:bodyPr wrap="square" lIns="0" tIns="0" rIns="0" bIns="0" rtlCol="0" anchor="t"/>
          <a:lstStyle/>
          <a:p>
            <a:pPr algn="ctr" indent="0" marL="0">
              <a:buNone/>
            </a:pPr>
            <a:r>
              <a:rPr lang="en-US" sz="1700" b="1" dirty="0">
                <a:solidFill>
                  <a:srgbClr val="004F46"/>
                </a:solidFill>
                <a:latin typeface="Cambria" pitchFamily="34" charset="0"/>
                <a:ea typeface="Cambria" pitchFamily="34" charset="-122"/>
                <a:cs typeface="Cambria" pitchFamily="34" charset="-120"/>
              </a:rPr>
              <a:t>3. Validate</a:t>
            </a:r>
            <a:endParaRPr lang="en-US" sz="1700" dirty="0"/>
          </a:p>
        </p:txBody>
      </p:sp>
      <p:sp>
        <p:nvSpPr>
          <p:cNvPr id="22" name="Text 16"/>
          <p:cNvSpPr txBox="1"/>
          <p:nvPr/>
        </p:nvSpPr>
        <p:spPr>
          <a:xfrm>
            <a:off x="5294376" y="2788920"/>
            <a:ext cx="1691640" cy="960120"/>
          </a:xfrm>
          <a:prstGeom prst="rect">
            <a:avLst/>
          </a:prstGeom>
          <a:noFill/>
          <a:ln/>
        </p:spPr>
        <p:txBody>
          <a:bodyPr wrap="square" lIns="0" tIns="0" rIns="0" bIns="0" rtlCol="0" anchor="t"/>
          <a:lstStyle/>
          <a:p>
            <a:pPr algn="ctr" indent="0" marL="0">
              <a:buNone/>
            </a:pPr>
            <a:r>
              <a:rPr lang="en-US" sz="1300" dirty="0">
                <a:solidFill>
                  <a:srgbClr val="253122"/>
                </a:solidFill>
                <a:latin typeface="Calibri" pitchFamily="34" charset="0"/>
                <a:ea typeface="Calibri" pitchFamily="34" charset="-122"/>
                <a:cs typeface="Calibri" pitchFamily="34" charset="-120"/>
              </a:rPr>
              <a:t>Cross-check with PIB, Economic Survey, FCI RO Ahmedabad</a:t>
            </a:r>
            <a:endParaRPr lang="en-US" sz="1300" dirty="0"/>
          </a:p>
        </p:txBody>
      </p:sp>
      <p:sp>
        <p:nvSpPr>
          <p:cNvPr id="23" name="Arrow 3"/>
          <p:cNvSpPr/>
          <p:nvPr/>
        </p:nvSpPr>
        <p:spPr>
          <a:xfrm>
            <a:off x="7178040" y="2423160"/>
            <a:ext cx="228600" cy="320040"/>
          </a:xfrm>
          <a:prstGeom prst="rightArrow">
            <a:avLst/>
          </a:prstGeom>
          <a:solidFill>
            <a:srgbClr val="E2625E"/>
          </a:solidFill>
          <a:ln w="12700">
            <a:solidFill>
              <a:srgbClr val="E2625E"/>
            </a:solidFill>
            <a:prstDash val="solid"/>
          </a:ln>
        </p:spPr>
      </p:sp>
      <p:sp>
        <p:nvSpPr>
          <p:cNvPr id="24" name="!!card4"/>
          <p:cNvSpPr/>
          <p:nvPr/>
        </p:nvSpPr>
        <p:spPr>
          <a:xfrm>
            <a:off x="7461504" y="1325880"/>
            <a:ext cx="1965960" cy="2514600"/>
          </a:xfrm>
          <a:prstGeom prst="roundRect">
            <a:avLst>
              <a:gd name="adj" fmla="val 3721"/>
            </a:avLst>
          </a:prstGeom>
          <a:solidFill>
            <a:srgbClr val="D9F4F0"/>
          </a:solidFill>
          <a:ln w="12700">
            <a:solidFill>
              <a:srgbClr val="D9F4F0"/>
            </a:solidFill>
            <a:prstDash val="solid"/>
          </a:ln>
        </p:spPr>
      </p:sp>
      <p:sp>
        <p:nvSpPr>
          <p:cNvPr id="25" name="Step 4 circle"/>
          <p:cNvSpPr/>
          <p:nvPr/>
        </p:nvSpPr>
        <p:spPr>
          <a:xfrm>
            <a:off x="8078724" y="1508760"/>
            <a:ext cx="731520" cy="731520"/>
          </a:xfrm>
          <a:prstGeom prst="ellipse">
            <a:avLst/>
          </a:prstGeom>
          <a:solidFill>
            <a:srgbClr val="00B49B"/>
          </a:solidFill>
          <a:ln w="12700">
            <a:solidFill>
              <a:srgbClr val="00B49B"/>
            </a:solidFill>
            <a:prstDash val="solid"/>
          </a:ln>
        </p:spPr>
      </p:sp>
      <p:pic>
        <p:nvPicPr>
          <p:cNvPr id="26" name="Step 4 icon" descr="preencoded.png">    </p:cNvPr>
          <p:cNvPicPr>
            <a:picLocks noChangeAspect="1"/>
          </p:cNvPicPr>
          <p:nvPr/>
        </p:nvPicPr>
        <p:blipFill>
          <a:blip r:embed="rId5"/>
          <a:stretch>
            <a:fillRect/>
          </a:stretch>
        </p:blipFill>
        <p:spPr>
          <a:xfrm>
            <a:off x="8261604" y="1691640"/>
            <a:ext cx="365760" cy="365760"/>
          </a:xfrm>
          <a:prstGeom prst="rect">
            <a:avLst/>
          </a:prstGeom>
        </p:spPr>
      </p:pic>
      <p:sp>
        <p:nvSpPr>
          <p:cNvPr id="27" name="Text 20"/>
          <p:cNvSpPr txBox="1"/>
          <p:nvPr/>
        </p:nvSpPr>
        <p:spPr>
          <a:xfrm>
            <a:off x="7552944" y="2377440"/>
            <a:ext cx="1783080" cy="411480"/>
          </a:xfrm>
          <a:prstGeom prst="rect">
            <a:avLst/>
          </a:prstGeom>
          <a:noFill/>
          <a:ln/>
        </p:spPr>
        <p:txBody>
          <a:bodyPr wrap="square" lIns="0" tIns="0" rIns="0" bIns="0" rtlCol="0" anchor="t"/>
          <a:lstStyle/>
          <a:p>
            <a:pPr algn="ctr" indent="0" marL="0">
              <a:buNone/>
            </a:pPr>
            <a:r>
              <a:rPr lang="en-US" sz="1700" b="1" dirty="0">
                <a:solidFill>
                  <a:srgbClr val="004F46"/>
                </a:solidFill>
                <a:latin typeface="Cambria" pitchFamily="34" charset="0"/>
                <a:ea typeface="Cambria" pitchFamily="34" charset="-122"/>
                <a:cs typeface="Cambria" pitchFamily="34" charset="-120"/>
              </a:rPr>
              <a:t>4. Analyse</a:t>
            </a:r>
            <a:endParaRPr lang="en-US" sz="1700" dirty="0"/>
          </a:p>
        </p:txBody>
      </p:sp>
      <p:sp>
        <p:nvSpPr>
          <p:cNvPr id="28" name="Text 21"/>
          <p:cNvSpPr txBox="1"/>
          <p:nvPr/>
        </p:nvSpPr>
        <p:spPr>
          <a:xfrm>
            <a:off x="7598664" y="2788920"/>
            <a:ext cx="1691640" cy="960120"/>
          </a:xfrm>
          <a:prstGeom prst="rect">
            <a:avLst/>
          </a:prstGeom>
          <a:noFill/>
          <a:ln/>
        </p:spPr>
        <p:txBody>
          <a:bodyPr wrap="square" lIns="0" tIns="0" rIns="0" bIns="0" rtlCol="0" anchor="t"/>
          <a:lstStyle/>
          <a:p>
            <a:pPr algn="ctr" indent="0" marL="0">
              <a:buNone/>
            </a:pPr>
            <a:r>
              <a:rPr lang="en-US" sz="1300" dirty="0">
                <a:solidFill>
                  <a:srgbClr val="253122"/>
                </a:solidFill>
                <a:latin typeface="Calibri" pitchFamily="34" charset="0"/>
                <a:ea typeface="Calibri" pitchFamily="34" charset="-122"/>
                <a:cs typeface="Calibri" pitchFamily="34" charset="-120"/>
              </a:rPr>
              <a:t>YoY, CAGR, ratio and gap analysis</a:t>
            </a:r>
            <a:endParaRPr lang="en-US" sz="1300" dirty="0"/>
          </a:p>
        </p:txBody>
      </p:sp>
      <p:sp>
        <p:nvSpPr>
          <p:cNvPr id="29" name="Arrow 4"/>
          <p:cNvSpPr/>
          <p:nvPr/>
        </p:nvSpPr>
        <p:spPr>
          <a:xfrm>
            <a:off x="9482328" y="2423160"/>
            <a:ext cx="228600" cy="320040"/>
          </a:xfrm>
          <a:prstGeom prst="rightArrow">
            <a:avLst/>
          </a:prstGeom>
          <a:solidFill>
            <a:srgbClr val="E2625E"/>
          </a:solidFill>
          <a:ln w="12700">
            <a:solidFill>
              <a:srgbClr val="E2625E"/>
            </a:solidFill>
            <a:prstDash val="solid"/>
          </a:ln>
        </p:spPr>
      </p:sp>
      <p:sp>
        <p:nvSpPr>
          <p:cNvPr id="30" name="!!card5"/>
          <p:cNvSpPr/>
          <p:nvPr/>
        </p:nvSpPr>
        <p:spPr>
          <a:xfrm>
            <a:off x="9765792" y="1325880"/>
            <a:ext cx="1965960" cy="2514600"/>
          </a:xfrm>
          <a:prstGeom prst="roundRect">
            <a:avLst>
              <a:gd name="adj" fmla="val 3721"/>
            </a:avLst>
          </a:prstGeom>
          <a:solidFill>
            <a:srgbClr val="FFF9D1"/>
          </a:solidFill>
          <a:ln w="12700">
            <a:solidFill>
              <a:srgbClr val="FFF9D1"/>
            </a:solidFill>
            <a:prstDash val="solid"/>
          </a:ln>
        </p:spPr>
      </p:sp>
      <p:sp>
        <p:nvSpPr>
          <p:cNvPr id="31" name="Step 5 circle"/>
          <p:cNvSpPr/>
          <p:nvPr/>
        </p:nvSpPr>
        <p:spPr>
          <a:xfrm>
            <a:off x="10383012" y="1508760"/>
            <a:ext cx="731520" cy="731520"/>
          </a:xfrm>
          <a:prstGeom prst="ellipse">
            <a:avLst/>
          </a:prstGeom>
          <a:solidFill>
            <a:srgbClr val="004F46"/>
          </a:solidFill>
          <a:ln w="12700">
            <a:solidFill>
              <a:srgbClr val="004F46"/>
            </a:solidFill>
            <a:prstDash val="solid"/>
          </a:ln>
        </p:spPr>
      </p:sp>
      <p:pic>
        <p:nvPicPr>
          <p:cNvPr id="32" name="Step 5 icon" descr="preencoded.png">    </p:cNvPr>
          <p:cNvPicPr>
            <a:picLocks noChangeAspect="1"/>
          </p:cNvPicPr>
          <p:nvPr/>
        </p:nvPicPr>
        <p:blipFill>
          <a:blip r:embed="rId6"/>
          <a:stretch>
            <a:fillRect/>
          </a:stretch>
        </p:blipFill>
        <p:spPr>
          <a:xfrm>
            <a:off x="10565892" y="1691640"/>
            <a:ext cx="365760" cy="365760"/>
          </a:xfrm>
          <a:prstGeom prst="rect">
            <a:avLst/>
          </a:prstGeom>
        </p:spPr>
      </p:pic>
      <p:sp>
        <p:nvSpPr>
          <p:cNvPr id="33" name="Text 25"/>
          <p:cNvSpPr txBox="1"/>
          <p:nvPr/>
        </p:nvSpPr>
        <p:spPr>
          <a:xfrm>
            <a:off x="9857232" y="2377440"/>
            <a:ext cx="1783080" cy="411480"/>
          </a:xfrm>
          <a:prstGeom prst="rect">
            <a:avLst/>
          </a:prstGeom>
          <a:noFill/>
          <a:ln/>
        </p:spPr>
        <p:txBody>
          <a:bodyPr wrap="square" lIns="0" tIns="0" rIns="0" bIns="0" rtlCol="0" anchor="t"/>
          <a:lstStyle/>
          <a:p>
            <a:pPr algn="ctr" indent="0" marL="0">
              <a:buNone/>
            </a:pPr>
            <a:r>
              <a:rPr lang="en-US" sz="1700" b="1" dirty="0">
                <a:solidFill>
                  <a:srgbClr val="004F46"/>
                </a:solidFill>
                <a:latin typeface="Cambria" pitchFamily="34" charset="0"/>
                <a:ea typeface="Cambria" pitchFamily="34" charset="-122"/>
                <a:cs typeface="Cambria" pitchFamily="34" charset="-120"/>
              </a:rPr>
              <a:t>5. Interpret</a:t>
            </a:r>
            <a:endParaRPr lang="en-US" sz="1700" dirty="0"/>
          </a:p>
        </p:txBody>
      </p:sp>
      <p:sp>
        <p:nvSpPr>
          <p:cNvPr id="34" name="Text 26"/>
          <p:cNvSpPr txBox="1"/>
          <p:nvPr/>
        </p:nvSpPr>
        <p:spPr>
          <a:xfrm>
            <a:off x="9902952" y="2788920"/>
            <a:ext cx="1691640" cy="960120"/>
          </a:xfrm>
          <a:prstGeom prst="rect">
            <a:avLst/>
          </a:prstGeom>
          <a:noFill/>
          <a:ln/>
        </p:spPr>
        <p:txBody>
          <a:bodyPr wrap="square" lIns="0" tIns="0" rIns="0" bIns="0" rtlCol="0" anchor="t"/>
          <a:lstStyle/>
          <a:p>
            <a:pPr algn="ctr" indent="0" marL="0">
              <a:buNone/>
            </a:pPr>
            <a:r>
              <a:rPr lang="en-US" sz="1300" dirty="0">
                <a:solidFill>
                  <a:srgbClr val="253122"/>
                </a:solidFill>
                <a:latin typeface="Calibri" pitchFamily="34" charset="0"/>
                <a:ea typeface="Calibri" pitchFamily="34" charset="-122"/>
                <a:cs typeface="Calibri" pitchFamily="34" charset="-120"/>
              </a:rPr>
              <a:t>Findings and recommendations</a:t>
            </a:r>
            <a:endParaRPr lang="en-US" sz="1300" dirty="0"/>
          </a:p>
        </p:txBody>
      </p:sp>
      <p:sp>
        <p:nvSpPr>
          <p:cNvPr id="35" name="Text 27"/>
          <p:cNvSpPr txBox="1"/>
          <p:nvPr/>
        </p:nvSpPr>
        <p:spPr>
          <a:xfrm>
            <a:off x="548640" y="4114800"/>
            <a:ext cx="11094415" cy="2011680"/>
          </a:xfrm>
          <a:prstGeom prst="rect">
            <a:avLst/>
          </a:prstGeom>
          <a:noFill/>
          <a:ln/>
        </p:spPr>
        <p:txBody>
          <a:bodyPr wrap="square" lIns="0" tIns="0" rIns="0" bIns="0" rtlCol="0" anchor="t"/>
          <a:lstStyle/>
          <a:p>
            <a:pPr marL="203200" indent="-203200">
              <a:spcAft>
                <a:spcPts val="1000"/>
              </a:spcAft>
              <a:buSzPct val="100000"/>
              <a:buChar char="•"/>
            </a:pPr>
            <a:r>
              <a:rPr lang="en-US" sz="1600" b="1" dirty="0">
                <a:solidFill>
                  <a:srgbClr val="004F46"/>
                </a:solidFill>
                <a:latin typeface="Calibri" pitchFamily="34" charset="0"/>
                <a:ea typeface="Calibri" pitchFamily="34" charset="-122"/>
                <a:cs typeface="Calibri" pitchFamily="34" charset="-120"/>
              </a:rPr>
              <a:t>Research design: </a:t>
            </a:r>
            <a:pPr indent="0" marL="0">
              <a:buNone/>
            </a:pPr>
            <a:r>
              <a:rPr lang="en-US" sz="1600" dirty="0">
                <a:solidFill>
                  <a:srgbClr val="253122"/>
                </a:solidFill>
                <a:latin typeface="Calibri" pitchFamily="34" charset="0"/>
                <a:ea typeface="Calibri" pitchFamily="34" charset="-122"/>
                <a:cs typeface="Calibri" pitchFamily="34" charset="-120"/>
              </a:rPr>
              <a:t>descriptive and analytical; quantitative, based on secondary data</a:t>
            </a:r>
            <a:endParaRPr lang="en-US" sz="1600" dirty="0"/>
          </a:p>
          <a:p>
            <a:pPr marL="203200" indent="-203200">
              <a:spcAft>
                <a:spcPts val="1000"/>
              </a:spcAft>
              <a:buSzPct val="100000"/>
              <a:buChar char="•"/>
            </a:pPr>
            <a:r>
              <a:rPr lang="en-US" sz="1600" b="1" dirty="0">
                <a:solidFill>
                  <a:srgbClr val="004F46"/>
                </a:solidFill>
                <a:latin typeface="Calibri" pitchFamily="34" charset="0"/>
                <a:ea typeface="Calibri" pitchFamily="34" charset="-122"/>
                <a:cs typeface="Calibri" pitchFamily="34" charset="-120"/>
              </a:rPr>
              <a:t>Five performance areas: </a:t>
            </a:r>
            <a:pPr indent="0" marL="0">
              <a:buNone/>
            </a:pPr>
            <a:r>
              <a:rPr lang="en-US" sz="1600" dirty="0">
                <a:solidFill>
                  <a:srgbClr val="253122"/>
                </a:solidFill>
                <a:latin typeface="Calibri" pitchFamily="34" charset="0"/>
                <a:ea typeface="Calibri" pitchFamily="34" charset="-122"/>
                <a:cs typeface="Calibri" pitchFamily="34" charset="-120"/>
              </a:rPr>
              <a:t>procurement, storage, distribution, finance, losses and efficiency</a:t>
            </a:r>
            <a:endParaRPr lang="en-US" sz="1600" dirty="0"/>
          </a:p>
          <a:p>
            <a:pPr marL="203200" indent="-203200">
              <a:spcAft>
                <a:spcPts val="1000"/>
              </a:spcAft>
              <a:buSzPct val="100000"/>
              <a:buChar char="•"/>
            </a:pPr>
            <a:r>
              <a:rPr lang="en-US" sz="1600" b="1" dirty="0">
                <a:solidFill>
                  <a:srgbClr val="004F46"/>
                </a:solidFill>
                <a:latin typeface="Calibri" pitchFamily="34" charset="0"/>
                <a:ea typeface="Calibri" pitchFamily="34" charset="-122"/>
                <a:cs typeface="Calibri" pitchFamily="34" charset="-120"/>
              </a:rPr>
              <a:t>Period: </a:t>
            </a:r>
            <a:pPr indent="0" marL="0">
              <a:buNone/>
            </a:pPr>
            <a:r>
              <a:rPr lang="en-US" sz="1600" dirty="0">
                <a:solidFill>
                  <a:srgbClr val="253122"/>
                </a:solidFill>
                <a:latin typeface="Calibri" pitchFamily="34" charset="0"/>
                <a:ea typeface="Calibri" pitchFamily="34" charset="-122"/>
                <a:cs typeface="Calibri" pitchFamily="34" charset="-120"/>
              </a:rPr>
              <a:t>2022-23 to 2024-25 (main); 2019-20 to 2021-22 for the COVID comparison</a:t>
            </a:r>
            <a:endParaRPr lang="en-US" sz="1600" dirty="0"/>
          </a:p>
          <a:p>
            <a:pPr marL="203200" indent="-203200">
              <a:spcAft>
                <a:spcPts val="1000"/>
              </a:spcAft>
              <a:buSzPct val="100000"/>
              <a:buChar char="•"/>
            </a:pPr>
            <a:r>
              <a:rPr lang="en-US" sz="1600" b="1" dirty="0">
                <a:solidFill>
                  <a:srgbClr val="004F46"/>
                </a:solidFill>
                <a:latin typeface="Calibri" pitchFamily="34" charset="0"/>
                <a:ea typeface="Calibri" pitchFamily="34" charset="-122"/>
                <a:cs typeface="Calibri" pitchFamily="34" charset="-120"/>
              </a:rPr>
              <a:t>Data handling: </a:t>
            </a:r>
            <a:pPr indent="0" marL="0">
              <a:buNone/>
            </a:pPr>
            <a:r>
              <a:rPr lang="en-US" sz="1600" dirty="0">
                <a:solidFill>
                  <a:srgbClr val="253122"/>
                </a:solidFill>
                <a:latin typeface="Calibri" pitchFamily="34" charset="0"/>
                <a:ea typeface="Calibri" pitchFamily="34" charset="-122"/>
                <a:cs typeface="Calibri" pitchFamily="34" charset="-120"/>
              </a:rPr>
              <a:t>inconsistent values are flagged and excluded, not used as reported</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5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halo"/>
          <p:cNvSpPr/>
          <p:nvPr/>
        </p:nvSpPr>
        <p:spPr>
          <a:xfrm>
            <a:off x="-2377440" y="-2377440"/>
            <a:ext cx="4389120" cy="4389120"/>
          </a:xfrm>
          <a:prstGeom prst="ellipse">
            <a:avLst/>
          </a:prstGeom>
          <a:solidFill>
            <a:srgbClr val="E2625E">
              <a:alpha val="14000"/>
            </a:srgbClr>
          </a:solidFill>
          <a:ln w="12700">
            <a:solidFill>
              <a:srgbClr val="E2625E">
                <a:alpha val="0"/>
              </a:srgbClr>
            </a:solidFill>
            <a:prstDash val="solid"/>
          </a:ln>
        </p:spPr>
      </p:sp>
      <p:sp>
        <p:nvSpPr>
          <p:cNvPr id="3"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Tools, Technologies and Resources</a:t>
            </a:r>
            <a:endParaRPr lang="en-US" sz="3200" dirty="0"/>
          </a:p>
        </p:txBody>
      </p:sp>
      <p:sp>
        <p:nvSpPr>
          <p:cNvPr id="4" name="!!orb"/>
          <p:cNvSpPr/>
          <p:nvPr/>
        </p:nvSpPr>
        <p:spPr>
          <a:xfrm>
            <a:off x="10957255" y="347472"/>
            <a:ext cx="685800" cy="685800"/>
          </a:xfrm>
          <a:prstGeom prst="ellipse">
            <a:avLst/>
          </a:prstGeom>
          <a:solidFill>
            <a:srgbClr val="E2625E"/>
          </a:solidFill>
          <a:ln w="12700">
            <a:solidFill>
              <a:srgbClr val="E2625E"/>
            </a:solidFill>
            <a:prstDash val="solid"/>
          </a:ln>
        </p:spPr>
      </p:sp>
      <p:pic>
        <p:nvPicPr>
          <p:cNvPr id="5" name="!!orbicon" descr="preencoded.png">    </p:cNvPr>
          <p:cNvPicPr>
            <a:picLocks noChangeAspect="1"/>
          </p:cNvPicPr>
          <p:nvPr/>
        </p:nvPicPr>
        <p:blipFill>
          <a:blip r:embed="rId1"/>
          <a:stretch>
            <a:fillRect/>
          </a:stretch>
        </p:blipFill>
        <p:spPr>
          <a:xfrm>
            <a:off x="11130991" y="521208"/>
            <a:ext cx="338328" cy="338328"/>
          </a:xfrm>
          <a:prstGeom prst="rect">
            <a:avLst/>
          </a:prstGeom>
        </p:spPr>
      </p:pic>
      <p:sp>
        <p:nvSpPr>
          <p:cNvPr id="6" name="!!card1"/>
          <p:cNvSpPr/>
          <p:nvPr/>
        </p:nvSpPr>
        <p:spPr>
          <a:xfrm>
            <a:off x="548640" y="1280160"/>
            <a:ext cx="5376672" cy="2194560"/>
          </a:xfrm>
          <a:prstGeom prst="roundRect">
            <a:avLst>
              <a:gd name="adj" fmla="val 3333"/>
            </a:avLst>
          </a:prstGeom>
          <a:solidFill>
            <a:srgbClr val="FFF9D1"/>
          </a:solidFill>
          <a:ln w="12700">
            <a:solidFill>
              <a:srgbClr val="FFF9D1"/>
            </a:solidFill>
            <a:prstDash val="solid"/>
          </a:ln>
        </p:spPr>
      </p:sp>
      <p:sp>
        <p:nvSpPr>
          <p:cNvPr id="7" name="Tool 1 circle"/>
          <p:cNvSpPr/>
          <p:nvPr/>
        </p:nvSpPr>
        <p:spPr>
          <a:xfrm>
            <a:off x="822960" y="1554480"/>
            <a:ext cx="777240" cy="777240"/>
          </a:xfrm>
          <a:prstGeom prst="ellipse">
            <a:avLst/>
          </a:prstGeom>
          <a:solidFill>
            <a:srgbClr val="004F46"/>
          </a:solidFill>
          <a:ln w="12700">
            <a:solidFill>
              <a:srgbClr val="004F46"/>
            </a:solidFill>
            <a:prstDash val="solid"/>
          </a:ln>
        </p:spPr>
      </p:sp>
      <p:pic>
        <p:nvPicPr>
          <p:cNvPr id="8" name="Tool 1 icon" descr="preencoded.png">    </p:cNvPr>
          <p:cNvPicPr>
            <a:picLocks noChangeAspect="1"/>
          </p:cNvPicPr>
          <p:nvPr/>
        </p:nvPicPr>
        <p:blipFill>
          <a:blip r:embed="rId2"/>
          <a:stretch>
            <a:fillRect/>
          </a:stretch>
        </p:blipFill>
        <p:spPr>
          <a:xfrm>
            <a:off x="1017270" y="1748790"/>
            <a:ext cx="388620" cy="388620"/>
          </a:xfrm>
          <a:prstGeom prst="rect">
            <a:avLst/>
          </a:prstGeom>
        </p:spPr>
      </p:pic>
      <p:sp>
        <p:nvSpPr>
          <p:cNvPr id="9" name="Text 5"/>
          <p:cNvSpPr txBox="1"/>
          <p:nvPr/>
        </p:nvSpPr>
        <p:spPr>
          <a:xfrm>
            <a:off x="1828800" y="1554480"/>
            <a:ext cx="3913632" cy="457200"/>
          </a:xfrm>
          <a:prstGeom prst="rect">
            <a:avLst/>
          </a:prstGeom>
          <a:noFill/>
          <a:ln/>
        </p:spPr>
        <p:txBody>
          <a:bodyPr wrap="square" lIns="0" tIns="0" rIns="0" bIns="0" rtlCol="0" anchor="t"/>
          <a:lstStyle/>
          <a:p>
            <a:pPr indent="0" marL="0">
              <a:buNone/>
            </a:pPr>
            <a:r>
              <a:rPr lang="en-US" sz="1900" b="1" dirty="0">
                <a:solidFill>
                  <a:srgbClr val="004F46"/>
                </a:solidFill>
                <a:latin typeface="Cambria" pitchFamily="34" charset="0"/>
                <a:ea typeface="Cambria" pitchFamily="34" charset="-122"/>
                <a:cs typeface="Cambria" pitchFamily="34" charset="-120"/>
              </a:rPr>
              <a:t>Microsoft Excel</a:t>
            </a:r>
            <a:endParaRPr lang="en-US" sz="1900" dirty="0"/>
          </a:p>
        </p:txBody>
      </p:sp>
      <p:sp>
        <p:nvSpPr>
          <p:cNvPr id="10" name="Text 6"/>
          <p:cNvSpPr txBox="1"/>
          <p:nvPr/>
        </p:nvSpPr>
        <p:spPr>
          <a:xfrm>
            <a:off x="1828800" y="2057400"/>
            <a:ext cx="3913632" cy="685800"/>
          </a:xfrm>
          <a:prstGeom prst="rect">
            <a:avLst/>
          </a:prstGeom>
          <a:noFill/>
          <a:ln/>
        </p:spPr>
        <p:txBody>
          <a:bodyPr wrap="square" lIns="0" tIns="0" rIns="0" bIns="0" rtlCol="0" anchor="t"/>
          <a:lstStyle/>
          <a:p>
            <a:pPr indent="0" marL="0">
              <a:buNone/>
            </a:pPr>
            <a:r>
              <a:rPr lang="en-US" sz="1400" dirty="0">
                <a:solidFill>
                  <a:srgbClr val="253122"/>
                </a:solidFill>
                <a:latin typeface="Calibri" pitchFamily="34" charset="0"/>
                <a:ea typeface="Calibri" pitchFamily="34" charset="-122"/>
                <a:cs typeface="Calibri" pitchFamily="34" charset="-120"/>
              </a:rPr>
              <a:t>Master dataset; YoY, CAGR and ratio calculations; charts</a:t>
            </a:r>
            <a:endParaRPr lang="en-US" sz="1400" dirty="0"/>
          </a:p>
        </p:txBody>
      </p:sp>
      <p:sp>
        <p:nvSpPr>
          <p:cNvPr id="11" name="Text 7"/>
          <p:cNvSpPr txBox="1"/>
          <p:nvPr/>
        </p:nvSpPr>
        <p:spPr>
          <a:xfrm>
            <a:off x="1828800" y="2743200"/>
            <a:ext cx="3913632" cy="594360"/>
          </a:xfrm>
          <a:prstGeom prst="rect">
            <a:avLst/>
          </a:prstGeom>
          <a:noFill/>
          <a:ln/>
        </p:spPr>
        <p:txBody>
          <a:bodyPr wrap="square" lIns="0" tIns="0" rIns="0" bIns="0" rtlCol="0" anchor="t"/>
          <a:lstStyle/>
          <a:p>
            <a:pPr indent="0" marL="0">
              <a:buNone/>
            </a:pPr>
            <a:r>
              <a:rPr lang="en-US" sz="1300" b="1" dirty="0">
                <a:solidFill>
                  <a:srgbClr val="E2625E"/>
                </a:solidFill>
                <a:latin typeface="Calibri" pitchFamily="34" charset="0"/>
                <a:ea typeface="Calibri" pitchFamily="34" charset="-122"/>
                <a:cs typeface="Calibri" pitchFamily="34" charset="-120"/>
              </a:rPr>
              <a:t>Why: </a:t>
            </a:r>
            <a:pPr indent="0" marL="0">
              <a:buNone/>
            </a:pPr>
            <a:r>
              <a:rPr lang="en-US" sz="1300" dirty="0">
                <a:solidFill>
                  <a:srgbClr val="635A3A"/>
                </a:solidFill>
                <a:latin typeface="Calibri" pitchFamily="34" charset="0"/>
                <a:ea typeface="Calibri" pitchFamily="34" charset="-122"/>
                <a:cs typeface="Calibri" pitchFamily="34" charset="-120"/>
              </a:rPr>
              <a:t>Widely available; transparent formulas that can be checked</a:t>
            </a:r>
            <a:endParaRPr lang="en-US" sz="1300" dirty="0"/>
          </a:p>
        </p:txBody>
      </p:sp>
      <p:sp>
        <p:nvSpPr>
          <p:cNvPr id="12" name="!!card2"/>
          <p:cNvSpPr/>
          <p:nvPr/>
        </p:nvSpPr>
        <p:spPr>
          <a:xfrm>
            <a:off x="6199632" y="1280160"/>
            <a:ext cx="5376672" cy="2194560"/>
          </a:xfrm>
          <a:prstGeom prst="roundRect">
            <a:avLst>
              <a:gd name="adj" fmla="val 3333"/>
            </a:avLst>
          </a:prstGeom>
          <a:solidFill>
            <a:srgbClr val="D9F4F0"/>
          </a:solidFill>
          <a:ln w="12700">
            <a:solidFill>
              <a:srgbClr val="D9F4F0"/>
            </a:solidFill>
            <a:prstDash val="solid"/>
          </a:ln>
        </p:spPr>
      </p:sp>
      <p:sp>
        <p:nvSpPr>
          <p:cNvPr id="13" name="Tool 2 circle"/>
          <p:cNvSpPr/>
          <p:nvPr/>
        </p:nvSpPr>
        <p:spPr>
          <a:xfrm>
            <a:off x="6473952" y="1554480"/>
            <a:ext cx="777240" cy="777240"/>
          </a:xfrm>
          <a:prstGeom prst="ellipse">
            <a:avLst/>
          </a:prstGeom>
          <a:solidFill>
            <a:srgbClr val="00B49B"/>
          </a:solidFill>
          <a:ln w="12700">
            <a:solidFill>
              <a:srgbClr val="00B49B"/>
            </a:solidFill>
            <a:prstDash val="solid"/>
          </a:ln>
        </p:spPr>
      </p:sp>
      <p:pic>
        <p:nvPicPr>
          <p:cNvPr id="14" name="Tool 2 icon" descr="preencoded.png">    </p:cNvPr>
          <p:cNvPicPr>
            <a:picLocks noChangeAspect="1"/>
          </p:cNvPicPr>
          <p:nvPr/>
        </p:nvPicPr>
        <p:blipFill>
          <a:blip r:embed="rId3"/>
          <a:stretch>
            <a:fillRect/>
          </a:stretch>
        </p:blipFill>
        <p:spPr>
          <a:xfrm>
            <a:off x="6668262" y="1748790"/>
            <a:ext cx="388620" cy="388620"/>
          </a:xfrm>
          <a:prstGeom prst="rect">
            <a:avLst/>
          </a:prstGeom>
        </p:spPr>
      </p:pic>
      <p:sp>
        <p:nvSpPr>
          <p:cNvPr id="15" name="Text 10"/>
          <p:cNvSpPr txBox="1"/>
          <p:nvPr/>
        </p:nvSpPr>
        <p:spPr>
          <a:xfrm>
            <a:off x="7479792" y="1554480"/>
            <a:ext cx="3913632" cy="457200"/>
          </a:xfrm>
          <a:prstGeom prst="rect">
            <a:avLst/>
          </a:prstGeom>
          <a:noFill/>
          <a:ln/>
        </p:spPr>
        <p:txBody>
          <a:bodyPr wrap="square" lIns="0" tIns="0" rIns="0" bIns="0" rtlCol="0" anchor="t"/>
          <a:lstStyle/>
          <a:p>
            <a:pPr indent="0" marL="0">
              <a:buNone/>
            </a:pPr>
            <a:r>
              <a:rPr lang="en-US" sz="1900" b="1" dirty="0">
                <a:solidFill>
                  <a:srgbClr val="004F46"/>
                </a:solidFill>
                <a:latin typeface="Cambria" pitchFamily="34" charset="0"/>
                <a:ea typeface="Cambria" pitchFamily="34" charset="-122"/>
                <a:cs typeface="Cambria" pitchFamily="34" charset="-120"/>
              </a:rPr>
              <a:t>Microsoft Word and PowerPoint</a:t>
            </a:r>
            <a:endParaRPr lang="en-US" sz="1900" dirty="0"/>
          </a:p>
        </p:txBody>
      </p:sp>
      <p:sp>
        <p:nvSpPr>
          <p:cNvPr id="16" name="Text 11"/>
          <p:cNvSpPr txBox="1"/>
          <p:nvPr/>
        </p:nvSpPr>
        <p:spPr>
          <a:xfrm>
            <a:off x="7479792" y="2057400"/>
            <a:ext cx="3913632" cy="685800"/>
          </a:xfrm>
          <a:prstGeom prst="rect">
            <a:avLst/>
          </a:prstGeom>
          <a:noFill/>
          <a:ln/>
        </p:spPr>
        <p:txBody>
          <a:bodyPr wrap="square" lIns="0" tIns="0" rIns="0" bIns="0" rtlCol="0" anchor="t"/>
          <a:lstStyle/>
          <a:p>
            <a:pPr indent="0" marL="0">
              <a:buNone/>
            </a:pPr>
            <a:r>
              <a:rPr lang="en-US" sz="1400" dirty="0">
                <a:solidFill>
                  <a:srgbClr val="253122"/>
                </a:solidFill>
                <a:latin typeface="Calibri" pitchFamily="34" charset="0"/>
                <a:ea typeface="Calibri" pitchFamily="34" charset="-122"/>
                <a:cs typeface="Calibri" pitchFamily="34" charset="-120"/>
              </a:rPr>
              <a:t>Report writing, tables and presentation</a:t>
            </a:r>
            <a:endParaRPr lang="en-US" sz="1400" dirty="0"/>
          </a:p>
        </p:txBody>
      </p:sp>
      <p:sp>
        <p:nvSpPr>
          <p:cNvPr id="17" name="Text 12"/>
          <p:cNvSpPr txBox="1"/>
          <p:nvPr/>
        </p:nvSpPr>
        <p:spPr>
          <a:xfrm>
            <a:off x="7479792" y="2743200"/>
            <a:ext cx="3913632" cy="594360"/>
          </a:xfrm>
          <a:prstGeom prst="rect">
            <a:avLst/>
          </a:prstGeom>
          <a:noFill/>
          <a:ln/>
        </p:spPr>
        <p:txBody>
          <a:bodyPr wrap="square" lIns="0" tIns="0" rIns="0" bIns="0" rtlCol="0" anchor="t"/>
          <a:lstStyle/>
          <a:p>
            <a:pPr indent="0" marL="0">
              <a:buNone/>
            </a:pPr>
            <a:r>
              <a:rPr lang="en-US" sz="1300" b="1" dirty="0">
                <a:solidFill>
                  <a:srgbClr val="E2625E"/>
                </a:solidFill>
                <a:latin typeface="Calibri" pitchFamily="34" charset="0"/>
                <a:ea typeface="Calibri" pitchFamily="34" charset="-122"/>
                <a:cs typeface="Calibri" pitchFamily="34" charset="-120"/>
              </a:rPr>
              <a:t>Why: </a:t>
            </a:r>
            <a:pPr indent="0" marL="0">
              <a:buNone/>
            </a:pPr>
            <a:r>
              <a:rPr lang="en-US" sz="1300" dirty="0">
                <a:solidFill>
                  <a:srgbClr val="635A3A"/>
                </a:solidFill>
                <a:latin typeface="Calibri" pitchFamily="34" charset="0"/>
                <a:ea typeface="Calibri" pitchFamily="34" charset="-122"/>
                <a:cs typeface="Calibri" pitchFamily="34" charset="-120"/>
              </a:rPr>
              <a:t>Standard format required by the university</a:t>
            </a:r>
            <a:endParaRPr lang="en-US" sz="1300" dirty="0"/>
          </a:p>
        </p:txBody>
      </p:sp>
      <p:sp>
        <p:nvSpPr>
          <p:cNvPr id="18" name="!!card3"/>
          <p:cNvSpPr/>
          <p:nvPr/>
        </p:nvSpPr>
        <p:spPr>
          <a:xfrm>
            <a:off x="548640" y="3749040"/>
            <a:ext cx="5376672" cy="2194560"/>
          </a:xfrm>
          <a:prstGeom prst="roundRect">
            <a:avLst>
              <a:gd name="adj" fmla="val 3333"/>
            </a:avLst>
          </a:prstGeom>
          <a:solidFill>
            <a:srgbClr val="D9F4F0"/>
          </a:solidFill>
          <a:ln w="12700">
            <a:solidFill>
              <a:srgbClr val="D9F4F0"/>
            </a:solidFill>
            <a:prstDash val="solid"/>
          </a:ln>
        </p:spPr>
      </p:sp>
      <p:sp>
        <p:nvSpPr>
          <p:cNvPr id="19" name="Tool 3 circle"/>
          <p:cNvSpPr/>
          <p:nvPr/>
        </p:nvSpPr>
        <p:spPr>
          <a:xfrm>
            <a:off x="822960" y="4023360"/>
            <a:ext cx="777240" cy="777240"/>
          </a:xfrm>
          <a:prstGeom prst="ellipse">
            <a:avLst/>
          </a:prstGeom>
          <a:solidFill>
            <a:srgbClr val="E2625E"/>
          </a:solidFill>
          <a:ln w="12700">
            <a:solidFill>
              <a:srgbClr val="E2625E"/>
            </a:solidFill>
            <a:prstDash val="solid"/>
          </a:ln>
        </p:spPr>
      </p:sp>
      <p:pic>
        <p:nvPicPr>
          <p:cNvPr id="20" name="Tool 3 icon" descr="preencoded.png">    </p:cNvPr>
          <p:cNvPicPr>
            <a:picLocks noChangeAspect="1"/>
          </p:cNvPicPr>
          <p:nvPr/>
        </p:nvPicPr>
        <p:blipFill>
          <a:blip r:embed="rId4"/>
          <a:stretch>
            <a:fillRect/>
          </a:stretch>
        </p:blipFill>
        <p:spPr>
          <a:xfrm>
            <a:off x="1017270" y="4217670"/>
            <a:ext cx="388620" cy="388620"/>
          </a:xfrm>
          <a:prstGeom prst="rect">
            <a:avLst/>
          </a:prstGeom>
        </p:spPr>
      </p:pic>
      <p:sp>
        <p:nvSpPr>
          <p:cNvPr id="21" name="Text 15"/>
          <p:cNvSpPr txBox="1"/>
          <p:nvPr/>
        </p:nvSpPr>
        <p:spPr>
          <a:xfrm>
            <a:off x="1828800" y="4023360"/>
            <a:ext cx="3913632" cy="457200"/>
          </a:xfrm>
          <a:prstGeom prst="rect">
            <a:avLst/>
          </a:prstGeom>
          <a:noFill/>
          <a:ln/>
        </p:spPr>
        <p:txBody>
          <a:bodyPr wrap="square" lIns="0" tIns="0" rIns="0" bIns="0" rtlCol="0" anchor="t"/>
          <a:lstStyle/>
          <a:p>
            <a:pPr indent="0" marL="0">
              <a:buNone/>
            </a:pPr>
            <a:r>
              <a:rPr lang="en-US" sz="1900" b="1" dirty="0">
                <a:solidFill>
                  <a:srgbClr val="004F46"/>
                </a:solidFill>
                <a:latin typeface="Cambria" pitchFamily="34" charset="0"/>
                <a:ea typeface="Cambria" pitchFamily="34" charset="-122"/>
                <a:cs typeface="Cambria" pitchFamily="34" charset="-120"/>
              </a:rPr>
              <a:t>Data sources</a:t>
            </a:r>
            <a:endParaRPr lang="en-US" sz="1900" dirty="0"/>
          </a:p>
        </p:txBody>
      </p:sp>
      <p:sp>
        <p:nvSpPr>
          <p:cNvPr id="22" name="Text 16"/>
          <p:cNvSpPr txBox="1"/>
          <p:nvPr/>
        </p:nvSpPr>
        <p:spPr>
          <a:xfrm>
            <a:off x="1828800" y="4526280"/>
            <a:ext cx="3913632" cy="685800"/>
          </a:xfrm>
          <a:prstGeom prst="rect">
            <a:avLst/>
          </a:prstGeom>
          <a:noFill/>
          <a:ln/>
        </p:spPr>
        <p:txBody>
          <a:bodyPr wrap="square" lIns="0" tIns="0" rIns="0" bIns="0" rtlCol="0" anchor="t"/>
          <a:lstStyle/>
          <a:p>
            <a:pPr indent="0" marL="0">
              <a:buNone/>
            </a:pPr>
            <a:r>
              <a:rPr lang="en-US" sz="1400" dirty="0">
                <a:solidFill>
                  <a:srgbClr val="253122"/>
                </a:solidFill>
                <a:latin typeface="Calibri" pitchFamily="34" charset="0"/>
                <a:ea typeface="Calibri" pitchFamily="34" charset="-122"/>
                <a:cs typeface="Calibri" pitchFamily="34" charset="-120"/>
              </a:rPr>
              <a:t>FCI Annual Reports (2019-20 to 2024-25), CAG, PIB, Economic Survey</a:t>
            </a:r>
            <a:endParaRPr lang="en-US" sz="1400" dirty="0"/>
          </a:p>
        </p:txBody>
      </p:sp>
      <p:sp>
        <p:nvSpPr>
          <p:cNvPr id="23" name="Text 17"/>
          <p:cNvSpPr txBox="1"/>
          <p:nvPr/>
        </p:nvSpPr>
        <p:spPr>
          <a:xfrm>
            <a:off x="1828800" y="5212080"/>
            <a:ext cx="3913632" cy="594360"/>
          </a:xfrm>
          <a:prstGeom prst="rect">
            <a:avLst/>
          </a:prstGeom>
          <a:noFill/>
          <a:ln/>
        </p:spPr>
        <p:txBody>
          <a:bodyPr wrap="square" lIns="0" tIns="0" rIns="0" bIns="0" rtlCol="0" anchor="t"/>
          <a:lstStyle/>
          <a:p>
            <a:pPr indent="0" marL="0">
              <a:buNone/>
            </a:pPr>
            <a:r>
              <a:rPr lang="en-US" sz="1300" b="1" dirty="0">
                <a:solidFill>
                  <a:srgbClr val="E2625E"/>
                </a:solidFill>
                <a:latin typeface="Calibri" pitchFamily="34" charset="0"/>
                <a:ea typeface="Calibri" pitchFamily="34" charset="-122"/>
                <a:cs typeface="Calibri" pitchFamily="34" charset="-120"/>
              </a:rPr>
              <a:t>Why: </a:t>
            </a:r>
            <a:pPr indent="0" marL="0">
              <a:buNone/>
            </a:pPr>
            <a:r>
              <a:rPr lang="en-US" sz="1300" dirty="0">
                <a:solidFill>
                  <a:srgbClr val="635A3A"/>
                </a:solidFill>
                <a:latin typeface="Calibri" pitchFamily="34" charset="0"/>
                <a:ea typeface="Calibri" pitchFamily="34" charset="-122"/>
                <a:cs typeface="Calibri" pitchFamily="34" charset="-120"/>
              </a:rPr>
              <a:t>Official, published and verifiable</a:t>
            </a:r>
            <a:endParaRPr lang="en-US" sz="1300" dirty="0"/>
          </a:p>
        </p:txBody>
      </p:sp>
      <p:sp>
        <p:nvSpPr>
          <p:cNvPr id="24" name="!!card4"/>
          <p:cNvSpPr/>
          <p:nvPr/>
        </p:nvSpPr>
        <p:spPr>
          <a:xfrm>
            <a:off x="6199632" y="3749040"/>
            <a:ext cx="5376672" cy="2194560"/>
          </a:xfrm>
          <a:prstGeom prst="roundRect">
            <a:avLst>
              <a:gd name="adj" fmla="val 3333"/>
            </a:avLst>
          </a:prstGeom>
          <a:solidFill>
            <a:srgbClr val="FFF9D1"/>
          </a:solidFill>
          <a:ln w="12700">
            <a:solidFill>
              <a:srgbClr val="FFF9D1"/>
            </a:solidFill>
            <a:prstDash val="solid"/>
          </a:ln>
        </p:spPr>
      </p:sp>
      <p:sp>
        <p:nvSpPr>
          <p:cNvPr id="25" name="Tool 4 circle"/>
          <p:cNvSpPr/>
          <p:nvPr/>
        </p:nvSpPr>
        <p:spPr>
          <a:xfrm>
            <a:off x="6473952" y="4023360"/>
            <a:ext cx="777240" cy="777240"/>
          </a:xfrm>
          <a:prstGeom prst="ellipse">
            <a:avLst/>
          </a:prstGeom>
          <a:solidFill>
            <a:srgbClr val="253122"/>
          </a:solidFill>
          <a:ln w="12700">
            <a:solidFill>
              <a:srgbClr val="253122"/>
            </a:solidFill>
            <a:prstDash val="solid"/>
          </a:ln>
        </p:spPr>
      </p:sp>
      <p:pic>
        <p:nvPicPr>
          <p:cNvPr id="26" name="Tool 4 icon" descr="preencoded.png">    </p:cNvPr>
          <p:cNvPicPr>
            <a:picLocks noChangeAspect="1"/>
          </p:cNvPicPr>
          <p:nvPr/>
        </p:nvPicPr>
        <p:blipFill>
          <a:blip r:embed="rId5"/>
          <a:stretch>
            <a:fillRect/>
          </a:stretch>
        </p:blipFill>
        <p:spPr>
          <a:xfrm>
            <a:off x="6668262" y="4217670"/>
            <a:ext cx="388620" cy="388620"/>
          </a:xfrm>
          <a:prstGeom prst="rect">
            <a:avLst/>
          </a:prstGeom>
        </p:spPr>
      </p:pic>
      <p:sp>
        <p:nvSpPr>
          <p:cNvPr id="27" name="Text 20"/>
          <p:cNvSpPr txBox="1"/>
          <p:nvPr/>
        </p:nvSpPr>
        <p:spPr>
          <a:xfrm>
            <a:off x="7479792" y="4023360"/>
            <a:ext cx="3913632" cy="457200"/>
          </a:xfrm>
          <a:prstGeom prst="rect">
            <a:avLst/>
          </a:prstGeom>
          <a:noFill/>
          <a:ln/>
        </p:spPr>
        <p:txBody>
          <a:bodyPr wrap="square" lIns="0" tIns="0" rIns="0" bIns="0" rtlCol="0" anchor="t"/>
          <a:lstStyle/>
          <a:p>
            <a:pPr indent="0" marL="0">
              <a:buNone/>
            </a:pPr>
            <a:r>
              <a:rPr lang="en-US" sz="1900" b="1" dirty="0">
                <a:solidFill>
                  <a:srgbClr val="004F46"/>
                </a:solidFill>
                <a:latin typeface="Cambria" pitchFamily="34" charset="0"/>
                <a:ea typeface="Cambria" pitchFamily="34" charset="-122"/>
                <a:cs typeface="Cambria" pitchFamily="34" charset="-120"/>
              </a:rPr>
              <a:t>Hardware</a:t>
            </a:r>
            <a:endParaRPr lang="en-US" sz="1900" dirty="0"/>
          </a:p>
        </p:txBody>
      </p:sp>
      <p:sp>
        <p:nvSpPr>
          <p:cNvPr id="28" name="Text 21"/>
          <p:cNvSpPr txBox="1"/>
          <p:nvPr/>
        </p:nvSpPr>
        <p:spPr>
          <a:xfrm>
            <a:off x="7479792" y="4526280"/>
            <a:ext cx="3913632" cy="685800"/>
          </a:xfrm>
          <a:prstGeom prst="rect">
            <a:avLst/>
          </a:prstGeom>
          <a:noFill/>
          <a:ln/>
        </p:spPr>
        <p:txBody>
          <a:bodyPr wrap="square" lIns="0" tIns="0" rIns="0" bIns="0" rtlCol="0" anchor="t"/>
          <a:lstStyle/>
          <a:p>
            <a:pPr indent="0" marL="0">
              <a:buNone/>
            </a:pPr>
            <a:r>
              <a:rPr lang="en-US" sz="1400" dirty="0">
                <a:solidFill>
                  <a:srgbClr val="253122"/>
                </a:solidFill>
                <a:latin typeface="Calibri" pitchFamily="34" charset="0"/>
                <a:ea typeface="Calibri" pitchFamily="34" charset="-122"/>
                <a:cs typeface="Calibri" pitchFamily="34" charset="-120"/>
              </a:rPr>
              <a:t>Personal laptop; internet access for official sources</a:t>
            </a:r>
            <a:endParaRPr lang="en-US" sz="1400" dirty="0"/>
          </a:p>
        </p:txBody>
      </p:sp>
      <p:sp>
        <p:nvSpPr>
          <p:cNvPr id="29" name="Text 22"/>
          <p:cNvSpPr txBox="1"/>
          <p:nvPr/>
        </p:nvSpPr>
        <p:spPr>
          <a:xfrm>
            <a:off x="7479792" y="5212080"/>
            <a:ext cx="3913632" cy="594360"/>
          </a:xfrm>
          <a:prstGeom prst="rect">
            <a:avLst/>
          </a:prstGeom>
          <a:noFill/>
          <a:ln/>
        </p:spPr>
        <p:txBody>
          <a:bodyPr wrap="square" lIns="0" tIns="0" rIns="0" bIns="0" rtlCol="0" anchor="t"/>
          <a:lstStyle/>
          <a:p>
            <a:pPr indent="0" marL="0">
              <a:buNone/>
            </a:pPr>
            <a:r>
              <a:rPr lang="en-US" sz="1300" b="1" dirty="0">
                <a:solidFill>
                  <a:srgbClr val="E2625E"/>
                </a:solidFill>
                <a:latin typeface="Calibri" pitchFamily="34" charset="0"/>
                <a:ea typeface="Calibri" pitchFamily="34" charset="-122"/>
                <a:cs typeface="Calibri" pitchFamily="34" charset="-120"/>
              </a:rPr>
              <a:t>Why: </a:t>
            </a:r>
            <a:pPr indent="0" marL="0">
              <a:buNone/>
            </a:pPr>
            <a:r>
              <a:rPr lang="en-US" sz="1300" dirty="0">
                <a:solidFill>
                  <a:srgbClr val="635A3A"/>
                </a:solidFill>
                <a:latin typeface="Calibri" pitchFamily="34" charset="0"/>
                <a:ea typeface="Calibri" pitchFamily="34" charset="-122"/>
                <a:cs typeface="Calibri" pitchFamily="34" charset="-120"/>
              </a:rPr>
              <a:t>No special hardware needed for secondary data</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5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halo"/>
          <p:cNvSpPr/>
          <p:nvPr/>
        </p:nvSpPr>
        <p:spPr>
          <a:xfrm>
            <a:off x="9692640" y="4480560"/>
            <a:ext cx="4206240" cy="4206240"/>
          </a:xfrm>
          <a:prstGeom prst="ellipse">
            <a:avLst/>
          </a:prstGeom>
          <a:solidFill>
            <a:srgbClr val="1A7444">
              <a:alpha val="12000"/>
            </a:srgbClr>
          </a:solidFill>
          <a:ln w="12700">
            <a:solidFill>
              <a:srgbClr val="1A7444">
                <a:alpha val="0"/>
              </a:srgbClr>
            </a:solidFill>
            <a:prstDash val="solid"/>
          </a:ln>
        </p:spPr>
      </p:sp>
      <p:sp>
        <p:nvSpPr>
          <p:cNvPr id="3"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Work Completed So Far</a:t>
            </a:r>
            <a:endParaRPr lang="en-US" sz="3200" dirty="0"/>
          </a:p>
        </p:txBody>
      </p:sp>
      <p:sp>
        <p:nvSpPr>
          <p:cNvPr id="4" name="!!orb"/>
          <p:cNvSpPr/>
          <p:nvPr/>
        </p:nvSpPr>
        <p:spPr>
          <a:xfrm>
            <a:off x="10957255" y="347472"/>
            <a:ext cx="685800" cy="685800"/>
          </a:xfrm>
          <a:prstGeom prst="ellipse">
            <a:avLst/>
          </a:prstGeom>
          <a:solidFill>
            <a:srgbClr val="1A7444"/>
          </a:solidFill>
          <a:ln w="12700">
            <a:solidFill>
              <a:srgbClr val="1A7444"/>
            </a:solidFill>
            <a:prstDash val="solid"/>
          </a:ln>
        </p:spPr>
      </p:sp>
      <p:pic>
        <p:nvPicPr>
          <p:cNvPr id="5" name="!!orbicon" descr="preencoded.png">    </p:cNvPr>
          <p:cNvPicPr>
            <a:picLocks noChangeAspect="1"/>
          </p:cNvPicPr>
          <p:nvPr/>
        </p:nvPicPr>
        <p:blipFill>
          <a:blip r:embed="rId1"/>
          <a:stretch>
            <a:fillRect/>
          </a:stretch>
        </p:blipFill>
        <p:spPr>
          <a:xfrm>
            <a:off x="11130991" y="521208"/>
            <a:ext cx="338328" cy="338328"/>
          </a:xfrm>
          <a:prstGeom prst="rect">
            <a:avLst/>
          </a:prstGeom>
        </p:spPr>
      </p:pic>
      <p:sp>
        <p:nvSpPr>
          <p:cNvPr id="6" name="Text 3"/>
          <p:cNvSpPr txBox="1"/>
          <p:nvPr/>
        </p:nvSpPr>
        <p:spPr>
          <a:xfrm>
            <a:off x="548640" y="1280160"/>
            <a:ext cx="5303520" cy="411480"/>
          </a:xfrm>
          <a:prstGeom prst="rect">
            <a:avLst/>
          </a:prstGeom>
          <a:noFill/>
          <a:ln/>
        </p:spPr>
        <p:txBody>
          <a:bodyPr wrap="square" lIns="0" tIns="0" rIns="0" bIns="0" rtlCol="0" anchor="t"/>
          <a:lstStyle/>
          <a:p>
            <a:pPr indent="0" marL="0">
              <a:buNone/>
            </a:pPr>
            <a:r>
              <a:rPr lang="en-US" sz="2000" b="1" dirty="0">
                <a:solidFill>
                  <a:srgbClr val="1A7444"/>
                </a:solidFill>
                <a:latin typeface="Cambria" pitchFamily="34" charset="0"/>
                <a:ea typeface="Cambria" pitchFamily="34" charset="-122"/>
                <a:cs typeface="Cambria" pitchFamily="34" charset="-120"/>
              </a:rPr>
              <a:t>Completed</a:t>
            </a:r>
            <a:endParaRPr lang="en-US" sz="2000" dirty="0"/>
          </a:p>
        </p:txBody>
      </p:sp>
      <p:pic>
        <p:nvPicPr>
          <p:cNvPr id="7" name="Done icon 1" descr="preencoded.png">    </p:cNvPr>
          <p:cNvPicPr>
            <a:picLocks noChangeAspect="1"/>
          </p:cNvPicPr>
          <p:nvPr/>
        </p:nvPicPr>
        <p:blipFill>
          <a:blip r:embed="rId2"/>
          <a:stretch>
            <a:fillRect/>
          </a:stretch>
        </p:blipFill>
        <p:spPr>
          <a:xfrm>
            <a:off x="548640" y="1801368"/>
            <a:ext cx="274320" cy="274320"/>
          </a:xfrm>
          <a:prstGeom prst="rect">
            <a:avLst/>
          </a:prstGeom>
        </p:spPr>
      </p:pic>
      <p:sp>
        <p:nvSpPr>
          <p:cNvPr id="8" name="Text 4"/>
          <p:cNvSpPr txBox="1"/>
          <p:nvPr/>
        </p:nvSpPr>
        <p:spPr>
          <a:xfrm>
            <a:off x="960120" y="1764792"/>
            <a:ext cx="4937760" cy="411480"/>
          </a:xfrm>
          <a:prstGeom prst="rect">
            <a:avLst/>
          </a:prstGeom>
          <a:noFill/>
          <a:ln/>
        </p:spPr>
        <p:txBody>
          <a:bodyPr wrap="square" lIns="0" tIns="0" rIns="0" bIns="0" rtlCol="0" anchor="ctr"/>
          <a:lstStyle/>
          <a:p>
            <a:pPr indent="0" marL="0">
              <a:buNone/>
            </a:pPr>
            <a:r>
              <a:rPr lang="en-US" sz="1400" dirty="0">
                <a:solidFill>
                  <a:srgbClr val="253122"/>
                </a:solidFill>
                <a:latin typeface="Calibri" pitchFamily="34" charset="0"/>
                <a:ea typeface="Calibri" pitchFamily="34" charset="-122"/>
                <a:cs typeface="Calibri" pitchFamily="34" charset="-120"/>
              </a:rPr>
              <a:t>Literature review (5 core sources + research gap)</a:t>
            </a:r>
            <a:endParaRPr lang="en-US" sz="1400" dirty="0"/>
          </a:p>
        </p:txBody>
      </p:sp>
      <p:pic>
        <p:nvPicPr>
          <p:cNvPr id="9" name="Done icon 2" descr="preencoded.png">    </p:cNvPr>
          <p:cNvPicPr>
            <a:picLocks noChangeAspect="1"/>
          </p:cNvPicPr>
          <p:nvPr/>
        </p:nvPicPr>
        <p:blipFill>
          <a:blip r:embed="rId3"/>
          <a:stretch>
            <a:fillRect/>
          </a:stretch>
        </p:blipFill>
        <p:spPr>
          <a:xfrm>
            <a:off x="548640" y="2276856"/>
            <a:ext cx="274320" cy="274320"/>
          </a:xfrm>
          <a:prstGeom prst="rect">
            <a:avLst/>
          </a:prstGeom>
        </p:spPr>
      </p:pic>
      <p:sp>
        <p:nvSpPr>
          <p:cNvPr id="10" name="Text 5"/>
          <p:cNvSpPr txBox="1"/>
          <p:nvPr/>
        </p:nvSpPr>
        <p:spPr>
          <a:xfrm>
            <a:off x="960120" y="2240280"/>
            <a:ext cx="4937760" cy="411480"/>
          </a:xfrm>
          <a:prstGeom prst="rect">
            <a:avLst/>
          </a:prstGeom>
          <a:noFill/>
          <a:ln/>
        </p:spPr>
        <p:txBody>
          <a:bodyPr wrap="square" lIns="0" tIns="0" rIns="0" bIns="0" rtlCol="0" anchor="ctr"/>
          <a:lstStyle/>
          <a:p>
            <a:pPr indent="0" marL="0">
              <a:buNone/>
            </a:pPr>
            <a:r>
              <a:rPr lang="en-US" sz="1400" dirty="0">
                <a:solidFill>
                  <a:srgbClr val="253122"/>
                </a:solidFill>
                <a:latin typeface="Calibri" pitchFamily="34" charset="0"/>
                <a:ea typeface="Calibri" pitchFamily="34" charset="-122"/>
                <a:cs typeface="Calibri" pitchFamily="34" charset="-120"/>
              </a:rPr>
              <a:t>Master dataset compiled: 8 sheets, 6 years</a:t>
            </a:r>
            <a:endParaRPr lang="en-US" sz="1400" dirty="0"/>
          </a:p>
        </p:txBody>
      </p:sp>
      <p:pic>
        <p:nvPicPr>
          <p:cNvPr id="11" name="Done icon 3" descr="preencoded.png">    </p:cNvPr>
          <p:cNvPicPr>
            <a:picLocks noChangeAspect="1"/>
          </p:cNvPicPr>
          <p:nvPr/>
        </p:nvPicPr>
        <p:blipFill>
          <a:blip r:embed="rId4"/>
          <a:stretch>
            <a:fillRect/>
          </a:stretch>
        </p:blipFill>
        <p:spPr>
          <a:xfrm>
            <a:off x="548640" y="2752344"/>
            <a:ext cx="274320" cy="274320"/>
          </a:xfrm>
          <a:prstGeom prst="rect">
            <a:avLst/>
          </a:prstGeom>
        </p:spPr>
      </p:pic>
      <p:sp>
        <p:nvSpPr>
          <p:cNvPr id="12" name="Text 6"/>
          <p:cNvSpPr txBox="1"/>
          <p:nvPr/>
        </p:nvSpPr>
        <p:spPr>
          <a:xfrm>
            <a:off x="960120" y="2715768"/>
            <a:ext cx="4937760" cy="411480"/>
          </a:xfrm>
          <a:prstGeom prst="rect">
            <a:avLst/>
          </a:prstGeom>
          <a:noFill/>
          <a:ln/>
        </p:spPr>
        <p:txBody>
          <a:bodyPr wrap="square" lIns="0" tIns="0" rIns="0" bIns="0" rtlCol="0" anchor="ctr"/>
          <a:lstStyle/>
          <a:p>
            <a:pPr indent="0" marL="0">
              <a:buNone/>
            </a:pPr>
            <a:r>
              <a:rPr lang="en-US" sz="1400" dirty="0">
                <a:solidFill>
                  <a:srgbClr val="253122"/>
                </a:solidFill>
                <a:latin typeface="Calibri" pitchFamily="34" charset="0"/>
                <a:ea typeface="Calibri" pitchFamily="34" charset="-122"/>
                <a:cs typeface="Calibri" pitchFamily="34" charset="-120"/>
              </a:rPr>
              <a:t>Data validated; errors flagged (e.g., 2019-20 procurement)</a:t>
            </a:r>
            <a:endParaRPr lang="en-US" sz="1400" dirty="0"/>
          </a:p>
        </p:txBody>
      </p:sp>
      <p:pic>
        <p:nvPicPr>
          <p:cNvPr id="13" name="Done icon 4" descr="preencoded.png">    </p:cNvPr>
          <p:cNvPicPr>
            <a:picLocks noChangeAspect="1"/>
          </p:cNvPicPr>
          <p:nvPr/>
        </p:nvPicPr>
        <p:blipFill>
          <a:blip r:embed="rId5"/>
          <a:stretch>
            <a:fillRect/>
          </a:stretch>
        </p:blipFill>
        <p:spPr>
          <a:xfrm>
            <a:off x="548640" y="3227832"/>
            <a:ext cx="274320" cy="274320"/>
          </a:xfrm>
          <a:prstGeom prst="rect">
            <a:avLst/>
          </a:prstGeom>
        </p:spPr>
      </p:pic>
      <p:sp>
        <p:nvSpPr>
          <p:cNvPr id="14" name="Text 7"/>
          <p:cNvSpPr txBox="1"/>
          <p:nvPr/>
        </p:nvSpPr>
        <p:spPr>
          <a:xfrm>
            <a:off x="960120" y="3191256"/>
            <a:ext cx="4937760" cy="411480"/>
          </a:xfrm>
          <a:prstGeom prst="rect">
            <a:avLst/>
          </a:prstGeom>
          <a:noFill/>
          <a:ln/>
        </p:spPr>
        <p:txBody>
          <a:bodyPr wrap="square" lIns="0" tIns="0" rIns="0" bIns="0" rtlCol="0" anchor="ctr"/>
          <a:lstStyle/>
          <a:p>
            <a:pPr indent="0" marL="0">
              <a:buNone/>
            </a:pPr>
            <a:r>
              <a:rPr lang="en-US" sz="1400" dirty="0">
                <a:solidFill>
                  <a:srgbClr val="253122"/>
                </a:solidFill>
                <a:latin typeface="Calibri" pitchFamily="34" charset="0"/>
                <a:ea typeface="Calibri" pitchFamily="34" charset="-122"/>
                <a:cs typeface="Calibri" pitchFamily="34" charset="-120"/>
              </a:rPr>
              <a:t>Analysis done for all 5 areas (13 tables)</a:t>
            </a:r>
            <a:endParaRPr lang="en-US" sz="1400" dirty="0"/>
          </a:p>
        </p:txBody>
      </p:sp>
      <p:pic>
        <p:nvPicPr>
          <p:cNvPr id="15" name="Done icon 5" descr="preencoded.png">    </p:cNvPr>
          <p:cNvPicPr>
            <a:picLocks noChangeAspect="1"/>
          </p:cNvPicPr>
          <p:nvPr/>
        </p:nvPicPr>
        <p:blipFill>
          <a:blip r:embed="rId6"/>
          <a:stretch>
            <a:fillRect/>
          </a:stretch>
        </p:blipFill>
        <p:spPr>
          <a:xfrm>
            <a:off x="548640" y="3703320"/>
            <a:ext cx="274320" cy="274320"/>
          </a:xfrm>
          <a:prstGeom prst="rect">
            <a:avLst/>
          </a:prstGeom>
        </p:spPr>
      </p:pic>
      <p:sp>
        <p:nvSpPr>
          <p:cNvPr id="16" name="Text 8"/>
          <p:cNvSpPr txBox="1"/>
          <p:nvPr/>
        </p:nvSpPr>
        <p:spPr>
          <a:xfrm>
            <a:off x="960120" y="3666744"/>
            <a:ext cx="4937760" cy="411480"/>
          </a:xfrm>
          <a:prstGeom prst="rect">
            <a:avLst/>
          </a:prstGeom>
          <a:noFill/>
          <a:ln/>
        </p:spPr>
        <p:txBody>
          <a:bodyPr wrap="square" lIns="0" tIns="0" rIns="0" bIns="0" rtlCol="0" anchor="ctr"/>
          <a:lstStyle/>
          <a:p>
            <a:pPr indent="0" marL="0">
              <a:buNone/>
            </a:pPr>
            <a:r>
              <a:rPr lang="en-US" sz="1400" dirty="0">
                <a:solidFill>
                  <a:srgbClr val="253122"/>
                </a:solidFill>
                <a:latin typeface="Calibri" pitchFamily="34" charset="0"/>
                <a:ea typeface="Calibri" pitchFamily="34" charset="-122"/>
                <a:cs typeface="Calibri" pitchFamily="34" charset="-120"/>
              </a:rPr>
              <a:t>Draft report: 8 chapters, findings and recommendations</a:t>
            </a:r>
            <a:endParaRPr lang="en-US" sz="1400" dirty="0"/>
          </a:p>
        </p:txBody>
      </p:sp>
      <p:sp>
        <p:nvSpPr>
          <p:cNvPr id="17" name="Text 9"/>
          <p:cNvSpPr txBox="1"/>
          <p:nvPr/>
        </p:nvSpPr>
        <p:spPr>
          <a:xfrm>
            <a:off x="548640" y="4251960"/>
            <a:ext cx="5303520" cy="411480"/>
          </a:xfrm>
          <a:prstGeom prst="rect">
            <a:avLst/>
          </a:prstGeom>
          <a:noFill/>
          <a:ln/>
        </p:spPr>
        <p:txBody>
          <a:bodyPr wrap="square" lIns="0" tIns="0" rIns="0" bIns="0" rtlCol="0" anchor="t"/>
          <a:lstStyle/>
          <a:p>
            <a:pPr indent="0" marL="0">
              <a:buNone/>
            </a:pPr>
            <a:r>
              <a:rPr lang="en-US" sz="2000" b="1" dirty="0">
                <a:solidFill>
                  <a:srgbClr val="BC892B"/>
                </a:solidFill>
                <a:latin typeface="Cambria" pitchFamily="34" charset="0"/>
                <a:ea typeface="Cambria" pitchFamily="34" charset="-122"/>
                <a:cs typeface="Cambria" pitchFamily="34" charset="-120"/>
              </a:rPr>
              <a:t>Pending</a:t>
            </a:r>
            <a:endParaRPr lang="en-US" sz="2000" dirty="0"/>
          </a:p>
        </p:txBody>
      </p:sp>
      <p:pic>
        <p:nvPicPr>
          <p:cNvPr id="18" name="Pending icon 1" descr="preencoded.png">    </p:cNvPr>
          <p:cNvPicPr>
            <a:picLocks noChangeAspect="1"/>
          </p:cNvPicPr>
          <p:nvPr/>
        </p:nvPicPr>
        <p:blipFill>
          <a:blip r:embed="rId7"/>
          <a:stretch>
            <a:fillRect/>
          </a:stretch>
        </p:blipFill>
        <p:spPr>
          <a:xfrm>
            <a:off x="548640" y="4773168"/>
            <a:ext cx="274320" cy="274320"/>
          </a:xfrm>
          <a:prstGeom prst="rect">
            <a:avLst/>
          </a:prstGeom>
        </p:spPr>
      </p:pic>
      <p:sp>
        <p:nvSpPr>
          <p:cNvPr id="19" name="Text 10"/>
          <p:cNvSpPr txBox="1"/>
          <p:nvPr/>
        </p:nvSpPr>
        <p:spPr>
          <a:xfrm>
            <a:off x="960120" y="4736592"/>
            <a:ext cx="4937760" cy="411480"/>
          </a:xfrm>
          <a:prstGeom prst="rect">
            <a:avLst/>
          </a:prstGeom>
          <a:noFill/>
          <a:ln/>
        </p:spPr>
        <p:txBody>
          <a:bodyPr wrap="square" lIns="0" tIns="0" rIns="0" bIns="0" rtlCol="0" anchor="ctr"/>
          <a:lstStyle/>
          <a:p>
            <a:pPr indent="0" marL="0">
              <a:buNone/>
            </a:pPr>
            <a:r>
              <a:rPr lang="en-US" sz="1400" dirty="0">
                <a:solidFill>
                  <a:srgbClr val="253122"/>
                </a:solidFill>
                <a:latin typeface="Calibri" pitchFamily="34" charset="0"/>
                <a:ea typeface="Calibri" pitchFamily="34" charset="-122"/>
                <a:cs typeface="Calibri" pitchFamily="34" charset="-120"/>
              </a:rPr>
              <a:t>Verify flagged Gujarat figures (2022-23 capacity, carried-forward stock)</a:t>
            </a:r>
            <a:endParaRPr lang="en-US" sz="1400" dirty="0"/>
          </a:p>
        </p:txBody>
      </p:sp>
      <p:pic>
        <p:nvPicPr>
          <p:cNvPr id="20" name="Pending icon 2" descr="preencoded.png">    </p:cNvPr>
          <p:cNvPicPr>
            <a:picLocks noChangeAspect="1"/>
          </p:cNvPicPr>
          <p:nvPr/>
        </p:nvPicPr>
        <p:blipFill>
          <a:blip r:embed="rId8"/>
          <a:stretch>
            <a:fillRect/>
          </a:stretch>
        </p:blipFill>
        <p:spPr>
          <a:xfrm>
            <a:off x="548640" y="5248656"/>
            <a:ext cx="274320" cy="274320"/>
          </a:xfrm>
          <a:prstGeom prst="rect">
            <a:avLst/>
          </a:prstGeom>
        </p:spPr>
      </p:pic>
      <p:sp>
        <p:nvSpPr>
          <p:cNvPr id="21" name="Text 11"/>
          <p:cNvSpPr txBox="1"/>
          <p:nvPr/>
        </p:nvSpPr>
        <p:spPr>
          <a:xfrm>
            <a:off x="960120" y="5212080"/>
            <a:ext cx="4937760" cy="411480"/>
          </a:xfrm>
          <a:prstGeom prst="rect">
            <a:avLst/>
          </a:prstGeom>
          <a:noFill/>
          <a:ln/>
        </p:spPr>
        <p:txBody>
          <a:bodyPr wrap="square" lIns="0" tIns="0" rIns="0" bIns="0" rtlCol="0" anchor="ctr"/>
          <a:lstStyle/>
          <a:p>
            <a:pPr indent="0" marL="0">
              <a:buNone/>
            </a:pPr>
            <a:r>
              <a:rPr lang="en-US" sz="1400" dirty="0">
                <a:solidFill>
                  <a:srgbClr val="253122"/>
                </a:solidFill>
                <a:latin typeface="Calibri" pitchFamily="34" charset="0"/>
                <a:ea typeface="Calibri" pitchFamily="34" charset="-122"/>
                <a:cs typeface="Calibri" pitchFamily="34" charset="-120"/>
              </a:rPr>
              <a:t>Re-enter 2019-20 baseline from Annual Report</a:t>
            </a:r>
            <a:endParaRPr lang="en-US" sz="1400" dirty="0"/>
          </a:p>
        </p:txBody>
      </p:sp>
      <p:pic>
        <p:nvPicPr>
          <p:cNvPr id="22" name="Pending icon 3" descr="preencoded.png">    </p:cNvPr>
          <p:cNvPicPr>
            <a:picLocks noChangeAspect="1"/>
          </p:cNvPicPr>
          <p:nvPr/>
        </p:nvPicPr>
        <p:blipFill>
          <a:blip r:embed="rId9"/>
          <a:stretch>
            <a:fillRect/>
          </a:stretch>
        </p:blipFill>
        <p:spPr>
          <a:xfrm>
            <a:off x="548640" y="5724144"/>
            <a:ext cx="274320" cy="274320"/>
          </a:xfrm>
          <a:prstGeom prst="rect">
            <a:avLst/>
          </a:prstGeom>
        </p:spPr>
      </p:pic>
      <p:sp>
        <p:nvSpPr>
          <p:cNvPr id="23" name="Text 12"/>
          <p:cNvSpPr txBox="1"/>
          <p:nvPr/>
        </p:nvSpPr>
        <p:spPr>
          <a:xfrm>
            <a:off x="960120" y="5687568"/>
            <a:ext cx="4937760" cy="411480"/>
          </a:xfrm>
          <a:prstGeom prst="rect">
            <a:avLst/>
          </a:prstGeom>
          <a:noFill/>
          <a:ln/>
        </p:spPr>
        <p:txBody>
          <a:bodyPr wrap="square" lIns="0" tIns="0" rIns="0" bIns="0" rtlCol="0" anchor="ctr"/>
          <a:lstStyle/>
          <a:p>
            <a:pPr indent="0" marL="0">
              <a:buNone/>
            </a:pPr>
            <a:r>
              <a:rPr lang="en-US" sz="1400" dirty="0">
                <a:solidFill>
                  <a:srgbClr val="253122"/>
                </a:solidFill>
                <a:latin typeface="Calibri" pitchFamily="34" charset="0"/>
                <a:ea typeface="Calibri" pitchFamily="34" charset="-122"/>
                <a:cs typeface="Calibri" pitchFamily="34" charset="-120"/>
              </a:rPr>
              <a:t>Supervisor review, plagiarism check, final formatting</a:t>
            </a:r>
            <a:endParaRPr lang="en-US" sz="1400" dirty="0"/>
          </a:p>
        </p:txBody>
      </p:sp>
      <p:sp>
        <p:nvSpPr>
          <p:cNvPr id="24" name="!!card1"/>
          <p:cNvSpPr/>
          <p:nvPr/>
        </p:nvSpPr>
        <p:spPr>
          <a:xfrm>
            <a:off x="6172200" y="1234440"/>
            <a:ext cx="5468112" cy="4892040"/>
          </a:xfrm>
          <a:prstGeom prst="roundRect">
            <a:avLst>
              <a:gd name="adj" fmla="val 1495"/>
            </a:avLst>
          </a:prstGeom>
          <a:solidFill>
            <a:srgbClr val="F2E7D5"/>
          </a:solidFill>
          <a:ln w="12700">
            <a:solidFill>
              <a:srgbClr val="F2E7D5"/>
            </a:solidFill>
            <a:prstDash val="solid"/>
          </a:ln>
        </p:spPr>
      </p:sp>
      <p:graphicFrame>
        <p:nvGraphicFramePr>
          <p:cNvPr id="25" name="Demurrage chart" descr=""/>
          <p:cNvGraphicFramePr/>
          <p:nvPr/>
        </p:nvGraphicFramePr>
        <p:xfrm>
          <a:off x="6263640" y="1325880"/>
          <a:ext cx="5285232" cy="4709160"/>
        </p:xfrm>
        <a:graphic xmlns:a="http://schemas.openxmlformats.org/drawingml/2006/main">
          <a:graphicData uri="http://schemas.openxmlformats.org/drawingml/2006/chart">
            <c:chart xmlns:c="http://schemas.openxmlformats.org/drawingml/2006/chart" r:id="rId10"/>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5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halo"/>
          <p:cNvSpPr/>
          <p:nvPr/>
        </p:nvSpPr>
        <p:spPr>
          <a:xfrm>
            <a:off x="-2286000" y="4572000"/>
            <a:ext cx="4206240" cy="4206240"/>
          </a:xfrm>
          <a:prstGeom prst="ellipse">
            <a:avLst/>
          </a:prstGeom>
          <a:solidFill>
            <a:srgbClr val="BC892B">
              <a:alpha val="16000"/>
            </a:srgbClr>
          </a:solidFill>
          <a:ln w="12700">
            <a:solidFill>
              <a:srgbClr val="BC892B">
                <a:alpha val="0"/>
              </a:srgbClr>
            </a:solidFill>
            <a:prstDash val="solid"/>
          </a:ln>
        </p:spPr>
      </p:sp>
      <p:sp>
        <p:nvSpPr>
          <p:cNvPr id="3"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Work Completed: Preliminary Findings</a:t>
            </a:r>
            <a:endParaRPr lang="en-US" sz="3200" dirty="0"/>
          </a:p>
        </p:txBody>
      </p:sp>
      <p:sp>
        <p:nvSpPr>
          <p:cNvPr id="4" name="!!orb"/>
          <p:cNvSpPr/>
          <p:nvPr/>
        </p:nvSpPr>
        <p:spPr>
          <a:xfrm>
            <a:off x="10957255" y="347472"/>
            <a:ext cx="685800" cy="685800"/>
          </a:xfrm>
          <a:prstGeom prst="ellipse">
            <a:avLst/>
          </a:prstGeom>
          <a:solidFill>
            <a:srgbClr val="BC892B"/>
          </a:solidFill>
          <a:ln w="12700">
            <a:solidFill>
              <a:srgbClr val="BC892B"/>
            </a:solidFill>
            <a:prstDash val="solid"/>
          </a:ln>
        </p:spPr>
      </p:sp>
      <p:pic>
        <p:nvPicPr>
          <p:cNvPr id="5" name="!!orbicon" descr="preencoded.png">    </p:cNvPr>
          <p:cNvPicPr>
            <a:picLocks noChangeAspect="1"/>
          </p:cNvPicPr>
          <p:nvPr/>
        </p:nvPicPr>
        <p:blipFill>
          <a:blip r:embed="rId1"/>
          <a:stretch>
            <a:fillRect/>
          </a:stretch>
        </p:blipFill>
        <p:spPr>
          <a:xfrm>
            <a:off x="11130991" y="521208"/>
            <a:ext cx="338328" cy="338328"/>
          </a:xfrm>
          <a:prstGeom prst="rect">
            <a:avLst/>
          </a:prstGeom>
        </p:spPr>
      </p:pic>
      <p:sp>
        <p:nvSpPr>
          <p:cNvPr id="6" name="!!card1"/>
          <p:cNvSpPr/>
          <p:nvPr/>
        </p:nvSpPr>
        <p:spPr>
          <a:xfrm>
            <a:off x="548640" y="1234440"/>
            <a:ext cx="5029200" cy="4892040"/>
          </a:xfrm>
          <a:prstGeom prst="roundRect">
            <a:avLst>
              <a:gd name="adj" fmla="val 1495"/>
            </a:avLst>
          </a:prstGeom>
          <a:solidFill>
            <a:srgbClr val="F5EDDF"/>
          </a:solidFill>
          <a:ln w="12700">
            <a:solidFill>
              <a:srgbClr val="F5EDDF"/>
            </a:solidFill>
            <a:prstDash val="solid"/>
          </a:ln>
        </p:spPr>
      </p:sp>
      <p:graphicFrame>
        <p:nvGraphicFramePr>
          <p:cNvPr id="7" name="Storage chart" descr=""/>
          <p:cNvGraphicFramePr/>
          <p:nvPr/>
        </p:nvGraphicFramePr>
        <p:xfrm>
          <a:off x="640080" y="1325880"/>
          <a:ext cx="4846320" cy="4709160"/>
        </p:xfrm>
        <a:graphic xmlns:a="http://schemas.openxmlformats.org/drawingml/2006/main">
          <a:graphicData uri="http://schemas.openxmlformats.org/drawingml/2006/chart">
            <c:chart xmlns:c="http://schemas.openxmlformats.org/drawingml/2006/chart" r:id="rId2"/>
          </a:graphicData>
        </a:graphic>
      </p:graphicFrame>
      <p:sp>
        <p:nvSpPr>
          <p:cNvPr id="8" name="!!card2"/>
          <p:cNvSpPr/>
          <p:nvPr/>
        </p:nvSpPr>
        <p:spPr>
          <a:xfrm>
            <a:off x="5806440" y="1280160"/>
            <a:ext cx="2798064" cy="1463040"/>
          </a:xfrm>
          <a:prstGeom prst="roundRect">
            <a:avLst>
              <a:gd name="adj" fmla="val 5000"/>
            </a:avLst>
          </a:prstGeom>
          <a:solidFill>
            <a:srgbClr val="F2E7D5"/>
          </a:solidFill>
          <a:ln w="12700">
            <a:solidFill>
              <a:srgbClr val="F2E7D5"/>
            </a:solidFill>
            <a:prstDash val="solid"/>
          </a:ln>
        </p:spPr>
      </p:sp>
      <p:sp>
        <p:nvSpPr>
          <p:cNvPr id="9" name="Text 5"/>
          <p:cNvSpPr txBox="1"/>
          <p:nvPr/>
        </p:nvSpPr>
        <p:spPr>
          <a:xfrm>
            <a:off x="5989320" y="1444752"/>
            <a:ext cx="2432304" cy="594360"/>
          </a:xfrm>
          <a:prstGeom prst="rect">
            <a:avLst/>
          </a:prstGeom>
          <a:noFill/>
          <a:ln/>
        </p:spPr>
        <p:txBody>
          <a:bodyPr wrap="square" lIns="0" tIns="0" rIns="0" bIns="0" rtlCol="0" anchor="t"/>
          <a:lstStyle/>
          <a:p>
            <a:pPr indent="0" marL="0">
              <a:buNone/>
            </a:pPr>
            <a:r>
              <a:rPr lang="en-US" sz="2400" b="1" dirty="0">
                <a:solidFill>
                  <a:srgbClr val="1A7444"/>
                </a:solidFill>
                <a:latin typeface="Cambria" pitchFamily="34" charset="0"/>
                <a:ea typeface="Cambria" pitchFamily="34" charset="-122"/>
                <a:cs typeface="Cambria" pitchFamily="34" charset="-120"/>
              </a:rPr>
              <a:t>+36%</a:t>
            </a:r>
            <a:endParaRPr lang="en-US" sz="2400" dirty="0"/>
          </a:p>
        </p:txBody>
      </p:sp>
      <p:sp>
        <p:nvSpPr>
          <p:cNvPr id="10" name="Text 6"/>
          <p:cNvSpPr txBox="1"/>
          <p:nvPr/>
        </p:nvSpPr>
        <p:spPr>
          <a:xfrm>
            <a:off x="5989320" y="2057400"/>
            <a:ext cx="2432304" cy="594360"/>
          </a:xfrm>
          <a:prstGeom prst="rect">
            <a:avLst/>
          </a:prstGeom>
          <a:noFill/>
          <a:ln/>
        </p:spPr>
        <p:txBody>
          <a:bodyPr wrap="square" lIns="0" tIns="0" rIns="0" bIns="0" rtlCol="0" anchor="t"/>
          <a:lstStyle/>
          <a:p>
            <a:pPr indent="0" marL="0">
              <a:buNone/>
            </a:pPr>
            <a:r>
              <a:rPr lang="en-US" sz="1300" dirty="0">
                <a:solidFill>
                  <a:srgbClr val="253122"/>
                </a:solidFill>
                <a:latin typeface="Calibri" pitchFamily="34" charset="0"/>
                <a:ea typeface="Calibri" pitchFamily="34" charset="-122"/>
                <a:cs typeface="Calibri" pitchFamily="34" charset="-120"/>
              </a:rPr>
              <a:t>storage capacity in 3 years, mostly hired</a:t>
            </a:r>
            <a:endParaRPr lang="en-US" sz="1300" dirty="0"/>
          </a:p>
        </p:txBody>
      </p:sp>
      <p:sp>
        <p:nvSpPr>
          <p:cNvPr id="11" name="!!card3"/>
          <p:cNvSpPr/>
          <p:nvPr/>
        </p:nvSpPr>
        <p:spPr>
          <a:xfrm>
            <a:off x="8769096" y="1280160"/>
            <a:ext cx="2798064" cy="1463040"/>
          </a:xfrm>
          <a:prstGeom prst="roundRect">
            <a:avLst>
              <a:gd name="adj" fmla="val 5000"/>
            </a:avLst>
          </a:prstGeom>
          <a:solidFill>
            <a:srgbClr val="D1F2ED"/>
          </a:solidFill>
          <a:ln w="12700">
            <a:solidFill>
              <a:srgbClr val="D1F2ED"/>
            </a:solidFill>
            <a:prstDash val="solid"/>
          </a:ln>
        </p:spPr>
      </p:sp>
      <p:sp>
        <p:nvSpPr>
          <p:cNvPr id="12" name="Text 8"/>
          <p:cNvSpPr txBox="1"/>
          <p:nvPr/>
        </p:nvSpPr>
        <p:spPr>
          <a:xfrm>
            <a:off x="8951976" y="1444752"/>
            <a:ext cx="2432304" cy="594360"/>
          </a:xfrm>
          <a:prstGeom prst="rect">
            <a:avLst/>
          </a:prstGeom>
          <a:noFill/>
          <a:ln/>
        </p:spPr>
        <p:txBody>
          <a:bodyPr wrap="square" lIns="0" tIns="0" rIns="0" bIns="0" rtlCol="0" anchor="t"/>
          <a:lstStyle/>
          <a:p>
            <a:pPr indent="0" marL="0">
              <a:buNone/>
            </a:pPr>
            <a:r>
              <a:rPr lang="en-US" sz="2400" b="1" dirty="0">
                <a:solidFill>
                  <a:srgbClr val="004F46"/>
                </a:solidFill>
                <a:latin typeface="Cambria" pitchFamily="34" charset="0"/>
                <a:ea typeface="Cambria" pitchFamily="34" charset="-122"/>
                <a:cs typeface="Cambria" pitchFamily="34" charset="-120"/>
              </a:rPr>
              <a:t>64% → 84%</a:t>
            </a:r>
            <a:endParaRPr lang="en-US" sz="2400" dirty="0"/>
          </a:p>
        </p:txBody>
      </p:sp>
      <p:sp>
        <p:nvSpPr>
          <p:cNvPr id="13" name="Text 9"/>
          <p:cNvSpPr txBox="1"/>
          <p:nvPr/>
        </p:nvSpPr>
        <p:spPr>
          <a:xfrm>
            <a:off x="8951976" y="2057400"/>
            <a:ext cx="2432304" cy="594360"/>
          </a:xfrm>
          <a:prstGeom prst="rect">
            <a:avLst/>
          </a:prstGeom>
          <a:noFill/>
          <a:ln/>
        </p:spPr>
        <p:txBody>
          <a:bodyPr wrap="square" lIns="0" tIns="0" rIns="0" bIns="0" rtlCol="0" anchor="t"/>
          <a:lstStyle/>
          <a:p>
            <a:pPr indent="0" marL="0">
              <a:buNone/>
            </a:pPr>
            <a:r>
              <a:rPr lang="en-US" sz="1300" dirty="0">
                <a:solidFill>
                  <a:srgbClr val="253122"/>
                </a:solidFill>
                <a:latin typeface="Calibri" pitchFamily="34" charset="0"/>
                <a:ea typeface="Calibri" pitchFamily="34" charset="-122"/>
                <a:cs typeface="Calibri" pitchFamily="34" charset="-120"/>
              </a:rPr>
              <a:t>average storage utilisation</a:t>
            </a:r>
            <a:endParaRPr lang="en-US" sz="1300" dirty="0"/>
          </a:p>
        </p:txBody>
      </p:sp>
      <p:sp>
        <p:nvSpPr>
          <p:cNvPr id="14" name="!!card4"/>
          <p:cNvSpPr/>
          <p:nvPr/>
        </p:nvSpPr>
        <p:spPr>
          <a:xfrm>
            <a:off x="5806440" y="2926080"/>
            <a:ext cx="2798064" cy="1463040"/>
          </a:xfrm>
          <a:prstGeom prst="roundRect">
            <a:avLst>
              <a:gd name="adj" fmla="val 5000"/>
            </a:avLst>
          </a:prstGeom>
          <a:solidFill>
            <a:srgbClr val="FEECD2"/>
          </a:solidFill>
          <a:ln w="12700">
            <a:solidFill>
              <a:srgbClr val="FEECD2"/>
            </a:solidFill>
            <a:prstDash val="solid"/>
          </a:ln>
        </p:spPr>
      </p:sp>
      <p:sp>
        <p:nvSpPr>
          <p:cNvPr id="15" name="Text 11"/>
          <p:cNvSpPr txBox="1"/>
          <p:nvPr/>
        </p:nvSpPr>
        <p:spPr>
          <a:xfrm>
            <a:off x="5989320" y="3090672"/>
            <a:ext cx="2432304" cy="594360"/>
          </a:xfrm>
          <a:prstGeom prst="rect">
            <a:avLst/>
          </a:prstGeom>
          <a:noFill/>
          <a:ln/>
        </p:spPr>
        <p:txBody>
          <a:bodyPr wrap="square" lIns="0" tIns="0" rIns="0" bIns="0" rtlCol="0" anchor="t"/>
          <a:lstStyle/>
          <a:p>
            <a:pPr indent="0" marL="0">
              <a:buNone/>
            </a:pPr>
            <a:r>
              <a:rPr lang="en-US" sz="2400" b="1" dirty="0">
                <a:solidFill>
                  <a:srgbClr val="986F2D"/>
                </a:solidFill>
                <a:latin typeface="Cambria" pitchFamily="34" charset="0"/>
                <a:ea typeface="Cambria" pitchFamily="34" charset="-122"/>
                <a:cs typeface="Cambria" pitchFamily="34" charset="-120"/>
              </a:rPr>
              <a:t>+62.7%</a:t>
            </a:r>
            <a:endParaRPr lang="en-US" sz="2400" dirty="0"/>
          </a:p>
        </p:txBody>
      </p:sp>
      <p:sp>
        <p:nvSpPr>
          <p:cNvPr id="16" name="Text 12"/>
          <p:cNvSpPr txBox="1"/>
          <p:nvPr/>
        </p:nvSpPr>
        <p:spPr>
          <a:xfrm>
            <a:off x="5989320" y="3703320"/>
            <a:ext cx="2432304" cy="594360"/>
          </a:xfrm>
          <a:prstGeom prst="rect">
            <a:avLst/>
          </a:prstGeom>
          <a:noFill/>
          <a:ln/>
        </p:spPr>
        <p:txBody>
          <a:bodyPr wrap="square" lIns="0" tIns="0" rIns="0" bIns="0" rtlCol="0" anchor="t"/>
          <a:lstStyle/>
          <a:p>
            <a:pPr indent="0" marL="0">
              <a:buNone/>
            </a:pPr>
            <a:r>
              <a:rPr lang="en-US" sz="1300" dirty="0">
                <a:solidFill>
                  <a:srgbClr val="253122"/>
                </a:solidFill>
                <a:latin typeface="Calibri" pitchFamily="34" charset="0"/>
                <a:ea typeface="Calibri" pitchFamily="34" charset="-122"/>
                <a:cs typeface="Calibri" pitchFamily="34" charset="-120"/>
              </a:rPr>
              <a:t>storage cost in 2024-25 alone</a:t>
            </a:r>
            <a:endParaRPr lang="en-US" sz="1300" dirty="0"/>
          </a:p>
        </p:txBody>
      </p:sp>
      <p:sp>
        <p:nvSpPr>
          <p:cNvPr id="17" name="!!card5"/>
          <p:cNvSpPr/>
          <p:nvPr/>
        </p:nvSpPr>
        <p:spPr>
          <a:xfrm>
            <a:off x="8769096" y="2926080"/>
            <a:ext cx="2798064" cy="1463040"/>
          </a:xfrm>
          <a:prstGeom prst="roundRect">
            <a:avLst>
              <a:gd name="adj" fmla="val 5000"/>
            </a:avLst>
          </a:prstGeom>
          <a:solidFill>
            <a:srgbClr val="A62C37"/>
          </a:solidFill>
          <a:ln w="12700">
            <a:solidFill>
              <a:srgbClr val="A62C37"/>
            </a:solidFill>
            <a:prstDash val="solid"/>
          </a:ln>
        </p:spPr>
      </p:sp>
      <p:sp>
        <p:nvSpPr>
          <p:cNvPr id="18" name="Text 14"/>
          <p:cNvSpPr txBox="1"/>
          <p:nvPr/>
        </p:nvSpPr>
        <p:spPr>
          <a:xfrm>
            <a:off x="8951976" y="3090672"/>
            <a:ext cx="2432304" cy="59436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₹17,434 cr</a:t>
            </a:r>
            <a:endParaRPr lang="en-US" sz="2400" dirty="0"/>
          </a:p>
        </p:txBody>
      </p:sp>
      <p:sp>
        <p:nvSpPr>
          <p:cNvPr id="19" name="Text 15"/>
          <p:cNvSpPr txBox="1"/>
          <p:nvPr/>
        </p:nvSpPr>
        <p:spPr>
          <a:xfrm>
            <a:off x="8951976" y="3703320"/>
            <a:ext cx="2432304"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subsidy gap in 2024-25</a:t>
            </a:r>
            <a:endParaRPr lang="en-US" sz="1300" dirty="0"/>
          </a:p>
        </p:txBody>
      </p:sp>
      <p:sp>
        <p:nvSpPr>
          <p:cNvPr id="20" name="!!card6"/>
          <p:cNvSpPr/>
          <p:nvPr/>
        </p:nvSpPr>
        <p:spPr>
          <a:xfrm>
            <a:off x="5806440" y="4572000"/>
            <a:ext cx="2798064" cy="1463040"/>
          </a:xfrm>
          <a:prstGeom prst="roundRect">
            <a:avLst>
              <a:gd name="adj" fmla="val 5000"/>
            </a:avLst>
          </a:prstGeom>
          <a:solidFill>
            <a:srgbClr val="F5ECCF"/>
          </a:solidFill>
          <a:ln w="12700">
            <a:solidFill>
              <a:srgbClr val="F5ECCF"/>
            </a:solidFill>
            <a:prstDash val="solid"/>
          </a:ln>
        </p:spPr>
      </p:sp>
      <p:sp>
        <p:nvSpPr>
          <p:cNvPr id="21" name="Text 17"/>
          <p:cNvSpPr txBox="1"/>
          <p:nvPr/>
        </p:nvSpPr>
        <p:spPr>
          <a:xfrm>
            <a:off x="5989320" y="4736592"/>
            <a:ext cx="2432304" cy="594360"/>
          </a:xfrm>
          <a:prstGeom prst="rect">
            <a:avLst/>
          </a:prstGeom>
          <a:noFill/>
          <a:ln/>
        </p:spPr>
        <p:txBody>
          <a:bodyPr wrap="square" lIns="0" tIns="0" rIns="0" bIns="0" rtlCol="0" anchor="t"/>
          <a:lstStyle/>
          <a:p>
            <a:pPr indent="0" marL="0">
              <a:buNone/>
            </a:pPr>
            <a:r>
              <a:rPr lang="en-US" sz="2400" b="1" dirty="0">
                <a:solidFill>
                  <a:srgbClr val="437742"/>
                </a:solidFill>
                <a:latin typeface="Cambria" pitchFamily="34" charset="0"/>
                <a:ea typeface="Cambria" pitchFamily="34" charset="-122"/>
                <a:cs typeface="Cambria" pitchFamily="34" charset="-120"/>
              </a:rPr>
              <a:t>0.22% → 0.17%</a:t>
            </a:r>
            <a:endParaRPr lang="en-US" sz="2400" dirty="0"/>
          </a:p>
        </p:txBody>
      </p:sp>
      <p:sp>
        <p:nvSpPr>
          <p:cNvPr id="22" name="Text 18"/>
          <p:cNvSpPr txBox="1"/>
          <p:nvPr/>
        </p:nvSpPr>
        <p:spPr>
          <a:xfrm>
            <a:off x="5989320" y="5349240"/>
            <a:ext cx="2432304" cy="594360"/>
          </a:xfrm>
          <a:prstGeom prst="rect">
            <a:avLst/>
          </a:prstGeom>
          <a:noFill/>
          <a:ln/>
        </p:spPr>
        <p:txBody>
          <a:bodyPr wrap="square" lIns="0" tIns="0" rIns="0" bIns="0" rtlCol="0" anchor="t"/>
          <a:lstStyle/>
          <a:p>
            <a:pPr indent="0" marL="0">
              <a:buNone/>
            </a:pPr>
            <a:r>
              <a:rPr lang="en-US" sz="1300" dirty="0">
                <a:solidFill>
                  <a:srgbClr val="253122"/>
                </a:solidFill>
                <a:latin typeface="Calibri" pitchFamily="34" charset="0"/>
                <a:ea typeface="Calibri" pitchFamily="34" charset="-122"/>
                <a:cs typeface="Calibri" pitchFamily="34" charset="-120"/>
              </a:rPr>
              <a:t>transit loss improved</a:t>
            </a:r>
            <a:endParaRPr lang="en-US" sz="1300" dirty="0"/>
          </a:p>
        </p:txBody>
      </p:sp>
      <p:sp>
        <p:nvSpPr>
          <p:cNvPr id="23" name="!!card7"/>
          <p:cNvSpPr/>
          <p:nvPr/>
        </p:nvSpPr>
        <p:spPr>
          <a:xfrm>
            <a:off x="8769096" y="4572000"/>
            <a:ext cx="2798064" cy="1463040"/>
          </a:xfrm>
          <a:prstGeom prst="roundRect">
            <a:avLst>
              <a:gd name="adj" fmla="val 5000"/>
            </a:avLst>
          </a:prstGeom>
          <a:solidFill>
            <a:srgbClr val="635A3A"/>
          </a:solidFill>
          <a:ln w="12700">
            <a:solidFill>
              <a:srgbClr val="635A3A"/>
            </a:solidFill>
            <a:prstDash val="solid"/>
          </a:ln>
        </p:spPr>
      </p:sp>
      <p:sp>
        <p:nvSpPr>
          <p:cNvPr id="24" name="Text 20"/>
          <p:cNvSpPr txBox="1"/>
          <p:nvPr/>
        </p:nvSpPr>
        <p:spPr>
          <a:xfrm>
            <a:off x="8951976" y="4736592"/>
            <a:ext cx="2432304" cy="59436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+50%</a:t>
            </a:r>
            <a:endParaRPr lang="en-US" sz="2400" dirty="0"/>
          </a:p>
        </p:txBody>
      </p:sp>
      <p:sp>
        <p:nvSpPr>
          <p:cNvPr id="25" name="Text 21"/>
          <p:cNvSpPr txBox="1"/>
          <p:nvPr/>
        </p:nvSpPr>
        <p:spPr>
          <a:xfrm>
            <a:off x="8951976" y="5349240"/>
            <a:ext cx="2432304"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Gujarat storage, 6.23 → 9.34 LMT; ~91% used</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5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halo"/>
          <p:cNvSpPr/>
          <p:nvPr/>
        </p:nvSpPr>
        <p:spPr>
          <a:xfrm>
            <a:off x="9875520" y="-2286000"/>
            <a:ext cx="4206240" cy="4206240"/>
          </a:xfrm>
          <a:prstGeom prst="ellipse">
            <a:avLst/>
          </a:prstGeom>
          <a:solidFill>
            <a:srgbClr val="F8B6BA">
              <a:alpha val="30000"/>
            </a:srgbClr>
          </a:solidFill>
          <a:ln w="12700">
            <a:solidFill>
              <a:srgbClr val="F8B6BA">
                <a:alpha val="0"/>
              </a:srgbClr>
            </a:solidFill>
            <a:prstDash val="solid"/>
          </a:ln>
        </p:spPr>
      </p:sp>
      <p:sp>
        <p:nvSpPr>
          <p:cNvPr id="3"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Project Timeline and Future Work</a:t>
            </a:r>
            <a:endParaRPr lang="en-US" sz="3200" dirty="0"/>
          </a:p>
        </p:txBody>
      </p:sp>
      <p:sp>
        <p:nvSpPr>
          <p:cNvPr id="4" name="!!orb"/>
          <p:cNvSpPr/>
          <p:nvPr/>
        </p:nvSpPr>
        <p:spPr>
          <a:xfrm>
            <a:off x="10957255" y="347472"/>
            <a:ext cx="685800" cy="685800"/>
          </a:xfrm>
          <a:prstGeom prst="ellipse">
            <a:avLst/>
          </a:prstGeom>
          <a:solidFill>
            <a:srgbClr val="986F2D"/>
          </a:solidFill>
          <a:ln w="12700">
            <a:solidFill>
              <a:srgbClr val="986F2D"/>
            </a:solidFill>
            <a:prstDash val="solid"/>
          </a:ln>
        </p:spPr>
      </p:sp>
      <p:pic>
        <p:nvPicPr>
          <p:cNvPr id="5" name="!!orbicon" descr="preencoded.png">    </p:cNvPr>
          <p:cNvPicPr>
            <a:picLocks noChangeAspect="1"/>
          </p:cNvPicPr>
          <p:nvPr/>
        </p:nvPicPr>
        <p:blipFill>
          <a:blip r:embed="rId1"/>
          <a:stretch>
            <a:fillRect/>
          </a:stretch>
        </p:blipFill>
        <p:spPr>
          <a:xfrm>
            <a:off x="11130991" y="521208"/>
            <a:ext cx="338328" cy="338328"/>
          </a:xfrm>
          <a:prstGeom prst="rect">
            <a:avLst/>
          </a:prstGeom>
        </p:spPr>
      </p:pic>
      <p:sp>
        <p:nvSpPr>
          <p:cNvPr id="6" name="Timeline line"/>
          <p:cNvSpPr/>
          <p:nvPr/>
        </p:nvSpPr>
        <p:spPr>
          <a:xfrm>
            <a:off x="914400" y="2331720"/>
            <a:ext cx="10362895" cy="0"/>
          </a:xfrm>
          <a:prstGeom prst="line">
            <a:avLst/>
          </a:prstGeom>
          <a:noFill/>
          <a:ln w="25400">
            <a:solidFill>
              <a:srgbClr val="635A3A"/>
            </a:solidFill>
            <a:prstDash val="solid"/>
          </a:ln>
        </p:spPr>
      </p:sp>
      <p:sp>
        <p:nvSpPr>
          <p:cNvPr id="7" name="Milestone 1"/>
          <p:cNvSpPr/>
          <p:nvPr/>
        </p:nvSpPr>
        <p:spPr>
          <a:xfrm>
            <a:off x="1456914" y="2130552"/>
            <a:ext cx="402336" cy="402336"/>
          </a:xfrm>
          <a:prstGeom prst="ellipse">
            <a:avLst/>
          </a:prstGeom>
          <a:solidFill>
            <a:srgbClr val="1A7444"/>
          </a:solidFill>
          <a:ln w="25400">
            <a:solidFill>
              <a:srgbClr val="FFFFFF"/>
            </a:solidFill>
            <a:prstDash val="solid"/>
          </a:ln>
        </p:spPr>
      </p:sp>
      <p:sp>
        <p:nvSpPr>
          <p:cNvPr id="8" name="Text 5"/>
          <p:cNvSpPr txBox="1"/>
          <p:nvPr/>
        </p:nvSpPr>
        <p:spPr>
          <a:xfrm>
            <a:off x="640080" y="1325880"/>
            <a:ext cx="2036003" cy="365760"/>
          </a:xfrm>
          <a:prstGeom prst="rect">
            <a:avLst/>
          </a:prstGeom>
          <a:noFill/>
          <a:ln/>
        </p:spPr>
        <p:txBody>
          <a:bodyPr wrap="square" lIns="0" tIns="0" rIns="0" bIns="0" rtlCol="0" anchor="t"/>
          <a:lstStyle/>
          <a:p>
            <a:pPr algn="ctr" indent="0" marL="0">
              <a:buNone/>
            </a:pPr>
            <a:r>
              <a:rPr lang="en-US" sz="1700" b="1" dirty="0">
                <a:solidFill>
                  <a:srgbClr val="1A7444"/>
                </a:solidFill>
                <a:latin typeface="Cambria" pitchFamily="34" charset="0"/>
                <a:ea typeface="Cambria" pitchFamily="34" charset="-122"/>
                <a:cs typeface="Cambria" pitchFamily="34" charset="-120"/>
              </a:rPr>
              <a:t>Done</a:t>
            </a:r>
            <a:endParaRPr lang="en-US" sz="1700" dirty="0"/>
          </a:p>
        </p:txBody>
      </p:sp>
      <p:sp>
        <p:nvSpPr>
          <p:cNvPr id="9" name="Text 6"/>
          <p:cNvSpPr txBox="1"/>
          <p:nvPr/>
        </p:nvSpPr>
        <p:spPr>
          <a:xfrm>
            <a:off x="640080" y="1691640"/>
            <a:ext cx="2036003" cy="320040"/>
          </a:xfrm>
          <a:prstGeom prst="rect">
            <a:avLst/>
          </a:prstGeom>
          <a:noFill/>
          <a:ln/>
        </p:spPr>
        <p:txBody>
          <a:bodyPr wrap="square" lIns="0" tIns="0" rIns="0" bIns="0" rtlCol="0" anchor="t"/>
          <a:lstStyle/>
          <a:p>
            <a:pPr algn="ctr" indent="0" marL="0">
              <a:buNone/>
            </a:pPr>
            <a:r>
              <a:rPr lang="en-US" sz="1300" dirty="0">
                <a:solidFill>
                  <a:srgbClr val="635A3A"/>
                </a:solidFill>
                <a:latin typeface="Calibri" pitchFamily="34" charset="0"/>
                <a:ea typeface="Calibri" pitchFamily="34" charset="-122"/>
                <a:cs typeface="Calibri" pitchFamily="34" charset="-120"/>
              </a:rPr>
              <a:t>Jul – Oct 2026</a:t>
            </a:r>
            <a:endParaRPr lang="en-US" sz="1300" dirty="0"/>
          </a:p>
        </p:txBody>
      </p:sp>
      <p:sp>
        <p:nvSpPr>
          <p:cNvPr id="10" name="!!card2"/>
          <p:cNvSpPr/>
          <p:nvPr/>
        </p:nvSpPr>
        <p:spPr>
          <a:xfrm>
            <a:off x="640080" y="2743200"/>
            <a:ext cx="2036003" cy="1234440"/>
          </a:xfrm>
          <a:prstGeom prst="roundRect">
            <a:avLst>
              <a:gd name="adj" fmla="val 5926"/>
            </a:avLst>
          </a:prstGeom>
          <a:solidFill>
            <a:srgbClr val="FDE9EA"/>
          </a:solidFill>
          <a:ln w="12700">
            <a:solidFill>
              <a:srgbClr val="FDE9EA"/>
            </a:solidFill>
            <a:prstDash val="solid"/>
          </a:ln>
        </p:spPr>
      </p:sp>
      <p:sp>
        <p:nvSpPr>
          <p:cNvPr id="11" name="Text 8"/>
          <p:cNvSpPr txBox="1"/>
          <p:nvPr/>
        </p:nvSpPr>
        <p:spPr>
          <a:xfrm>
            <a:off x="777240" y="2852928"/>
            <a:ext cx="1761683" cy="1051560"/>
          </a:xfrm>
          <a:prstGeom prst="rect">
            <a:avLst/>
          </a:prstGeom>
          <a:noFill/>
          <a:ln/>
        </p:spPr>
        <p:txBody>
          <a:bodyPr wrap="square" lIns="0" tIns="0" rIns="0" bIns="0" rtlCol="0" anchor="t"/>
          <a:lstStyle/>
          <a:p>
            <a:pPr indent="0" marL="0">
              <a:buNone/>
            </a:pPr>
            <a:r>
              <a:rPr lang="en-US" sz="1300" dirty="0">
                <a:solidFill>
                  <a:srgbClr val="253122"/>
                </a:solidFill>
                <a:latin typeface="Calibri" pitchFamily="34" charset="0"/>
                <a:ea typeface="Calibri" pitchFamily="34" charset="-122"/>
                <a:cs typeface="Calibri" pitchFamily="34" charset="-120"/>
              </a:rPr>
              <a:t>Topic, literature review, dataset, analysis, draft report</a:t>
            </a:r>
            <a:endParaRPr lang="en-US" sz="1300" dirty="0"/>
          </a:p>
        </p:txBody>
      </p:sp>
      <p:sp>
        <p:nvSpPr>
          <p:cNvPr id="12" name="Milestone 2"/>
          <p:cNvSpPr/>
          <p:nvPr/>
        </p:nvSpPr>
        <p:spPr>
          <a:xfrm>
            <a:off x="3675797" y="2130552"/>
            <a:ext cx="402336" cy="402336"/>
          </a:xfrm>
          <a:prstGeom prst="ellipse">
            <a:avLst/>
          </a:prstGeom>
          <a:solidFill>
            <a:srgbClr val="253122"/>
          </a:solidFill>
          <a:ln w="25400">
            <a:solidFill>
              <a:srgbClr val="FFFFFF"/>
            </a:solidFill>
            <a:prstDash val="solid"/>
          </a:ln>
        </p:spPr>
      </p:sp>
      <p:sp>
        <p:nvSpPr>
          <p:cNvPr id="13" name="Text 10"/>
          <p:cNvSpPr txBox="1"/>
          <p:nvPr/>
        </p:nvSpPr>
        <p:spPr>
          <a:xfrm>
            <a:off x="2858963" y="1325880"/>
            <a:ext cx="2036003" cy="365760"/>
          </a:xfrm>
          <a:prstGeom prst="rect">
            <a:avLst/>
          </a:prstGeom>
          <a:noFill/>
          <a:ln/>
        </p:spPr>
        <p:txBody>
          <a:bodyPr wrap="square" lIns="0" tIns="0" rIns="0" bIns="0" rtlCol="0" anchor="t"/>
          <a:lstStyle/>
          <a:p>
            <a:pPr algn="ctr" indent="0" marL="0">
              <a:buNone/>
            </a:pPr>
            <a:r>
              <a:rPr lang="en-US" sz="1700" b="1" dirty="0">
                <a:solidFill>
                  <a:srgbClr val="253122"/>
                </a:solidFill>
                <a:latin typeface="Cambria" pitchFamily="34" charset="0"/>
                <a:ea typeface="Cambria" pitchFamily="34" charset="-122"/>
                <a:cs typeface="Cambria" pitchFamily="34" charset="-120"/>
              </a:rPr>
              <a:t>Mid-sem</a:t>
            </a:r>
            <a:endParaRPr lang="en-US" sz="1700" dirty="0"/>
          </a:p>
        </p:txBody>
      </p:sp>
      <p:sp>
        <p:nvSpPr>
          <p:cNvPr id="14" name="Text 11"/>
          <p:cNvSpPr txBox="1"/>
          <p:nvPr/>
        </p:nvSpPr>
        <p:spPr>
          <a:xfrm>
            <a:off x="2858963" y="1691640"/>
            <a:ext cx="2036003" cy="320040"/>
          </a:xfrm>
          <a:prstGeom prst="rect">
            <a:avLst/>
          </a:prstGeom>
          <a:noFill/>
          <a:ln/>
        </p:spPr>
        <p:txBody>
          <a:bodyPr wrap="square" lIns="0" tIns="0" rIns="0" bIns="0" rtlCol="0" anchor="t"/>
          <a:lstStyle/>
          <a:p>
            <a:pPr algn="ctr" indent="0" marL="0">
              <a:buNone/>
            </a:pPr>
            <a:r>
              <a:rPr lang="en-US" sz="1300" dirty="0">
                <a:solidFill>
                  <a:srgbClr val="635A3A"/>
                </a:solidFill>
                <a:latin typeface="Calibri" pitchFamily="34" charset="0"/>
                <a:ea typeface="Calibri" pitchFamily="34" charset="-122"/>
                <a:cs typeface="Calibri" pitchFamily="34" charset="-120"/>
              </a:rPr>
              <a:t>29 Oct 2026</a:t>
            </a:r>
            <a:endParaRPr lang="en-US" sz="1300" dirty="0"/>
          </a:p>
        </p:txBody>
      </p:sp>
      <p:sp>
        <p:nvSpPr>
          <p:cNvPr id="15" name="!!card3"/>
          <p:cNvSpPr/>
          <p:nvPr/>
        </p:nvSpPr>
        <p:spPr>
          <a:xfrm>
            <a:off x="2858963" y="2743200"/>
            <a:ext cx="2036003" cy="1234440"/>
          </a:xfrm>
          <a:prstGeom prst="roundRect">
            <a:avLst>
              <a:gd name="adj" fmla="val 5926"/>
            </a:avLst>
          </a:prstGeom>
          <a:solidFill>
            <a:srgbClr val="FEEDD5"/>
          </a:solidFill>
          <a:ln w="12700">
            <a:solidFill>
              <a:srgbClr val="FEEDD5"/>
            </a:solidFill>
            <a:prstDash val="solid"/>
          </a:ln>
        </p:spPr>
      </p:sp>
      <p:sp>
        <p:nvSpPr>
          <p:cNvPr id="16" name="Text 13"/>
          <p:cNvSpPr txBox="1"/>
          <p:nvPr/>
        </p:nvSpPr>
        <p:spPr>
          <a:xfrm>
            <a:off x="2996123" y="2852928"/>
            <a:ext cx="1761683" cy="1051560"/>
          </a:xfrm>
          <a:prstGeom prst="rect">
            <a:avLst/>
          </a:prstGeom>
          <a:noFill/>
          <a:ln/>
        </p:spPr>
        <p:txBody>
          <a:bodyPr wrap="square" lIns="0" tIns="0" rIns="0" bIns="0" rtlCol="0" anchor="t"/>
          <a:lstStyle/>
          <a:p>
            <a:pPr indent="0" marL="0">
              <a:buNone/>
            </a:pPr>
            <a:r>
              <a:rPr lang="en-US" sz="1300" dirty="0">
                <a:solidFill>
                  <a:srgbClr val="253122"/>
                </a:solidFill>
                <a:latin typeface="Calibri" pitchFamily="34" charset="0"/>
                <a:ea typeface="Calibri" pitchFamily="34" charset="-122"/>
                <a:cs typeface="Calibri" pitchFamily="34" charset="-120"/>
              </a:rPr>
              <a:t>Mid-semester presentation</a:t>
            </a:r>
            <a:endParaRPr lang="en-US" sz="1300" dirty="0"/>
          </a:p>
        </p:txBody>
      </p:sp>
      <p:sp>
        <p:nvSpPr>
          <p:cNvPr id="17" name="Milestone 3"/>
          <p:cNvSpPr/>
          <p:nvPr/>
        </p:nvSpPr>
        <p:spPr>
          <a:xfrm>
            <a:off x="5894680" y="2130552"/>
            <a:ext cx="402336" cy="402336"/>
          </a:xfrm>
          <a:prstGeom prst="ellipse">
            <a:avLst/>
          </a:prstGeom>
          <a:solidFill>
            <a:srgbClr val="986F2D"/>
          </a:solidFill>
          <a:ln w="25400">
            <a:solidFill>
              <a:srgbClr val="FFFFFF"/>
            </a:solidFill>
            <a:prstDash val="solid"/>
          </a:ln>
        </p:spPr>
      </p:sp>
      <p:sp>
        <p:nvSpPr>
          <p:cNvPr id="18" name="Text 15"/>
          <p:cNvSpPr txBox="1"/>
          <p:nvPr/>
        </p:nvSpPr>
        <p:spPr>
          <a:xfrm>
            <a:off x="5077846" y="1325880"/>
            <a:ext cx="2036003" cy="365760"/>
          </a:xfrm>
          <a:prstGeom prst="rect">
            <a:avLst/>
          </a:prstGeom>
          <a:noFill/>
          <a:ln/>
        </p:spPr>
        <p:txBody>
          <a:bodyPr wrap="square" lIns="0" tIns="0" rIns="0" bIns="0" rtlCol="0" anchor="t"/>
          <a:lstStyle/>
          <a:p>
            <a:pPr algn="ctr" indent="0" marL="0">
              <a:buNone/>
            </a:pPr>
            <a:r>
              <a:rPr lang="en-US" sz="1700" b="1" dirty="0">
                <a:solidFill>
                  <a:srgbClr val="986F2D"/>
                </a:solidFill>
                <a:latin typeface="Cambria" pitchFamily="34" charset="0"/>
                <a:ea typeface="Cambria" pitchFamily="34" charset="-122"/>
                <a:cs typeface="Cambria" pitchFamily="34" charset="-120"/>
              </a:rPr>
              <a:t>Weeks 1–2</a:t>
            </a:r>
            <a:endParaRPr lang="en-US" sz="1700" dirty="0"/>
          </a:p>
        </p:txBody>
      </p:sp>
      <p:sp>
        <p:nvSpPr>
          <p:cNvPr id="19" name="Text 16"/>
          <p:cNvSpPr txBox="1"/>
          <p:nvPr/>
        </p:nvSpPr>
        <p:spPr>
          <a:xfrm>
            <a:off x="5077846" y="1691640"/>
            <a:ext cx="2036003" cy="320040"/>
          </a:xfrm>
          <a:prstGeom prst="rect">
            <a:avLst/>
          </a:prstGeom>
          <a:noFill/>
          <a:ln/>
        </p:spPr>
        <p:txBody>
          <a:bodyPr wrap="square" lIns="0" tIns="0" rIns="0" bIns="0" rtlCol="0" anchor="t"/>
          <a:lstStyle/>
          <a:p>
            <a:pPr algn="ctr" indent="0" marL="0">
              <a:buNone/>
            </a:pPr>
            <a:r>
              <a:rPr lang="en-US" sz="1300" dirty="0">
                <a:solidFill>
                  <a:srgbClr val="635A3A"/>
                </a:solidFill>
                <a:latin typeface="Calibri" pitchFamily="34" charset="0"/>
                <a:ea typeface="Calibri" pitchFamily="34" charset="-122"/>
                <a:cs typeface="Calibri" pitchFamily="34" charset="-120"/>
              </a:rPr>
              <a:t>Nov 2026</a:t>
            </a:r>
            <a:endParaRPr lang="en-US" sz="1300" dirty="0"/>
          </a:p>
        </p:txBody>
      </p:sp>
      <p:sp>
        <p:nvSpPr>
          <p:cNvPr id="20" name="!!card4"/>
          <p:cNvSpPr/>
          <p:nvPr/>
        </p:nvSpPr>
        <p:spPr>
          <a:xfrm>
            <a:off x="5077846" y="2743200"/>
            <a:ext cx="2036003" cy="1234440"/>
          </a:xfrm>
          <a:prstGeom prst="roundRect">
            <a:avLst>
              <a:gd name="adj" fmla="val 5926"/>
            </a:avLst>
          </a:prstGeom>
          <a:solidFill>
            <a:srgbClr val="FDE9EA"/>
          </a:solidFill>
          <a:ln w="12700">
            <a:solidFill>
              <a:srgbClr val="FDE9EA"/>
            </a:solidFill>
            <a:prstDash val="solid"/>
          </a:ln>
        </p:spPr>
      </p:sp>
      <p:sp>
        <p:nvSpPr>
          <p:cNvPr id="21" name="Text 18"/>
          <p:cNvSpPr txBox="1"/>
          <p:nvPr/>
        </p:nvSpPr>
        <p:spPr>
          <a:xfrm>
            <a:off x="5215006" y="2852928"/>
            <a:ext cx="1761683" cy="1051560"/>
          </a:xfrm>
          <a:prstGeom prst="rect">
            <a:avLst/>
          </a:prstGeom>
          <a:noFill/>
          <a:ln/>
        </p:spPr>
        <p:txBody>
          <a:bodyPr wrap="square" lIns="0" tIns="0" rIns="0" bIns="0" rtlCol="0" anchor="t"/>
          <a:lstStyle/>
          <a:p>
            <a:pPr indent="0" marL="0">
              <a:buNone/>
            </a:pPr>
            <a:r>
              <a:rPr lang="en-US" sz="1300" dirty="0">
                <a:solidFill>
                  <a:srgbClr val="253122"/>
                </a:solidFill>
                <a:latin typeface="Calibri" pitchFamily="34" charset="0"/>
                <a:ea typeface="Calibri" pitchFamily="34" charset="-122"/>
                <a:cs typeface="Calibri" pitchFamily="34" charset="-120"/>
              </a:rPr>
              <a:t>Verify flagged Gujarat and 2019-20 figures; update tables</a:t>
            </a:r>
            <a:endParaRPr lang="en-US" sz="1300" dirty="0"/>
          </a:p>
        </p:txBody>
      </p:sp>
      <p:sp>
        <p:nvSpPr>
          <p:cNvPr id="22" name="Milestone 4"/>
          <p:cNvSpPr/>
          <p:nvPr/>
        </p:nvSpPr>
        <p:spPr>
          <a:xfrm>
            <a:off x="8113563" y="2130552"/>
            <a:ext cx="402336" cy="402336"/>
          </a:xfrm>
          <a:prstGeom prst="ellipse">
            <a:avLst/>
          </a:prstGeom>
          <a:solidFill>
            <a:srgbClr val="986F2D"/>
          </a:solidFill>
          <a:ln w="25400">
            <a:solidFill>
              <a:srgbClr val="FFFFFF"/>
            </a:solidFill>
            <a:prstDash val="solid"/>
          </a:ln>
        </p:spPr>
      </p:sp>
      <p:sp>
        <p:nvSpPr>
          <p:cNvPr id="23" name="Text 20"/>
          <p:cNvSpPr txBox="1"/>
          <p:nvPr/>
        </p:nvSpPr>
        <p:spPr>
          <a:xfrm>
            <a:off x="7296729" y="1325880"/>
            <a:ext cx="2036003" cy="365760"/>
          </a:xfrm>
          <a:prstGeom prst="rect">
            <a:avLst/>
          </a:prstGeom>
          <a:noFill/>
          <a:ln/>
        </p:spPr>
        <p:txBody>
          <a:bodyPr wrap="square" lIns="0" tIns="0" rIns="0" bIns="0" rtlCol="0" anchor="t"/>
          <a:lstStyle/>
          <a:p>
            <a:pPr algn="ctr" indent="0" marL="0">
              <a:buNone/>
            </a:pPr>
            <a:r>
              <a:rPr lang="en-US" sz="1700" b="1" dirty="0">
                <a:solidFill>
                  <a:srgbClr val="986F2D"/>
                </a:solidFill>
                <a:latin typeface="Cambria" pitchFamily="34" charset="0"/>
                <a:ea typeface="Cambria" pitchFamily="34" charset="-122"/>
                <a:cs typeface="Cambria" pitchFamily="34" charset="-120"/>
              </a:rPr>
              <a:t>Weeks 3–4</a:t>
            </a:r>
            <a:endParaRPr lang="en-US" sz="1700" dirty="0"/>
          </a:p>
        </p:txBody>
      </p:sp>
      <p:sp>
        <p:nvSpPr>
          <p:cNvPr id="24" name="Text 21"/>
          <p:cNvSpPr txBox="1"/>
          <p:nvPr/>
        </p:nvSpPr>
        <p:spPr>
          <a:xfrm>
            <a:off x="7296729" y="1691640"/>
            <a:ext cx="2036003" cy="320040"/>
          </a:xfrm>
          <a:prstGeom prst="rect">
            <a:avLst/>
          </a:prstGeom>
          <a:noFill/>
          <a:ln/>
        </p:spPr>
        <p:txBody>
          <a:bodyPr wrap="square" lIns="0" tIns="0" rIns="0" bIns="0" rtlCol="0" anchor="t"/>
          <a:lstStyle/>
          <a:p>
            <a:pPr algn="ctr" indent="0" marL="0">
              <a:buNone/>
            </a:pPr>
            <a:r>
              <a:rPr lang="en-US" sz="1300" dirty="0">
                <a:solidFill>
                  <a:srgbClr val="635A3A"/>
                </a:solidFill>
                <a:latin typeface="Calibri" pitchFamily="34" charset="0"/>
                <a:ea typeface="Calibri" pitchFamily="34" charset="-122"/>
                <a:cs typeface="Calibri" pitchFamily="34" charset="-120"/>
              </a:rPr>
              <a:t>Nov 2026</a:t>
            </a:r>
            <a:endParaRPr lang="en-US" sz="1300" dirty="0"/>
          </a:p>
        </p:txBody>
      </p:sp>
      <p:sp>
        <p:nvSpPr>
          <p:cNvPr id="25" name="!!card5"/>
          <p:cNvSpPr/>
          <p:nvPr/>
        </p:nvSpPr>
        <p:spPr>
          <a:xfrm>
            <a:off x="7296729" y="2743200"/>
            <a:ext cx="2036003" cy="1234440"/>
          </a:xfrm>
          <a:prstGeom prst="roundRect">
            <a:avLst>
              <a:gd name="adj" fmla="val 5926"/>
            </a:avLst>
          </a:prstGeom>
          <a:solidFill>
            <a:srgbClr val="FEEDD5"/>
          </a:solidFill>
          <a:ln w="12700">
            <a:solidFill>
              <a:srgbClr val="FEEDD5"/>
            </a:solidFill>
            <a:prstDash val="solid"/>
          </a:ln>
        </p:spPr>
      </p:sp>
      <p:sp>
        <p:nvSpPr>
          <p:cNvPr id="26" name="Text 23"/>
          <p:cNvSpPr txBox="1"/>
          <p:nvPr/>
        </p:nvSpPr>
        <p:spPr>
          <a:xfrm>
            <a:off x="7433889" y="2852928"/>
            <a:ext cx="1761683" cy="1051560"/>
          </a:xfrm>
          <a:prstGeom prst="rect">
            <a:avLst/>
          </a:prstGeom>
          <a:noFill/>
          <a:ln/>
        </p:spPr>
        <p:txBody>
          <a:bodyPr wrap="square" lIns="0" tIns="0" rIns="0" bIns="0" rtlCol="0" anchor="t"/>
          <a:lstStyle/>
          <a:p>
            <a:pPr indent="0" marL="0">
              <a:buNone/>
            </a:pPr>
            <a:r>
              <a:rPr lang="en-US" sz="1300" dirty="0">
                <a:solidFill>
                  <a:srgbClr val="253122"/>
                </a:solidFill>
                <a:latin typeface="Calibri" pitchFamily="34" charset="0"/>
                <a:ea typeface="Calibri" pitchFamily="34" charset="-122"/>
                <a:cs typeface="Calibri" pitchFamily="34" charset="-120"/>
              </a:rPr>
              <a:t>Validation: re-check KPIs against sources; supervisor review</a:t>
            </a:r>
            <a:endParaRPr lang="en-US" sz="1300" dirty="0"/>
          </a:p>
        </p:txBody>
      </p:sp>
      <p:sp>
        <p:nvSpPr>
          <p:cNvPr id="27" name="Milestone 5"/>
          <p:cNvSpPr/>
          <p:nvPr/>
        </p:nvSpPr>
        <p:spPr>
          <a:xfrm>
            <a:off x="10332446" y="2130552"/>
            <a:ext cx="402336" cy="402336"/>
          </a:xfrm>
          <a:prstGeom prst="ellipse">
            <a:avLst/>
          </a:prstGeom>
          <a:solidFill>
            <a:srgbClr val="A62C37"/>
          </a:solidFill>
          <a:ln w="25400">
            <a:solidFill>
              <a:srgbClr val="FFFFFF"/>
            </a:solidFill>
            <a:prstDash val="solid"/>
          </a:ln>
        </p:spPr>
      </p:sp>
      <p:sp>
        <p:nvSpPr>
          <p:cNvPr id="28" name="Text 25"/>
          <p:cNvSpPr txBox="1"/>
          <p:nvPr/>
        </p:nvSpPr>
        <p:spPr>
          <a:xfrm>
            <a:off x="9515612" y="1325880"/>
            <a:ext cx="2036003" cy="365760"/>
          </a:xfrm>
          <a:prstGeom prst="rect">
            <a:avLst/>
          </a:prstGeom>
          <a:noFill/>
          <a:ln/>
        </p:spPr>
        <p:txBody>
          <a:bodyPr wrap="square" lIns="0" tIns="0" rIns="0" bIns="0" rtlCol="0" anchor="t"/>
          <a:lstStyle/>
          <a:p>
            <a:pPr algn="ctr" indent="0" marL="0">
              <a:buNone/>
            </a:pPr>
            <a:r>
              <a:rPr lang="en-US" sz="1700" b="1" dirty="0">
                <a:solidFill>
                  <a:srgbClr val="A62C37"/>
                </a:solidFill>
                <a:latin typeface="Cambria" pitchFamily="34" charset="0"/>
                <a:ea typeface="Cambria" pitchFamily="34" charset="-122"/>
                <a:cs typeface="Cambria" pitchFamily="34" charset="-120"/>
              </a:rPr>
              <a:t>Final</a:t>
            </a:r>
            <a:endParaRPr lang="en-US" sz="1700" dirty="0"/>
          </a:p>
        </p:txBody>
      </p:sp>
      <p:sp>
        <p:nvSpPr>
          <p:cNvPr id="29" name="Text 26"/>
          <p:cNvSpPr txBox="1"/>
          <p:nvPr/>
        </p:nvSpPr>
        <p:spPr>
          <a:xfrm>
            <a:off x="9515612" y="1691640"/>
            <a:ext cx="2036003" cy="320040"/>
          </a:xfrm>
          <a:prstGeom prst="rect">
            <a:avLst/>
          </a:prstGeom>
          <a:noFill/>
          <a:ln/>
        </p:spPr>
        <p:txBody>
          <a:bodyPr wrap="square" lIns="0" tIns="0" rIns="0" bIns="0" rtlCol="0" anchor="t"/>
          <a:lstStyle/>
          <a:p>
            <a:pPr algn="ctr" indent="0" marL="0">
              <a:buNone/>
            </a:pPr>
            <a:r>
              <a:rPr lang="en-US" sz="1300" dirty="0">
                <a:solidFill>
                  <a:srgbClr val="635A3A"/>
                </a:solidFill>
                <a:latin typeface="Calibri" pitchFamily="34" charset="0"/>
                <a:ea typeface="Calibri" pitchFamily="34" charset="-122"/>
                <a:cs typeface="Calibri" pitchFamily="34" charset="-120"/>
              </a:rPr>
              <a:t>Dec 2026</a:t>
            </a:r>
            <a:endParaRPr lang="en-US" sz="1300" dirty="0"/>
          </a:p>
        </p:txBody>
      </p:sp>
      <p:sp>
        <p:nvSpPr>
          <p:cNvPr id="30" name="!!card6"/>
          <p:cNvSpPr/>
          <p:nvPr/>
        </p:nvSpPr>
        <p:spPr>
          <a:xfrm>
            <a:off x="9515612" y="2743200"/>
            <a:ext cx="2036003" cy="1234440"/>
          </a:xfrm>
          <a:prstGeom prst="roundRect">
            <a:avLst>
              <a:gd name="adj" fmla="val 5926"/>
            </a:avLst>
          </a:prstGeom>
          <a:solidFill>
            <a:srgbClr val="FDE9EA"/>
          </a:solidFill>
          <a:ln w="12700">
            <a:solidFill>
              <a:srgbClr val="FDE9EA"/>
            </a:solidFill>
            <a:prstDash val="solid"/>
          </a:ln>
        </p:spPr>
      </p:sp>
      <p:sp>
        <p:nvSpPr>
          <p:cNvPr id="31" name="Text 28"/>
          <p:cNvSpPr txBox="1"/>
          <p:nvPr/>
        </p:nvSpPr>
        <p:spPr>
          <a:xfrm>
            <a:off x="9652772" y="2852928"/>
            <a:ext cx="1761683" cy="1051560"/>
          </a:xfrm>
          <a:prstGeom prst="rect">
            <a:avLst/>
          </a:prstGeom>
          <a:noFill/>
          <a:ln/>
        </p:spPr>
        <p:txBody>
          <a:bodyPr wrap="square" lIns="0" tIns="0" rIns="0" bIns="0" rtlCol="0" anchor="t"/>
          <a:lstStyle/>
          <a:p>
            <a:pPr indent="0" marL="0">
              <a:buNone/>
            </a:pPr>
            <a:r>
              <a:rPr lang="en-US" sz="1300" dirty="0">
                <a:solidFill>
                  <a:srgbClr val="253122"/>
                </a:solidFill>
                <a:latin typeface="Calibri" pitchFamily="34" charset="0"/>
                <a:ea typeface="Calibri" pitchFamily="34" charset="-122"/>
                <a:cs typeface="Calibri" pitchFamily="34" charset="-120"/>
              </a:rPr>
              <a:t>Final report, plagiarism check (&lt;30%), submission and viva</a:t>
            </a:r>
            <a:endParaRPr lang="en-US" sz="1300" dirty="0"/>
          </a:p>
        </p:txBody>
      </p:sp>
      <p:sp>
        <p:nvSpPr>
          <p:cNvPr id="32" name="Text 29"/>
          <p:cNvSpPr txBox="1"/>
          <p:nvPr/>
        </p:nvSpPr>
        <p:spPr>
          <a:xfrm>
            <a:off x="548640" y="4297680"/>
            <a:ext cx="11094415" cy="1828800"/>
          </a:xfrm>
          <a:prstGeom prst="rect">
            <a:avLst/>
          </a:prstGeom>
          <a:noFill/>
          <a:ln/>
        </p:spPr>
        <p:txBody>
          <a:bodyPr wrap="square" lIns="0" tIns="0" rIns="0" bIns="0" rtlCol="0" anchor="t"/>
          <a:lstStyle/>
          <a:p>
            <a:pPr marL="203200" indent="-203200">
              <a:spcAft>
                <a:spcPts val="1000"/>
              </a:spcAft>
              <a:buSzPct val="100000"/>
              <a:buChar char="•"/>
            </a:pPr>
            <a:r>
              <a:rPr lang="en-US" sz="1500" b="1" dirty="0">
                <a:solidFill>
                  <a:srgbClr val="986F2D"/>
                </a:solidFill>
                <a:latin typeface="Calibri" pitchFamily="34" charset="0"/>
                <a:ea typeface="Calibri" pitchFamily="34" charset="-122"/>
                <a:cs typeface="Calibri" pitchFamily="34" charset="-120"/>
              </a:rPr>
              <a:t>Evaluation and validation plan: </a:t>
            </a:r>
            <a:pPr indent="0" marL="0">
              <a:buNone/>
            </a:pPr>
            <a:r>
              <a:rPr lang="en-US" sz="1500" dirty="0">
                <a:solidFill>
                  <a:srgbClr val="253122"/>
                </a:solidFill>
                <a:latin typeface="Calibri" pitchFamily="34" charset="0"/>
                <a:ea typeface="Calibri" pitchFamily="34" charset="-122"/>
                <a:cs typeface="Calibri" pitchFamily="34" charset="-120"/>
              </a:rPr>
              <a:t>re-compute every KPI from source tables; cross-check with PIB and Economic Survey figures; confirm Gujarat data with FCI RO Ahmedabad</a:t>
            </a:r>
            <a:endParaRPr lang="en-US" sz="1500" dirty="0"/>
          </a:p>
          <a:p>
            <a:pPr marL="203200" indent="-203200">
              <a:spcAft>
                <a:spcPts val="1000"/>
              </a:spcAft>
              <a:buSzPct val="100000"/>
              <a:buChar char="•"/>
            </a:pPr>
            <a:r>
              <a:rPr lang="en-US" sz="1500" b="1" dirty="0">
                <a:solidFill>
                  <a:srgbClr val="986F2D"/>
                </a:solidFill>
                <a:latin typeface="Calibri" pitchFamily="34" charset="0"/>
                <a:ea typeface="Calibri" pitchFamily="34" charset="-122"/>
                <a:cs typeface="Calibri" pitchFamily="34" charset="-120"/>
              </a:rPr>
              <a:t>Future scope: </a:t>
            </a:r>
            <a:pPr indent="0" marL="0">
              <a:buNone/>
            </a:pPr>
            <a:r>
              <a:rPr lang="en-US" sz="1500" dirty="0">
                <a:solidFill>
                  <a:srgbClr val="253122"/>
                </a:solidFill>
                <a:latin typeface="Calibri" pitchFamily="34" charset="0"/>
                <a:ea typeface="Calibri" pitchFamily="34" charset="-122"/>
                <a:cs typeface="Calibri" pitchFamily="34" charset="-120"/>
              </a:rPr>
              <a:t>depot-level Gujarat data and a simple Excel KPI dashboard for regional monitoring</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5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halo"/>
          <p:cNvSpPr/>
          <p:nvPr/>
        </p:nvSpPr>
        <p:spPr>
          <a:xfrm>
            <a:off x="-2194560" y="4389120"/>
            <a:ext cx="4206240" cy="4206240"/>
          </a:xfrm>
          <a:prstGeom prst="ellipse">
            <a:avLst/>
          </a:prstGeom>
          <a:solidFill>
            <a:srgbClr val="FDBF68">
              <a:alpha val="25000"/>
            </a:srgbClr>
          </a:solidFill>
          <a:ln w="12700">
            <a:solidFill>
              <a:srgbClr val="FDBF68">
                <a:alpha val="0"/>
              </a:srgbClr>
            </a:solidFill>
            <a:prstDash val="solid"/>
          </a:ln>
        </p:spPr>
      </p:sp>
      <p:sp>
        <p:nvSpPr>
          <p:cNvPr id="3"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Expected Outcomes and Conclusion</a:t>
            </a:r>
            <a:endParaRPr lang="en-US" sz="3200" dirty="0"/>
          </a:p>
        </p:txBody>
      </p:sp>
      <p:sp>
        <p:nvSpPr>
          <p:cNvPr id="4" name="!!orb"/>
          <p:cNvSpPr/>
          <p:nvPr/>
        </p:nvSpPr>
        <p:spPr>
          <a:xfrm>
            <a:off x="10957255" y="347472"/>
            <a:ext cx="685800" cy="685800"/>
          </a:xfrm>
          <a:prstGeom prst="ellipse">
            <a:avLst/>
          </a:prstGeom>
          <a:solidFill>
            <a:srgbClr val="253122"/>
          </a:solidFill>
          <a:ln w="12700">
            <a:solidFill>
              <a:srgbClr val="253122"/>
            </a:solidFill>
            <a:prstDash val="solid"/>
          </a:ln>
        </p:spPr>
      </p:sp>
      <p:pic>
        <p:nvPicPr>
          <p:cNvPr id="5" name="!!orbicon" descr="preencoded.png">    </p:cNvPr>
          <p:cNvPicPr>
            <a:picLocks noChangeAspect="1"/>
          </p:cNvPicPr>
          <p:nvPr/>
        </p:nvPicPr>
        <p:blipFill>
          <a:blip r:embed="rId1"/>
          <a:stretch>
            <a:fillRect/>
          </a:stretch>
        </p:blipFill>
        <p:spPr>
          <a:xfrm>
            <a:off x="11130991" y="521208"/>
            <a:ext cx="338328" cy="338328"/>
          </a:xfrm>
          <a:prstGeom prst="rect">
            <a:avLst/>
          </a:prstGeom>
        </p:spPr>
      </p:pic>
      <p:sp>
        <p:nvSpPr>
          <p:cNvPr id="6" name="!!card2"/>
          <p:cNvSpPr/>
          <p:nvPr/>
        </p:nvSpPr>
        <p:spPr>
          <a:xfrm>
            <a:off x="548640" y="1280160"/>
            <a:ext cx="3502152" cy="3246120"/>
          </a:xfrm>
          <a:prstGeom prst="roundRect">
            <a:avLst>
              <a:gd name="adj" fmla="val 2254"/>
            </a:avLst>
          </a:prstGeom>
          <a:solidFill>
            <a:srgbClr val="FEEDD5"/>
          </a:solidFill>
          <a:ln w="12700">
            <a:solidFill>
              <a:srgbClr val="FEEDD5"/>
            </a:solidFill>
            <a:prstDash val="solid"/>
          </a:ln>
        </p:spPr>
      </p:sp>
      <p:sp>
        <p:nvSpPr>
          <p:cNvPr id="7" name="Outcome 1 circle"/>
          <p:cNvSpPr/>
          <p:nvPr/>
        </p:nvSpPr>
        <p:spPr>
          <a:xfrm>
            <a:off x="822960" y="1463040"/>
            <a:ext cx="685800" cy="685800"/>
          </a:xfrm>
          <a:prstGeom prst="ellipse">
            <a:avLst/>
          </a:prstGeom>
          <a:solidFill>
            <a:srgbClr val="1A7444"/>
          </a:solidFill>
          <a:ln w="12700">
            <a:solidFill>
              <a:srgbClr val="1A7444"/>
            </a:solidFill>
            <a:prstDash val="solid"/>
          </a:ln>
        </p:spPr>
      </p:sp>
      <p:pic>
        <p:nvPicPr>
          <p:cNvPr id="8" name="Outcome 1 icon" descr="preencoded.png">    </p:cNvPr>
          <p:cNvPicPr>
            <a:picLocks noChangeAspect="1"/>
          </p:cNvPicPr>
          <p:nvPr/>
        </p:nvPicPr>
        <p:blipFill>
          <a:blip r:embed="rId2"/>
          <a:stretch>
            <a:fillRect/>
          </a:stretch>
        </p:blipFill>
        <p:spPr>
          <a:xfrm>
            <a:off x="994410" y="1634490"/>
            <a:ext cx="342900" cy="342900"/>
          </a:xfrm>
          <a:prstGeom prst="rect">
            <a:avLst/>
          </a:prstGeom>
        </p:spPr>
      </p:pic>
      <p:sp>
        <p:nvSpPr>
          <p:cNvPr id="9" name="Text 5"/>
          <p:cNvSpPr txBox="1"/>
          <p:nvPr/>
        </p:nvSpPr>
        <p:spPr>
          <a:xfrm>
            <a:off x="1645920" y="1554480"/>
            <a:ext cx="2221992" cy="502920"/>
          </a:xfrm>
          <a:prstGeom prst="rect">
            <a:avLst/>
          </a:prstGeom>
          <a:noFill/>
          <a:ln/>
        </p:spPr>
        <p:txBody>
          <a:bodyPr wrap="square" lIns="0" tIns="0" rIns="0" bIns="0" rtlCol="0" anchor="ctr"/>
          <a:lstStyle/>
          <a:p>
            <a:pPr indent="0" marL="0">
              <a:buNone/>
            </a:pPr>
            <a:r>
              <a:rPr lang="en-US" sz="2000" b="1" dirty="0">
                <a:solidFill>
                  <a:srgbClr val="1A7444"/>
                </a:solidFill>
                <a:latin typeface="Cambria" pitchFamily="34" charset="0"/>
                <a:ea typeface="Cambria" pitchFamily="34" charset="-122"/>
                <a:cs typeface="Cambria" pitchFamily="34" charset="-120"/>
              </a:rPr>
              <a:t>Deliverables</a:t>
            </a:r>
            <a:endParaRPr lang="en-US" sz="2000" dirty="0"/>
          </a:p>
        </p:txBody>
      </p:sp>
      <p:sp>
        <p:nvSpPr>
          <p:cNvPr id="10" name="Text 6"/>
          <p:cNvSpPr txBox="1"/>
          <p:nvPr/>
        </p:nvSpPr>
        <p:spPr>
          <a:xfrm>
            <a:off x="822960" y="2377440"/>
            <a:ext cx="3044952" cy="2011680"/>
          </a:xfrm>
          <a:prstGeom prst="rect">
            <a:avLst/>
          </a:prstGeom>
          <a:noFill/>
          <a:ln/>
        </p:spPr>
        <p:txBody>
          <a:bodyPr wrap="square" lIns="0" tIns="0" rIns="0" bIns="0" rtlCol="0" anchor="t"/>
          <a:lstStyle/>
          <a:p>
            <a:pPr marL="203200" indent="-203200">
              <a:spcAft>
                <a:spcPts val="1000"/>
              </a:spcAft>
              <a:buSzPct val="100000"/>
              <a:buChar char="•"/>
            </a:pPr>
            <a:r>
              <a:rPr lang="en-US" sz="1400" dirty="0">
                <a:solidFill>
                  <a:srgbClr val="253122"/>
                </a:solidFill>
                <a:latin typeface="Calibri" pitchFamily="34" charset="0"/>
                <a:ea typeface="Calibri" pitchFamily="34" charset="-122"/>
                <a:cs typeface="Calibri" pitchFamily="34" charset="-120"/>
              </a:rPr>
              <a:t>Final minor project report</a:t>
            </a:r>
            <a:endParaRPr lang="en-US" sz="1400" dirty="0"/>
          </a:p>
          <a:p>
            <a:pPr marL="203200" indent="-203200">
              <a:spcAft>
                <a:spcPts val="1000"/>
              </a:spcAft>
              <a:buSzPct val="100000"/>
              <a:buChar char="•"/>
            </a:pPr>
            <a:r>
              <a:rPr lang="en-US" sz="1400" dirty="0">
                <a:solidFill>
                  <a:srgbClr val="253122"/>
                </a:solidFill>
                <a:latin typeface="Calibri" pitchFamily="34" charset="0"/>
                <a:ea typeface="Calibri" pitchFamily="34" charset="-122"/>
                <a:cs typeface="Calibri" pitchFamily="34" charset="-120"/>
              </a:rPr>
              <a:t>Validated 6-year Excel KPI dataset</a:t>
            </a:r>
            <a:endParaRPr lang="en-US" sz="1400" dirty="0"/>
          </a:p>
          <a:p>
            <a:pPr marL="203200" indent="-203200">
              <a:spcAft>
                <a:spcPts val="1000"/>
              </a:spcAft>
              <a:buSzPct val="100000"/>
              <a:buChar char="•"/>
            </a:pPr>
            <a:r>
              <a:rPr lang="en-US" sz="1400" dirty="0">
                <a:solidFill>
                  <a:srgbClr val="253122"/>
                </a:solidFill>
                <a:latin typeface="Calibri" pitchFamily="34" charset="0"/>
                <a:ea typeface="Calibri" pitchFamily="34" charset="-122"/>
                <a:cs typeface="Calibri" pitchFamily="34" charset="-120"/>
              </a:rPr>
              <a:t>Data-based recommendations</a:t>
            </a:r>
            <a:endParaRPr lang="en-US" sz="1400" dirty="0"/>
          </a:p>
        </p:txBody>
      </p:sp>
      <p:sp>
        <p:nvSpPr>
          <p:cNvPr id="11" name="!!card3"/>
          <p:cNvSpPr/>
          <p:nvPr/>
        </p:nvSpPr>
        <p:spPr>
          <a:xfrm>
            <a:off x="4325112" y="1280160"/>
            <a:ext cx="3502152" cy="3246120"/>
          </a:xfrm>
          <a:prstGeom prst="roundRect">
            <a:avLst>
              <a:gd name="adj" fmla="val 2254"/>
            </a:avLst>
          </a:prstGeom>
          <a:solidFill>
            <a:srgbClr val="FDE9EA"/>
          </a:solidFill>
          <a:ln w="12700">
            <a:solidFill>
              <a:srgbClr val="FDE9EA"/>
            </a:solidFill>
            <a:prstDash val="solid"/>
          </a:ln>
        </p:spPr>
      </p:sp>
      <p:sp>
        <p:nvSpPr>
          <p:cNvPr id="12" name="Outcome 2 circle"/>
          <p:cNvSpPr/>
          <p:nvPr/>
        </p:nvSpPr>
        <p:spPr>
          <a:xfrm>
            <a:off x="4599432" y="1463040"/>
            <a:ext cx="685800" cy="685800"/>
          </a:xfrm>
          <a:prstGeom prst="ellipse">
            <a:avLst/>
          </a:prstGeom>
          <a:solidFill>
            <a:srgbClr val="986F2D"/>
          </a:solidFill>
          <a:ln w="12700">
            <a:solidFill>
              <a:srgbClr val="986F2D"/>
            </a:solidFill>
            <a:prstDash val="solid"/>
          </a:ln>
        </p:spPr>
      </p:sp>
      <p:pic>
        <p:nvPicPr>
          <p:cNvPr id="13" name="Outcome 2 icon" descr="preencoded.png">    </p:cNvPr>
          <p:cNvPicPr>
            <a:picLocks noChangeAspect="1"/>
          </p:cNvPicPr>
          <p:nvPr/>
        </p:nvPicPr>
        <p:blipFill>
          <a:blip r:embed="rId3"/>
          <a:stretch>
            <a:fillRect/>
          </a:stretch>
        </p:blipFill>
        <p:spPr>
          <a:xfrm>
            <a:off x="4770882" y="1634490"/>
            <a:ext cx="342900" cy="342900"/>
          </a:xfrm>
          <a:prstGeom prst="rect">
            <a:avLst/>
          </a:prstGeom>
        </p:spPr>
      </p:pic>
      <p:sp>
        <p:nvSpPr>
          <p:cNvPr id="14" name="Text 9"/>
          <p:cNvSpPr txBox="1"/>
          <p:nvPr/>
        </p:nvSpPr>
        <p:spPr>
          <a:xfrm>
            <a:off x="5422392" y="1554480"/>
            <a:ext cx="2221992" cy="502920"/>
          </a:xfrm>
          <a:prstGeom prst="rect">
            <a:avLst/>
          </a:prstGeom>
          <a:noFill/>
          <a:ln/>
        </p:spPr>
        <p:txBody>
          <a:bodyPr wrap="square" lIns="0" tIns="0" rIns="0" bIns="0" rtlCol="0" anchor="ctr"/>
          <a:lstStyle/>
          <a:p>
            <a:pPr indent="0" marL="0">
              <a:buNone/>
            </a:pPr>
            <a:r>
              <a:rPr lang="en-US" sz="2000" b="1" dirty="0">
                <a:solidFill>
                  <a:srgbClr val="986F2D"/>
                </a:solidFill>
                <a:latin typeface="Cambria" pitchFamily="34" charset="0"/>
                <a:ea typeface="Cambria" pitchFamily="34" charset="-122"/>
                <a:cs typeface="Cambria" pitchFamily="34" charset="-120"/>
              </a:rPr>
              <a:t>Benefits</a:t>
            </a:r>
            <a:endParaRPr lang="en-US" sz="2000" dirty="0"/>
          </a:p>
        </p:txBody>
      </p:sp>
      <p:sp>
        <p:nvSpPr>
          <p:cNvPr id="15" name="Text 10"/>
          <p:cNvSpPr txBox="1"/>
          <p:nvPr/>
        </p:nvSpPr>
        <p:spPr>
          <a:xfrm>
            <a:off x="4599432" y="2377440"/>
            <a:ext cx="3044952" cy="2011680"/>
          </a:xfrm>
          <a:prstGeom prst="rect">
            <a:avLst/>
          </a:prstGeom>
          <a:noFill/>
          <a:ln/>
        </p:spPr>
        <p:txBody>
          <a:bodyPr wrap="square" lIns="0" tIns="0" rIns="0" bIns="0" rtlCol="0" anchor="t"/>
          <a:lstStyle/>
          <a:p>
            <a:pPr marL="203200" indent="-203200">
              <a:spcAft>
                <a:spcPts val="1000"/>
              </a:spcAft>
              <a:buSzPct val="100000"/>
              <a:buChar char="•"/>
            </a:pPr>
            <a:r>
              <a:rPr lang="en-US" sz="1400" dirty="0">
                <a:solidFill>
                  <a:srgbClr val="253122"/>
                </a:solidFill>
                <a:latin typeface="Calibri" pitchFamily="34" charset="0"/>
                <a:ea typeface="Calibri" pitchFamily="34" charset="-122"/>
                <a:cs typeface="Calibri" pitchFamily="34" charset="-120"/>
              </a:rPr>
              <a:t>Owned vs hired storage planning</a:t>
            </a:r>
            <a:endParaRPr lang="en-US" sz="1400" dirty="0"/>
          </a:p>
          <a:p>
            <a:pPr marL="203200" indent="-203200">
              <a:spcAft>
                <a:spcPts val="1000"/>
              </a:spcAft>
              <a:buSzPct val="100000"/>
              <a:buChar char="•"/>
            </a:pPr>
            <a:r>
              <a:rPr lang="en-US" sz="1400" dirty="0">
                <a:solidFill>
                  <a:srgbClr val="253122"/>
                </a:solidFill>
                <a:latin typeface="Calibri" pitchFamily="34" charset="0"/>
                <a:ea typeface="Calibri" pitchFamily="34" charset="-122"/>
                <a:cs typeface="Calibri" pitchFamily="34" charset="-120"/>
              </a:rPr>
              <a:t>Demurrage control via better scheduling</a:t>
            </a:r>
            <a:endParaRPr lang="en-US" sz="1400" dirty="0"/>
          </a:p>
          <a:p>
            <a:pPr marL="203200" indent="-203200">
              <a:spcAft>
                <a:spcPts val="1000"/>
              </a:spcAft>
              <a:buSzPct val="100000"/>
              <a:buChar char="•"/>
            </a:pPr>
            <a:r>
              <a:rPr lang="en-US" sz="1400" dirty="0">
                <a:solidFill>
                  <a:srgbClr val="253122"/>
                </a:solidFill>
                <a:latin typeface="Calibri" pitchFamily="34" charset="0"/>
                <a:ea typeface="Calibri" pitchFamily="34" charset="-122"/>
                <a:cs typeface="Calibri" pitchFamily="34" charset="-120"/>
              </a:rPr>
              <a:t>Seasonal storage contracts; buffer review</a:t>
            </a:r>
            <a:endParaRPr lang="en-US" sz="1400" dirty="0"/>
          </a:p>
        </p:txBody>
      </p:sp>
      <p:sp>
        <p:nvSpPr>
          <p:cNvPr id="16" name="!!card4"/>
          <p:cNvSpPr/>
          <p:nvPr/>
        </p:nvSpPr>
        <p:spPr>
          <a:xfrm>
            <a:off x="8101584" y="1280160"/>
            <a:ext cx="3502152" cy="3246120"/>
          </a:xfrm>
          <a:prstGeom prst="roundRect">
            <a:avLst>
              <a:gd name="adj" fmla="val 2254"/>
            </a:avLst>
          </a:prstGeom>
          <a:solidFill>
            <a:srgbClr val="ECE5E8"/>
          </a:solidFill>
          <a:ln w="12700">
            <a:solidFill>
              <a:srgbClr val="ECE5E8"/>
            </a:solidFill>
            <a:prstDash val="solid"/>
          </a:ln>
        </p:spPr>
      </p:sp>
      <p:sp>
        <p:nvSpPr>
          <p:cNvPr id="17" name="Outcome 3 circle"/>
          <p:cNvSpPr/>
          <p:nvPr/>
        </p:nvSpPr>
        <p:spPr>
          <a:xfrm>
            <a:off x="8375904" y="1463040"/>
            <a:ext cx="685800" cy="685800"/>
          </a:xfrm>
          <a:prstGeom prst="ellipse">
            <a:avLst/>
          </a:prstGeom>
          <a:solidFill>
            <a:srgbClr val="A62C37"/>
          </a:solidFill>
          <a:ln w="12700">
            <a:solidFill>
              <a:srgbClr val="A62C37"/>
            </a:solidFill>
            <a:prstDash val="solid"/>
          </a:ln>
        </p:spPr>
      </p:sp>
      <p:pic>
        <p:nvPicPr>
          <p:cNvPr id="18" name="Outcome 3 icon" descr="preencoded.png">    </p:cNvPr>
          <p:cNvPicPr>
            <a:picLocks noChangeAspect="1"/>
          </p:cNvPicPr>
          <p:nvPr/>
        </p:nvPicPr>
        <p:blipFill>
          <a:blip r:embed="rId4"/>
          <a:stretch>
            <a:fillRect/>
          </a:stretch>
        </p:blipFill>
        <p:spPr>
          <a:xfrm>
            <a:off x="8547354" y="1634490"/>
            <a:ext cx="342900" cy="342900"/>
          </a:xfrm>
          <a:prstGeom prst="rect">
            <a:avLst/>
          </a:prstGeom>
        </p:spPr>
      </p:pic>
      <p:sp>
        <p:nvSpPr>
          <p:cNvPr id="19" name="Text 13"/>
          <p:cNvSpPr txBox="1"/>
          <p:nvPr/>
        </p:nvSpPr>
        <p:spPr>
          <a:xfrm>
            <a:off x="9198864" y="1554480"/>
            <a:ext cx="2221992" cy="502920"/>
          </a:xfrm>
          <a:prstGeom prst="rect">
            <a:avLst/>
          </a:prstGeom>
          <a:noFill/>
          <a:ln/>
        </p:spPr>
        <p:txBody>
          <a:bodyPr wrap="square" lIns="0" tIns="0" rIns="0" bIns="0" rtlCol="0" anchor="ctr"/>
          <a:lstStyle/>
          <a:p>
            <a:pPr indent="0" marL="0">
              <a:buNone/>
            </a:pPr>
            <a:r>
              <a:rPr lang="en-US" sz="2000" b="1" dirty="0">
                <a:solidFill>
                  <a:srgbClr val="A62C37"/>
                </a:solidFill>
                <a:latin typeface="Cambria" pitchFamily="34" charset="0"/>
                <a:ea typeface="Cambria" pitchFamily="34" charset="-122"/>
                <a:cs typeface="Cambria" pitchFamily="34" charset="-120"/>
              </a:rPr>
              <a:t>Limitations</a:t>
            </a:r>
            <a:endParaRPr lang="en-US" sz="2000" dirty="0"/>
          </a:p>
        </p:txBody>
      </p:sp>
      <p:sp>
        <p:nvSpPr>
          <p:cNvPr id="20" name="Text 14"/>
          <p:cNvSpPr txBox="1"/>
          <p:nvPr/>
        </p:nvSpPr>
        <p:spPr>
          <a:xfrm>
            <a:off x="8375904" y="2377440"/>
            <a:ext cx="3044952" cy="2011680"/>
          </a:xfrm>
          <a:prstGeom prst="rect">
            <a:avLst/>
          </a:prstGeom>
          <a:noFill/>
          <a:ln/>
        </p:spPr>
        <p:txBody>
          <a:bodyPr wrap="square" lIns="0" tIns="0" rIns="0" bIns="0" rtlCol="0" anchor="t"/>
          <a:lstStyle/>
          <a:p>
            <a:pPr marL="203200" indent="-203200">
              <a:spcAft>
                <a:spcPts val="1000"/>
              </a:spcAft>
              <a:buSzPct val="100000"/>
              <a:buChar char="•"/>
            </a:pPr>
            <a:r>
              <a:rPr lang="en-US" sz="1400" dirty="0">
                <a:solidFill>
                  <a:srgbClr val="253122"/>
                </a:solidFill>
                <a:latin typeface="Calibri" pitchFamily="34" charset="0"/>
                <a:ea typeface="Calibri" pitchFamily="34" charset="-122"/>
                <a:cs typeface="Calibri" pitchFamily="34" charset="-120"/>
              </a:rPr>
              <a:t>Secondary data only</a:t>
            </a:r>
            <a:endParaRPr lang="en-US" sz="1400" dirty="0"/>
          </a:p>
          <a:p>
            <a:pPr marL="203200" indent="-203200">
              <a:spcAft>
                <a:spcPts val="1000"/>
              </a:spcAft>
              <a:buSzPct val="100000"/>
              <a:buChar char="•"/>
            </a:pPr>
            <a:r>
              <a:rPr lang="en-US" sz="1400" dirty="0">
                <a:solidFill>
                  <a:srgbClr val="253122"/>
                </a:solidFill>
                <a:latin typeface="Calibri" pitchFamily="34" charset="0"/>
                <a:ea typeface="Calibri" pitchFamily="34" charset="-122"/>
                <a:cs typeface="Calibri" pitchFamily="34" charset="-120"/>
              </a:rPr>
              <a:t>No Gujarat-level financial data</a:t>
            </a:r>
            <a:endParaRPr lang="en-US" sz="1400" dirty="0"/>
          </a:p>
          <a:p>
            <a:pPr marL="203200" indent="-203200">
              <a:spcAft>
                <a:spcPts val="1000"/>
              </a:spcAft>
              <a:buSzPct val="100000"/>
              <a:buChar char="•"/>
            </a:pPr>
            <a:r>
              <a:rPr lang="en-US" sz="1400" dirty="0">
                <a:solidFill>
                  <a:srgbClr val="253122"/>
                </a:solidFill>
                <a:latin typeface="Calibri" pitchFamily="34" charset="0"/>
                <a:ea typeface="Calibri" pitchFamily="34" charset="-122"/>
                <a:cs typeface="Calibri" pitchFamily="34" charset="-120"/>
              </a:rPr>
              <a:t>Some dataset values need verification</a:t>
            </a:r>
            <a:endParaRPr lang="en-US" sz="1400" dirty="0"/>
          </a:p>
        </p:txBody>
      </p:sp>
      <p:sp>
        <p:nvSpPr>
          <p:cNvPr id="21" name="!!card1"/>
          <p:cNvSpPr/>
          <p:nvPr/>
        </p:nvSpPr>
        <p:spPr>
          <a:xfrm>
            <a:off x="548640" y="4754880"/>
            <a:ext cx="11094415" cy="1371600"/>
          </a:xfrm>
          <a:prstGeom prst="roundRect">
            <a:avLst>
              <a:gd name="adj" fmla="val 5333"/>
            </a:avLst>
          </a:prstGeom>
          <a:solidFill>
            <a:srgbClr val="253122"/>
          </a:solidFill>
          <a:ln w="12700">
            <a:solidFill>
              <a:srgbClr val="253122"/>
            </a:solidFill>
            <a:prstDash val="solid"/>
          </a:ln>
        </p:spPr>
      </p:sp>
      <p:sp>
        <p:nvSpPr>
          <p:cNvPr id="22" name="Text 16"/>
          <p:cNvSpPr txBox="1"/>
          <p:nvPr/>
        </p:nvSpPr>
        <p:spPr>
          <a:xfrm>
            <a:off x="822960" y="4846320"/>
            <a:ext cx="10545775" cy="1188720"/>
          </a:xfrm>
          <a:prstGeom prst="rect">
            <a:avLst/>
          </a:prstGeom>
          <a:noFill/>
          <a:ln/>
        </p:spPr>
        <p:txBody>
          <a:bodyPr wrap="square" lIns="0" tIns="0" rIns="0" bIns="0" rtlCol="0" anchor="ctr"/>
          <a:lstStyle/>
          <a:p>
            <a:pPr indent="0" marL="0">
              <a:buNone/>
            </a:pPr>
            <a:r>
              <a:rPr lang="en-US" sz="1600" b="1" dirty="0">
                <a:solidFill>
                  <a:srgbClr val="FDBF68"/>
                </a:solidFill>
                <a:latin typeface="Calibri" pitchFamily="34" charset="0"/>
                <a:ea typeface="Calibri" pitchFamily="34" charset="-122"/>
                <a:cs typeface="Calibri" pitchFamily="34" charset="-120"/>
              </a:rPr>
              <a:t>Current status: </a:t>
            </a:r>
            <a:pPr indent="0" marL="0">
              <a:buNone/>
            </a:pPr>
            <a:r>
              <a:rPr lang="en-US" sz="1600" dirty="0">
                <a:solidFill>
                  <a:srgbClr val="FFFFFF"/>
                </a:solidFill>
                <a:latin typeface="Calibri" pitchFamily="34" charset="0"/>
                <a:ea typeface="Calibri" pitchFamily="34" charset="-122"/>
                <a:cs typeface="Calibri" pitchFamily="34" charset="-120"/>
              </a:rPr>
              <a:t>analysis and draft report complete. FCI meets its food security mandate, but hired-storage dependence, the subsidy funding gap and rising demurrage are clear areas for improvement.</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5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halo"/>
          <p:cNvSpPr/>
          <p:nvPr/>
        </p:nvSpPr>
        <p:spPr>
          <a:xfrm>
            <a:off x="9326880" y="4206240"/>
            <a:ext cx="4572000" cy="4572000"/>
          </a:xfrm>
          <a:prstGeom prst="ellipse">
            <a:avLst/>
          </a:prstGeom>
          <a:solidFill>
            <a:srgbClr val="F8B6BA">
              <a:alpha val="28000"/>
            </a:srgbClr>
          </a:solidFill>
          <a:ln w="12700">
            <a:solidFill>
              <a:srgbClr val="F8B6BA">
                <a:alpha val="0"/>
              </a:srgbClr>
            </a:solidFill>
            <a:prstDash val="solid"/>
          </a:ln>
        </p:spPr>
      </p:sp>
      <p:sp>
        <p:nvSpPr>
          <p:cNvPr id="3"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References and Questions</a:t>
            </a:r>
            <a:endParaRPr lang="en-US" sz="3200" dirty="0"/>
          </a:p>
        </p:txBody>
      </p:sp>
      <p:sp>
        <p:nvSpPr>
          <p:cNvPr id="4" name="!!orb"/>
          <p:cNvSpPr/>
          <p:nvPr/>
        </p:nvSpPr>
        <p:spPr>
          <a:xfrm>
            <a:off x="10957255" y="347472"/>
            <a:ext cx="685800" cy="685800"/>
          </a:xfrm>
          <a:prstGeom prst="ellipse">
            <a:avLst/>
          </a:prstGeom>
          <a:solidFill>
            <a:srgbClr val="986F2D"/>
          </a:solidFill>
          <a:ln w="12700">
            <a:solidFill>
              <a:srgbClr val="986F2D"/>
            </a:solidFill>
            <a:prstDash val="solid"/>
          </a:ln>
        </p:spPr>
      </p:sp>
      <p:pic>
        <p:nvPicPr>
          <p:cNvPr id="5" name="!!orbicon" descr="preencoded.png">    </p:cNvPr>
          <p:cNvPicPr>
            <a:picLocks noChangeAspect="1"/>
          </p:cNvPicPr>
          <p:nvPr/>
        </p:nvPicPr>
        <p:blipFill>
          <a:blip r:embed="rId1"/>
          <a:stretch>
            <a:fillRect/>
          </a:stretch>
        </p:blipFill>
        <p:spPr>
          <a:xfrm>
            <a:off x="11130991" y="521208"/>
            <a:ext cx="338328" cy="338328"/>
          </a:xfrm>
          <a:prstGeom prst="rect">
            <a:avLst/>
          </a:prstGeom>
        </p:spPr>
      </p:pic>
      <p:sp>
        <p:nvSpPr>
          <p:cNvPr id="6" name="Text 3"/>
          <p:cNvSpPr txBox="1"/>
          <p:nvPr/>
        </p:nvSpPr>
        <p:spPr>
          <a:xfrm>
            <a:off x="548640" y="1234440"/>
            <a:ext cx="7498080" cy="4937760"/>
          </a:xfrm>
          <a:prstGeom prst="rect">
            <a:avLst/>
          </a:prstGeom>
          <a:noFill/>
          <a:ln/>
        </p:spPr>
        <p:txBody>
          <a:bodyPr wrap="square" lIns="0" tIns="0" rIns="0" bIns="0" rtlCol="0" anchor="t"/>
          <a:lstStyle/>
          <a:p>
            <a:pPr indent="0" marL="0">
              <a:spcAft>
                <a:spcPts val="600"/>
              </a:spcAft>
              <a:buNone/>
            </a:pPr>
            <a:r>
              <a:rPr lang="en-US" sz="1300" dirty="0">
                <a:solidFill>
                  <a:srgbClr val="253122"/>
                </a:solidFill>
                <a:latin typeface="Calibri" pitchFamily="34" charset="0"/>
                <a:ea typeface="Calibri" pitchFamily="34" charset="-122"/>
                <a:cs typeface="Calibri" pitchFamily="34" charset="-120"/>
              </a:rPr>
              <a:t>[1] Food Corporation of India, “Annual Report 2022-23, 2023-24 and 2024-25 (59th–61st),” Ministry of Consumer Affairs, Food and Public Distribution, Govt. of India, 2023–2025.</a:t>
            </a:r>
            <a:endParaRPr lang="en-US" sz="1300" dirty="0"/>
          </a:p>
          <a:p>
            <a:pPr indent="0" marL="0">
              <a:spcAft>
                <a:spcPts val="600"/>
              </a:spcAft>
              <a:buNone/>
            </a:pPr>
            <a:r>
              <a:rPr lang="en-US" sz="1300" dirty="0">
                <a:solidFill>
                  <a:srgbClr val="253122"/>
                </a:solidFill>
                <a:latin typeface="Calibri" pitchFamily="34" charset="0"/>
                <a:ea typeface="Calibri" pitchFamily="34" charset="-122"/>
                <a:cs typeface="Calibri" pitchFamily="34" charset="-120"/>
              </a:rPr>
              <a:t>[2] Comptroller and Auditor General of India, “Report No. 20 of 2023: Performance audit on storage management and movement of foodgrains in FCI,” Govt. of India, 2023.</a:t>
            </a:r>
            <a:endParaRPr lang="en-US" sz="1300" dirty="0"/>
          </a:p>
          <a:p>
            <a:pPr indent="0" marL="0">
              <a:spcAft>
                <a:spcPts val="600"/>
              </a:spcAft>
              <a:buNone/>
            </a:pPr>
            <a:r>
              <a:rPr lang="en-US" sz="1300" dirty="0">
                <a:solidFill>
                  <a:srgbClr val="253122"/>
                </a:solidFill>
                <a:latin typeface="Calibri" pitchFamily="34" charset="0"/>
                <a:ea typeface="Calibri" pitchFamily="34" charset="-122"/>
                <a:cs typeface="Calibri" pitchFamily="34" charset="-120"/>
              </a:rPr>
              <a:t>[3] High Level Committee on Reorienting the Role and Restructuring of FCI (Chair: S. Kumar), “Report of the High Level Committee,” Govt. of India, Jan. 2015.</a:t>
            </a:r>
            <a:endParaRPr lang="en-US" sz="1300" dirty="0"/>
          </a:p>
          <a:p>
            <a:pPr indent="0" marL="0">
              <a:spcAft>
                <a:spcPts val="600"/>
              </a:spcAft>
              <a:buNone/>
            </a:pPr>
            <a:r>
              <a:rPr lang="en-US" sz="1300" dirty="0">
                <a:solidFill>
                  <a:srgbClr val="253122"/>
                </a:solidFill>
                <a:latin typeface="Calibri" pitchFamily="34" charset="0"/>
                <a:ea typeface="Calibri" pitchFamily="34" charset="-122"/>
                <a:cs typeface="Calibri" pitchFamily="34" charset="-120"/>
              </a:rPr>
              <a:t>[4] S. K. Srivastav, “Performance appraisal of Food Corporation of India (FCI),” Voice of Intellectual Man, vol. 7, no. 1, pp. 161–166, 2017.</a:t>
            </a:r>
            <a:endParaRPr lang="en-US" sz="1300" dirty="0"/>
          </a:p>
          <a:p>
            <a:pPr indent="0" marL="0">
              <a:spcAft>
                <a:spcPts val="600"/>
              </a:spcAft>
              <a:buNone/>
            </a:pPr>
            <a:r>
              <a:rPr lang="en-US" sz="1300" dirty="0">
                <a:solidFill>
                  <a:srgbClr val="253122"/>
                </a:solidFill>
                <a:latin typeface="Calibri" pitchFamily="34" charset="0"/>
                <a:ea typeface="Calibri" pitchFamily="34" charset="-122"/>
                <a:cs typeface="Calibri" pitchFamily="34" charset="-120"/>
              </a:rPr>
              <a:t>[5] A. Kumar, K. Dey, and K. B. Gupta, “Food Corporation of India: Making public procurement more inclusive and efficient,” Asian J. Manage. Cases, 2023, doi: 10.1177/09728201231168246.</a:t>
            </a:r>
            <a:endParaRPr lang="en-US" sz="1300" dirty="0"/>
          </a:p>
          <a:p>
            <a:pPr indent="0" marL="0">
              <a:spcAft>
                <a:spcPts val="600"/>
              </a:spcAft>
              <a:buNone/>
            </a:pPr>
            <a:r>
              <a:rPr lang="en-US" sz="1300" dirty="0">
                <a:solidFill>
                  <a:srgbClr val="253122"/>
                </a:solidFill>
                <a:latin typeface="Calibri" pitchFamily="34" charset="0"/>
                <a:ea typeface="Calibri" pitchFamily="34" charset="-122"/>
                <a:cs typeface="Calibri" pitchFamily="34" charset="-120"/>
              </a:rPr>
              <a:t>[6] Press Information Bureau, “India’s food security: Transformative role of Food Corporation of India (FCI),” Govt. of India, Nov. 23, 2024.</a:t>
            </a:r>
            <a:endParaRPr lang="en-US" sz="1300" dirty="0"/>
          </a:p>
          <a:p>
            <a:pPr indent="0" marL="0">
              <a:spcAft>
                <a:spcPts val="600"/>
              </a:spcAft>
              <a:buNone/>
            </a:pPr>
            <a:r>
              <a:rPr lang="en-US" sz="1300" dirty="0">
                <a:solidFill>
                  <a:srgbClr val="253122"/>
                </a:solidFill>
                <a:latin typeface="Calibri" pitchFamily="34" charset="0"/>
                <a:ea typeface="Calibri" pitchFamily="34" charset="-122"/>
                <a:cs typeface="Calibri" pitchFamily="34" charset="-120"/>
              </a:rPr>
              <a:t>[7] G. A. Boyne, “Concepts and indicators of local authority performance,” Public Money Manage., vol. 22, no. 2, pp. 17–24, 2002.</a:t>
            </a:r>
            <a:endParaRPr lang="en-US" sz="1300" dirty="0"/>
          </a:p>
          <a:p>
            <a:pPr indent="0" marL="0">
              <a:spcAft>
                <a:spcPts val="600"/>
              </a:spcAft>
              <a:buNone/>
            </a:pPr>
            <a:r>
              <a:rPr lang="en-US" sz="1300" dirty="0">
                <a:solidFill>
                  <a:srgbClr val="253122"/>
                </a:solidFill>
                <a:latin typeface="Calibri" pitchFamily="34" charset="0"/>
                <a:ea typeface="Calibri" pitchFamily="34" charset="-122"/>
                <a:cs typeface="Calibri" pitchFamily="34" charset="-120"/>
              </a:rPr>
              <a:t>[8] Ministry of Finance, Economic Survey 2020-21, vol. 2. New Delhi: Govt. of India, 2021.</a:t>
            </a:r>
            <a:endParaRPr lang="en-US" sz="1300" dirty="0"/>
          </a:p>
          <a:p>
            <a:pPr indent="0" marL="0">
              <a:spcAft>
                <a:spcPts val="600"/>
              </a:spcAft>
              <a:buNone/>
            </a:pPr>
            <a:r>
              <a:rPr lang="en-US" sz="1300" dirty="0">
                <a:solidFill>
                  <a:srgbClr val="253122"/>
                </a:solidFill>
                <a:latin typeface="Calibri" pitchFamily="34" charset="0"/>
                <a:ea typeface="Calibri" pitchFamily="34" charset="-122"/>
                <a:cs typeface="Calibri" pitchFamily="34" charset="-120"/>
              </a:rPr>
              <a:t>[9] Government of India, The National Food Security Act, 2013 (No. 20 of 2013).</a:t>
            </a:r>
            <a:endParaRPr lang="en-US" sz="1300" dirty="0"/>
          </a:p>
          <a:p>
            <a:pPr indent="0" marL="0">
              <a:spcAft>
                <a:spcPts val="600"/>
              </a:spcAft>
              <a:buNone/>
            </a:pPr>
            <a:r>
              <a:rPr lang="en-US" sz="1300" dirty="0">
                <a:solidFill>
                  <a:srgbClr val="253122"/>
                </a:solidFill>
                <a:latin typeface="Calibri" pitchFamily="34" charset="0"/>
                <a:ea typeface="Calibri" pitchFamily="34" charset="-122"/>
                <a:cs typeface="Calibri" pitchFamily="34" charset="-120"/>
              </a:rPr>
              <a:t>[10] Gujarat State Civil Supplies Corp. Ltd., “Foodgrains at MSP.” [Online]. Available: https://gscsc.apphost.in/en/procurement</a:t>
            </a:r>
            <a:endParaRPr lang="en-US" sz="1300" dirty="0"/>
          </a:p>
        </p:txBody>
      </p:sp>
      <p:sp>
        <p:nvSpPr>
          <p:cNvPr id="7" name="!!card1"/>
          <p:cNvSpPr/>
          <p:nvPr/>
        </p:nvSpPr>
        <p:spPr>
          <a:xfrm>
            <a:off x="8412480" y="1280160"/>
            <a:ext cx="3227832" cy="4846320"/>
          </a:xfrm>
          <a:prstGeom prst="roundRect">
            <a:avLst>
              <a:gd name="adj" fmla="val 2266"/>
            </a:avLst>
          </a:prstGeom>
          <a:solidFill>
            <a:srgbClr val="253122"/>
          </a:solidFill>
          <a:ln w="12700">
            <a:solidFill>
              <a:srgbClr val="253122"/>
            </a:solidFill>
            <a:prstDash val="solid"/>
          </a:ln>
        </p:spPr>
      </p:sp>
      <p:pic>
        <p:nvPicPr>
          <p:cNvPr id="8" name="Questions icon" descr="preencoded.png">    </p:cNvPr>
          <p:cNvPicPr>
            <a:picLocks noChangeAspect="1"/>
          </p:cNvPicPr>
          <p:nvPr/>
        </p:nvPicPr>
        <p:blipFill>
          <a:blip r:embed="rId2"/>
          <a:stretch>
            <a:fillRect/>
          </a:stretch>
        </p:blipFill>
        <p:spPr>
          <a:xfrm>
            <a:off x="9482328" y="2103120"/>
            <a:ext cx="1097280" cy="1097280"/>
          </a:xfrm>
          <a:prstGeom prst="rect">
            <a:avLst/>
          </a:prstGeom>
        </p:spPr>
      </p:pic>
      <p:sp>
        <p:nvSpPr>
          <p:cNvPr id="9" name="Text 5"/>
          <p:cNvSpPr txBox="1"/>
          <p:nvPr/>
        </p:nvSpPr>
        <p:spPr>
          <a:xfrm>
            <a:off x="8595360" y="3474720"/>
            <a:ext cx="2862072" cy="548640"/>
          </a:xfrm>
          <a:prstGeom prst="rect">
            <a:avLst/>
          </a:prstGeom>
          <a:noFill/>
          <a:ln/>
        </p:spPr>
        <p:txBody>
          <a:bodyPr wrap="square" lIns="0" tIns="0" rIns="0" bIns="0" rtlCol="0" anchor="t"/>
          <a:lstStyle/>
          <a:p>
            <a:pPr algn="ctr" indent="0" marL="0">
              <a:buNone/>
            </a:pPr>
            <a:r>
              <a:rPr lang="en-US" sz="2600" b="1" dirty="0">
                <a:solidFill>
                  <a:srgbClr val="FFFFFF"/>
                </a:solidFill>
                <a:latin typeface="Cambria" pitchFamily="34" charset="0"/>
                <a:ea typeface="Cambria" pitchFamily="34" charset="-122"/>
                <a:cs typeface="Cambria" pitchFamily="34" charset="-120"/>
              </a:rPr>
              <a:t>Thank you</a:t>
            </a:r>
            <a:endParaRPr lang="en-US" sz="2600" dirty="0"/>
          </a:p>
        </p:txBody>
      </p:sp>
      <p:sp>
        <p:nvSpPr>
          <p:cNvPr id="10" name="Text 6"/>
          <p:cNvSpPr txBox="1"/>
          <p:nvPr/>
        </p:nvSpPr>
        <p:spPr>
          <a:xfrm>
            <a:off x="8595360" y="4069080"/>
            <a:ext cx="2862072" cy="457200"/>
          </a:xfrm>
          <a:prstGeom prst="rect">
            <a:avLst/>
          </a:prstGeom>
          <a:noFill/>
          <a:ln/>
        </p:spPr>
        <p:txBody>
          <a:bodyPr wrap="square" lIns="0" tIns="0" rIns="0" bIns="0" rtlCol="0" anchor="t"/>
          <a:lstStyle/>
          <a:p>
            <a:pPr algn="ctr" indent="0" marL="0">
              <a:buNone/>
            </a:pPr>
            <a:r>
              <a:rPr lang="en-US" sz="1800" dirty="0">
                <a:solidFill>
                  <a:srgbClr val="F8B6BA"/>
                </a:solidFill>
                <a:latin typeface="Calibri" pitchFamily="34" charset="0"/>
                <a:ea typeface="Calibri" pitchFamily="34" charset="-122"/>
                <a:cs typeface="Calibri" pitchFamily="34" charset="-120"/>
              </a:rPr>
              <a:t>Questions?</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50">
        <p159:morph option="byObject"/>
      </p:transition>
    </mc:Choice>
    <mc:Fallback>
      <p:transition spd="slow">
        <p:fade/>
      </p:transition>
    </mc:Fallback>
  </mc:AlternateContent>
</p:sld>
</file>

<file path=ppt/theme/theme1.xml><?xml version="1.0" encoding="utf-8"?>
<a:theme xmlns:a="http://schemas.openxmlformats.org/drawingml/2006/main" name="FCI Minor Project – Wada palette">
  <a:themeElements>
    <a:clrScheme name="FCI Minor Project – Wada palette">
      <a:dk1>
        <a:srgbClr val="253122"/>
      </a:dk1>
      <a:lt1>
        <a:srgbClr val="FFFFFF"/>
      </a:lt1>
      <a:dk2>
        <a:srgbClr val="004F46"/>
      </a:dk2>
      <a:lt2>
        <a:srgbClr val="F5ECC2"/>
      </a:lt2>
      <a:accent1>
        <a:srgbClr val="004F46"/>
      </a:accent1>
      <a:accent2>
        <a:srgbClr val="E2B540"/>
      </a:accent2>
      <a:accent3>
        <a:srgbClr val="437742"/>
      </a:accent3>
      <a:accent4>
        <a:srgbClr val="A62C37"/>
      </a:accent4>
      <a:accent5>
        <a:srgbClr val="635A3A"/>
      </a:accent5>
      <a:accent6>
        <a:srgbClr val="FBE6A0"/>
      </a:accent6>
      <a:hlink>
        <a:srgbClr val="1A7444"/>
      </a:hlink>
      <a:folHlink>
        <a:srgbClr val="986F2D"/>
      </a:folHlink>
    </a:clrScheme>
    <a:fontScheme name="FCI Minor Project – Wada palet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Operational and Financial Performance of FCI – Minor Project</dc:title>
  <dc:subject>PptxGenJS Presentation</dc:subject>
  <dc:creator>Laksh Patel</dc:creator>
  <cp:lastModifiedBy>Laksh Patel</cp:lastModifiedBy>
  <cp:revision>1</cp:revision>
  <dcterms:created xsi:type="dcterms:W3CDTF">2026-10-28T19:01:35Z</dcterms:created>
  <dcterms:modified xsi:type="dcterms:W3CDTF">2026-10-28T19:01:35Z</dcterms:modified>
</cp:coreProperties>
</file>