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cb5b90-a33c-ab3a-fee7-21d2cf01daa9}">
          <p14:sldIdLst>
            <p14:sldId id="256"/>
          </p14:sldIdLst>
        </p14:section>
        <p14:section name="Background" id="{391bdf95-4e34-9f8a-409f-90a34efa6e1e}">
          <p14:sldIdLst>
            <p14:sldId id="257"/>
            <p14:sldId id="258"/>
            <p14:sldId id="259"/>
            <p14:sldId id="260"/>
            <p14:sldId id="261"/>
          </p14:sldIdLst>
        </p14:section>
        <p14:section name="Method" id="{6bb6ba4a-090b-c1e4-6186-3d59267dc5a5}">
          <p14:sldIdLst>
            <p14:sldId id="262"/>
            <p14:sldId id="263"/>
          </p14:sldIdLst>
        </p14:section>
        <p14:section name="Results" id="{605b143f-7e3b-7b65-a319-a23f6035fa74}">
          <p14:sldIdLst>
            <p14:sldId id="264"/>
            <p14:sldId id="265"/>
            <p14:sldId id="266"/>
          </p14:sldIdLst>
        </p14:section>
        <p14:section name="Close" id="{7d2f43c7-5e10-b879-3f76-b0241e6b68da}">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51230"/>
                </a:solidFill>
                <a:latin typeface="+mn-lt"/>
              </a:defRPr>
            </a:pPr>
            <a:r>
              <a:rPr sz="1400" b="0" i="0" u="none" strike="noStrike">
                <a:solidFill>
                  <a:srgbClr val="051230"/>
                </a:solidFill>
                <a:latin typeface="+mn-lt"/>
              </a:rPr>
              <a:t>Total Food Subsidy (₹ thousand crore)</a:t>
            </a:r>
          </a:p>
        </c:rich>
      </c:tx>
      <c:layout/>
      <c:overlay val="0"/>
    </c:title>
    <c:autoTitleDeleted val="0"/>
    <c:plotArea>
      <c:layout/>
      <c:barChart>
        <c:barDir val="col"/>
        <c:grouping val="clustered"/>
        <c:varyColors val="0"/>
        <c:ser>
          <c:idx val="0"/>
          <c:order val="0"/>
          <c:tx>
            <c:strRef>
              <c:f>Sheet1!$B$1</c:f>
              <c:strCache>
                <c:ptCount val="1"/>
                <c:pt idx="0">
                  <c:v>Total Food Subsidy</c:v>
                </c:pt>
              </c:strCache>
            </c:strRef>
          </c:tx>
          <c:spPr>
            <a:solidFill>
              <a:srgbClr val="FCB315"/>
            </a:solidFill>
            <a:effectLst/>
          </c:spPr>
          <c:invertIfNegative val="0"/>
          <c:dLbls>
            <c:numFmt formatCode="0.0" sourceLinked="0"/>
            <c:txPr>
              <a:bodyPr/>
              <a:lstStyle/>
              <a:p>
                <a:pPr>
                  <a:defRPr b="0" i="0" strike="noStrike" sz="1100" u="none">
                    <a:solidFill>
                      <a:srgbClr val="051230"/>
                    </a:solidFill>
                    <a:latin typeface="+mn-lt"/>
                  </a:defRPr>
                </a:pPr>
              </a:p>
            </c:txPr>
            <c:showLegendKey val="0"/>
            <c:showVal val="1"/>
            <c:showCatName val="0"/>
            <c:showSerName val="0"/>
            <c:showPercent val="0"/>
            <c:showBubbleSize val="0"/>
            <c:showLeaderLines val="0"/>
          </c:dLbls>
          <c:cat>
            <c:multiLvlStrRef>
              <c:f>Sheet1!$A$2:$A$6</c:f>
              <c:multiLvlStrCache>
                <c:ptCount val="5"/>
                <c:lvl>
                  <c:pt idx="0">
                    <c:v>2020-21</c:v>
                  </c:pt>
                  <c:pt idx="1">
                    <c:v>2021-22</c:v>
                  </c:pt>
                  <c:pt idx="2">
                    <c:v>2022-23</c:v>
                  </c:pt>
                  <c:pt idx="3">
                    <c:v>2023-24</c:v>
                  </c:pt>
                  <c:pt idx="4">
                    <c:v>2024-25</c:v>
                  </c:pt>
                </c:lvl>
              </c:multiLvlStrCache>
            </c:multiLvlStrRef>
          </c:cat>
          <c:val>
            <c:numRef>
              <c:f>Sheet1!$B$2:$B$6</c:f>
              <c:numCache>
                <c:formatCode>General</c:formatCode>
                <c:ptCount val="5"/>
                <c:pt idx="0">
                  <c:v>216.9</c:v>
                </c:pt>
                <c:pt idx="1">
                  <c:v>206.8</c:v>
                </c:pt>
                <c:pt idx="2">
                  <c:v>204.5</c:v>
                </c:pt>
                <c:pt idx="3">
                  <c:v>132.7</c:v>
                </c:pt>
                <c:pt idx="4">
                  <c:v>146.5</c:v>
                </c:pt>
              </c:numCache>
            </c:numRef>
          </c:val>
        </c:ser>
        <c:dLbls>
          <c:numFmt formatCode="0.0" sourceLinked="0"/>
          <c:txPr>
            <a:bodyPr/>
            <a:lstStyle/>
            <a:p>
              <a:pPr>
                <a:defRPr b="0" i="0" strike="noStrike" sz="1100" u="none">
                  <a:solidFill>
                    <a:srgbClr val="0512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428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FDD4B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C428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51230"/>
                </a:solidFill>
                <a:latin typeface="+mn-lt"/>
              </a:defRPr>
            </a:pPr>
            <a:r>
              <a:rPr sz="1400" b="0" i="0" u="none" strike="noStrike">
                <a:solidFill>
                  <a:srgbClr val="051230"/>
                </a:solidFill>
                <a:latin typeface="+mn-lt"/>
              </a:rPr>
              <a:t>5-year CAGR, 2020-21 to 2024-25 (%)</a:t>
            </a:r>
          </a:p>
        </c:rich>
      </c:tx>
      <c:layout/>
      <c:overlay val="0"/>
    </c:title>
    <c:autoTitleDeleted val="0"/>
    <c:plotArea>
      <c:layout/>
      <c:barChart>
        <c:barDir val="bar"/>
        <c:grouping val="clustered"/>
        <c:varyColors val="0"/>
        <c:ser>
          <c:idx val="0"/>
          <c:order val="0"/>
          <c:tx>
            <c:strRef>
              <c:f>Sheet1!$B$1</c:f>
              <c:strCache>
                <c:ptCount val="1"/>
                <c:pt idx="0">
                  <c:v>5-yr CAGR</c:v>
                </c:pt>
              </c:strCache>
            </c:strRef>
          </c:tx>
          <c:spPr>
            <a:solidFill>
              <a:srgbClr val="006EB8"/>
            </a:solidFill>
            <a:effectLst/>
          </c:spPr>
          <c:invertIfNegative val="0"/>
          <c:dLbls>
            <c:numFmt formatCode="0.00" sourceLinked="0"/>
            <c:txPr>
              <a:bodyPr/>
              <a:lstStyle/>
              <a:p>
                <a:pPr>
                  <a:defRPr b="0" i="0" strike="noStrike" sz="1100" u="none">
                    <a:solidFill>
                      <a:srgbClr val="051230"/>
                    </a:solidFill>
                    <a:latin typeface="+mn-lt"/>
                  </a:defRPr>
                </a:pPr>
              </a:p>
            </c:txPr>
            <c:showLegendKey val="0"/>
            <c:showVal val="1"/>
            <c:showCatName val="0"/>
            <c:showSerName val="0"/>
            <c:showPercent val="0"/>
            <c:showBubbleSize val="0"/>
            <c:showLeaderLines val="0"/>
          </c:dLbls>
          <c:dPt>
            <c:idx val="0"/>
            <c:invertIfNegative val="0"/>
            <c:bubble3D val="0"/>
            <c:spPr>
              <a:solidFill>
                <a:srgbClr val="006EB8"/>
              </a:solidFill>
              <a:effectLst/>
            </c:spPr>
          </c:dPt>
          <c:dPt>
            <c:idx val="1"/>
            <c:invertIfNegative val="0"/>
            <c:bubble3D val="0"/>
            <c:spPr>
              <a:solidFill>
                <a:srgbClr val="006EB8"/>
              </a:solidFill>
              <a:effectLst/>
            </c:spPr>
          </c:dPt>
          <c:dPt>
            <c:idx val="2"/>
            <c:invertIfNegative val="0"/>
            <c:bubble3D val="0"/>
            <c:spPr>
              <a:solidFill>
                <a:srgbClr val="006EB8"/>
              </a:solidFill>
              <a:effectLst/>
            </c:spPr>
          </c:dPt>
          <c:dPt>
            <c:idx val="3"/>
            <c:invertIfNegative val="0"/>
            <c:bubble3D val="0"/>
            <c:spPr>
              <a:solidFill>
                <a:srgbClr val="CC1236"/>
              </a:solidFill>
              <a:effectLst/>
            </c:spPr>
          </c:dPt>
          <c:cat>
            <c:multiLvlStrRef>
              <c:f>Sheet1!$A$2:$A$5</c:f>
              <c:multiLvlStrCache>
                <c:ptCount val="4"/>
                <c:lvl>
                  <c:pt idx="0">
                    <c:v>Paddy cost</c:v>
                  </c:pt>
                  <c:pt idx="1">
                    <c:v>Rice cost</c:v>
                  </c:pt>
                  <c:pt idx="2">
                    <c:v>Wheat cost</c:v>
                  </c:pt>
                  <c:pt idx="3">
                    <c:v>Distribution cost</c:v>
                  </c:pt>
                </c:lvl>
              </c:multiLvlStrCache>
            </c:multiLvlStrRef>
          </c:cat>
          <c:val>
            <c:numRef>
              <c:f>Sheet1!$B$2:$B$5</c:f>
              <c:numCache>
                <c:formatCode>General</c:formatCode>
                <c:ptCount val="4"/>
                <c:pt idx="0">
                  <c:v>8.55</c:v>
                </c:pt>
                <c:pt idx="1">
                  <c:v>2.94</c:v>
                </c:pt>
                <c:pt idx="2">
                  <c:v>1.09</c:v>
                </c:pt>
                <c:pt idx="3">
                  <c:v>-18.73</c:v>
                </c:pt>
              </c:numCache>
            </c:numRef>
          </c:val>
        </c:ser>
        <c:dLbls>
          <c:numFmt formatCode="0.00" sourceLinked="0"/>
          <c:txPr>
            <a:bodyPr/>
            <a:lstStyle/>
            <a:p>
              <a:pPr>
                <a:defRPr b="0" i="0" strike="noStrike" sz="1100" u="none">
                  <a:solidFill>
                    <a:srgbClr val="0512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4286"/>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FDD4B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C428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project title and the organisation. One line: this project studies WHAT it costs the Food Corporation of India to buy, store and distribute wheat and rice, and how those costs moved over five years (2020-21 to 2024-25). The colour palette is inspired by "A Dictionary of Color Combinations" - each content slide shows one real three-colour combination from the book, with its combination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pillars simply: (1) Government announces MSP, (2) FCI buys and stores grain, (3) grain is given to poor households through the Public Distribution System. The money gap between what it costs and what consumers pay is the Food Subsidy. Since January 2023 consumers pay nothing (CIP = 0), so the government bears the entire cost. That is why understanding the cost components is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quickly: theory (Dreze &amp; Sen), system criticism (Swaminathan, Himanshu &amp; Sen), money (Gulati &amp; Saini, Kaur &amp; Arora), reform (Shanta Kumar Committee). CAG 2013 and Srinivasa Rao 2012 also discuss storage mismatch and spoilage - mention if asked. Key message: almost all of this work is before 2020, so the pandemic and free-grain period is not covered at component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one sentence: the subsidy bill changed sharply, but we do not know which cost components are responsible. Explain why it matters now (CIP is zero). Then say what the project will deliver: a clear, five-year, component-wise picture for wheat and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then the five objectives in plain words. Note that the report lists six objectives; for this presentation objectives on distribution/carrying cost and wheat-vs-rice cost are combined into one, keeping the guideline of 3-5 objectives. Each one is measurable: YoY change, CAGR, rupees per quintal, utilisation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what others did, right column is what you do differently. The strongest differentiator is the last two rows: you test the published subsidy rate instead of trusting it, and you finish with specific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six boxes. Emphasise step 3: because the data comes from five different PDFs, you checked each year closing stock against the next year opening stock to be sure nothing was mis-typed. Explain YoY (change from last year) and CAGR (average yearly growth over the whole period) in one sentence each. CAGR uses 4 growth intervals between 2020-21 and 2024-25.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needs no special software. All the data comes from the FCI Annual Reports, which are public and audited. The table shows which section of the report each data item came from. Justification: official audited figures, easy to verify, and Excel is enough for trend and CAGR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actual progress, not only plans. Most of the research is finished: five reports read, twelve tables built, six findings and five recommendations written. Be honest about pending items: six literature citations still need their full publication details confirmed, trend charts are to be added, and results are in nominal rupees (not inflation-adjusted).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on the left: the subsidy bill dropped sharply in 2023-24 when the pandemic free-grain scheme ended, then rose a little in 2024-25 because buffer stock carrying cost nearly doubled. Chart on the right: among the cost components, paddy procurement grew fastest (8.55% a year); distribution cost fell, mostly because of one large drop between 2020-21 and 2021-22 that FCI does not explain. Also mention the data-quality finding: FCI published subsidy rate cannot be matched with its own economic cost figures. Other results: net worth grew almost four-fold through government equity, and borrowing fell from 87.0% to 63.7% of capital employed.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phase happened during the internship (15 May to 21 July 2026). The week-wise plan shown here is a proposal; adjust the dates to match your supervisor and the university calendar before presenting. Validation plan: every number is re-checked against the master workbook, and the stock cross-check is used again as a consistency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what you will deliver, who benefits, and the honest limitations. Close with the one-sentence conclusion: costs went through two phases, and the pressure today is at the farm-gate procurement stage, especially paddy, not in logistics or in the overall subsidy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Likely questions: Why these five years? (they cover the COVID expansion, the end of PMGKAY and the equity infusion). Why CAGR and YoY both? (CAGR from a distorted base year can mislead, so YoY is read alongside it). What is the main limitation? (summary data only, nominal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589520" cy="1920240"/>
          </a:xfrm>
          <a:prstGeom prst="rect">
            <a:avLst/>
          </a:prstGeom>
          <a:noFill/>
          <a:ln/>
        </p:spPr>
        <p:txBody>
          <a:bodyPr wrap="square" rtlCol="0"/>
          <a:lstStyle>
            <a:lvl1pPr indent="0" marL="0">
              <a:buNone/>
              <a:defRPr lang="en-US" sz="3800" b="1" dirty="0">
                <a:solidFill>
                  <a:schemeClr val="bg1"/>
                </a:solidFill>
                <a:latin typeface="+mj-lt" pitchFamily="34" charset="0"/>
                <a:ea typeface="+mj-lt" pitchFamily="34" charset="-122"/>
                <a:cs typeface="+mj-lt" pitchFamily="34" charset="-120"/>
              </a:defRPr>
            </a:lvl1pPr>
          </a:lstStyle>
          <a:p>
            <a:pPr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731520"/>
          </a:xfrm>
          <a:prstGeom prst="rect">
            <a:avLst/>
          </a:prstGeom>
          <a:noFill/>
          <a:ln/>
        </p:spPr>
        <p:txBody>
          <a:bodyPr wrap="square" rtlCol="0"/>
          <a:lstStyle>
            <a:lvl1pPr indent="0" marL="0">
              <a:buNone/>
              <a:defRPr lang="en-US" sz="3400" b="1" dirty="0">
                <a:solidFill>
                  <a:schemeClr val="tx1"/>
                </a:solidFill>
                <a:latin typeface="+mj-lt" pitchFamily="34" charset="0"/>
                <a:ea typeface="+mj-lt" pitchFamily="34" charset="-122"/>
                <a:cs typeface="+mj-lt" pitchFamily="34" charset="-120"/>
              </a:defRPr>
            </a:lvl1pPr>
          </a:lstStyle>
          <a:p>
            <a:pPr indent="0" marL="0">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tx2"/>
                </a:solidFill>
              </a:rPr>
              <a:t>FCI Economic Cost Study  |  Riya Khobragade  |  NFSU Gandhinagar</a:t>
            </a:r>
            <a:endParaRPr lang="en-US" sz="10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77240"/>
            <a:ext cx="758952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SUMMER INTERNSHIP PROJECT  |  MID-SEMESTER PRESENTATION</a:t>
            </a:r>
            <a:endParaRPr lang="en-US" sz="1400" dirty="0"/>
          </a:p>
        </p:txBody>
      </p:sp>
      <p:sp>
        <p:nvSpPr>
          <p:cNvPr id="3" name="!!Title"/>
          <p:cNvSpPr/>
          <p:nvPr>
            <p:ph idx="100" type="title" hasCustomPrompt="1"/>
          </p:nvPr>
        </p:nvSpPr>
        <p:spPr>
          <a:xfrm>
            <a:off x="640080" y="1417320"/>
            <a:ext cx="7589520" cy="1920240"/>
          </a:xfrm>
          <a:prstGeom prst="rect">
            <a:avLst/>
          </a:prstGeom>
          <a:noFill/>
          <a:ln/>
        </p:spPr>
        <p:txBody>
          <a:bodyPr wrap="square" lIns="0" tIns="0" rIns="0" bIns="0" rtlCol="0" anchor="t"/>
          <a:lstStyle/>
          <a:p>
            <a:pPr indent="0" marL="0">
              <a:buNone/>
            </a:pPr>
            <a:r>
              <a:rPr lang="en-US" sz="3800" b="1" dirty="0">
                <a:solidFill>
                  <a:schemeClr val="bg1"/>
                </a:solidFill>
                <a:latin typeface="+mj-lt" pitchFamily="34" charset="0"/>
                <a:ea typeface="+mj-lt" pitchFamily="34" charset="-122"/>
                <a:cs typeface="+mj-lt" pitchFamily="34" charset="-120"/>
              </a:rPr>
              <a:t>Analysis of Economic Cost Components of Food Grain Management at FCI</a:t>
            </a:r>
            <a:endParaRPr lang="en-US" sz="3800" dirty="0"/>
          </a:p>
        </p:txBody>
      </p:sp>
      <p:sp>
        <p:nvSpPr>
          <p:cNvPr id="4" name="Text 2"/>
          <p:cNvSpPr txBox="1"/>
          <p:nvPr/>
        </p:nvSpPr>
        <p:spPr>
          <a:xfrm>
            <a:off x="640080" y="3429000"/>
            <a:ext cx="7589520" cy="457200"/>
          </a:xfrm>
          <a:prstGeom prst="rect">
            <a:avLst/>
          </a:prstGeom>
          <a:noFill/>
          <a:ln/>
        </p:spPr>
        <p:txBody>
          <a:bodyPr wrap="square" lIns="0" tIns="0" rIns="0" bIns="0" rtlCol="0" anchor="t"/>
          <a:lstStyle/>
          <a:p>
            <a:pPr indent="0" marL="0">
              <a:buNone/>
            </a:pPr>
            <a:r>
              <a:rPr lang="en-US" sz="2200" i="1" dirty="0">
                <a:solidFill>
                  <a:schemeClr val="accent6"/>
                </a:solidFill>
                <a:latin typeface="+mj-lt" pitchFamily="34" charset="0"/>
                <a:ea typeface="+mj-lt" pitchFamily="34" charset="-122"/>
                <a:cs typeface="+mj-lt" pitchFamily="34" charset="-120"/>
              </a:rPr>
              <a:t>A Five-Year Trend Study (2020-21 to 2024-25)</a:t>
            </a:r>
            <a:endParaRPr lang="en-US" sz="2200" dirty="0"/>
          </a:p>
        </p:txBody>
      </p:sp>
      <p:sp>
        <p:nvSpPr>
          <p:cNvPr id="5" name="Text 3"/>
          <p:cNvSpPr txBox="1"/>
          <p:nvPr/>
        </p:nvSpPr>
        <p:spPr>
          <a:xfrm>
            <a:off x="640080" y="4251960"/>
            <a:ext cx="7772400" cy="1737360"/>
          </a:xfrm>
          <a:prstGeom prst="rect">
            <a:avLst/>
          </a:prstGeom>
          <a:noFill/>
          <a:ln/>
        </p:spPr>
        <p:txBody>
          <a:bodyPr wrap="square" lIns="0" tIns="0" rIns="0" bIns="0" rtlCol="0" anchor="t"/>
          <a:lstStyle/>
          <a:p>
            <a:pPr indent="0" marL="0">
              <a:spcAft>
                <a:spcPts val="500"/>
              </a:spcAft>
              <a:buNone/>
            </a:pPr>
            <a:r>
              <a:rPr lang="en-US" sz="1500" b="1" dirty="0">
                <a:solidFill>
                  <a:schemeClr val="bg1"/>
                </a:solidFill>
              </a:rPr>
              <a:t>Riya Khobragade  |  Enrolment No. 250104004026</a:t>
            </a:r>
            <a:endParaRPr lang="en-US" sz="1500" dirty="0"/>
          </a:p>
          <a:p>
            <a:pPr indent="0" marL="0">
              <a:spcAft>
                <a:spcPts val="500"/>
              </a:spcAft>
              <a:buNone/>
            </a:pPr>
            <a:r>
              <a:rPr lang="en-US" sz="1500" dirty="0">
                <a:solidFill>
                  <a:schemeClr val="bg1"/>
                </a:solidFill>
              </a:rPr>
              <a:t>MBA (Business Analytics &amp; Intelligence), Semester II  |  School of Management Studies</a:t>
            </a:r>
            <a:endParaRPr lang="en-US" sz="1500" dirty="0"/>
          </a:p>
          <a:p>
            <a:pPr indent="0" marL="0">
              <a:spcAft>
                <a:spcPts val="500"/>
              </a:spcAft>
              <a:buNone/>
            </a:pPr>
            <a:r>
              <a:rPr lang="en-US" sz="1500" dirty="0">
                <a:solidFill>
                  <a:schemeClr val="bg1"/>
                </a:solidFill>
              </a:rPr>
              <a:t>Supervisor: Dr. Vivek Vyas</a:t>
            </a:r>
            <a:endParaRPr lang="en-US" sz="1500" dirty="0"/>
          </a:p>
          <a:p>
            <a:pPr indent="0" marL="0">
              <a:spcAft>
                <a:spcPts val="500"/>
              </a:spcAft>
              <a:buNone/>
            </a:pPr>
            <a:r>
              <a:rPr lang="en-US" sz="1500" dirty="0">
                <a:solidFill>
                  <a:schemeClr val="bg1"/>
                </a:solidFill>
              </a:rPr>
              <a:t>National Forensic Sciences University, Gujarat Campus, Gandhinagar</a:t>
            </a:r>
            <a:endParaRPr lang="en-US" sz="1500" dirty="0"/>
          </a:p>
          <a:p>
            <a:pPr indent="0" marL="0">
              <a:spcAft>
                <a:spcPts val="500"/>
              </a:spcAft>
              <a:buNone/>
            </a:pPr>
            <a:r>
              <a:rPr lang="en-US" sz="1500" dirty="0">
                <a:solidFill>
                  <a:schemeClr val="bg1"/>
                </a:solidFill>
              </a:rPr>
              <a:t>Academic Year 2025-26 (Batch 2025-27)  |  Host organisation: Food Corporation of India</a:t>
            </a:r>
            <a:endParaRPr lang="en-US" sz="1500" dirty="0"/>
          </a:p>
        </p:txBody>
      </p:sp>
      <p:sp>
        <p:nvSpPr>
          <p:cNvPr id="6" name="!!Chip1"/>
          <p:cNvSpPr/>
          <p:nvPr/>
        </p:nvSpPr>
        <p:spPr>
          <a:xfrm>
            <a:off x="8869680" y="777240"/>
            <a:ext cx="2743200" cy="868680"/>
          </a:xfrm>
          <a:prstGeom prst="rect">
            <a:avLst/>
          </a:prstGeom>
          <a:solidFill>
            <a:schemeClr val="accent1"/>
          </a:solidFill>
          <a:ln/>
        </p:spPr>
      </p:sp>
      <p:sp>
        <p:nvSpPr>
          <p:cNvPr id="7" name="Text 5"/>
          <p:cNvSpPr txBox="1"/>
          <p:nvPr/>
        </p:nvSpPr>
        <p:spPr>
          <a:xfrm>
            <a:off x="9052560" y="960120"/>
            <a:ext cx="1828800" cy="274320"/>
          </a:xfrm>
          <a:prstGeom prst="rect">
            <a:avLst/>
          </a:prstGeom>
          <a:noFill/>
          <a:ln/>
        </p:spPr>
        <p:txBody>
          <a:bodyPr wrap="square" lIns="0" tIns="0" rIns="0" bIns="0" rtlCol="0" anchor="t"/>
          <a:lstStyle/>
          <a:p>
            <a:pPr indent="0" marL="0">
              <a:buNone/>
            </a:pPr>
            <a:r>
              <a:rPr lang="en-US" sz="1500" b="1" dirty="0">
                <a:solidFill>
                  <a:srgbClr val="051230"/>
                </a:solidFill>
                <a:latin typeface="+mj-lt" pitchFamily="34" charset="0"/>
                <a:ea typeface="+mj-lt" pitchFamily="34" charset="-122"/>
                <a:cs typeface="+mj-lt" pitchFamily="34" charset="-120"/>
              </a:rPr>
              <a:t>Orange Yellow</a:t>
            </a:r>
            <a:endParaRPr lang="en-US" sz="1500" dirty="0"/>
          </a:p>
        </p:txBody>
      </p:sp>
      <p:sp>
        <p:nvSpPr>
          <p:cNvPr id="8" name="Text 6"/>
          <p:cNvSpPr txBox="1"/>
          <p:nvPr/>
        </p:nvSpPr>
        <p:spPr>
          <a:xfrm>
            <a:off x="9052560" y="1280160"/>
            <a:ext cx="1828800" cy="228600"/>
          </a:xfrm>
          <a:prstGeom prst="rect">
            <a:avLst/>
          </a:prstGeom>
          <a:noFill/>
          <a:ln/>
        </p:spPr>
        <p:txBody>
          <a:bodyPr wrap="square" lIns="0" tIns="0" rIns="0" bIns="0" rtlCol="0" anchor="t"/>
          <a:lstStyle/>
          <a:p>
            <a:pPr indent="0" marL="0">
              <a:buNone/>
            </a:pPr>
            <a:r>
              <a:rPr lang="en-US" sz="1100" i="1" dirty="0">
                <a:solidFill>
                  <a:srgbClr val="051230"/>
                </a:solidFill>
              </a:rPr>
              <a:t>No. 01</a:t>
            </a:r>
            <a:endParaRPr lang="en-US" sz="1100" dirty="0"/>
          </a:p>
        </p:txBody>
      </p:sp>
      <p:sp>
        <p:nvSpPr>
          <p:cNvPr id="9" name="!!Chip2"/>
          <p:cNvSpPr/>
          <p:nvPr/>
        </p:nvSpPr>
        <p:spPr>
          <a:xfrm>
            <a:off x="8869680" y="1801368"/>
            <a:ext cx="2743200" cy="868680"/>
          </a:xfrm>
          <a:prstGeom prst="rect">
            <a:avLst/>
          </a:prstGeom>
          <a:solidFill>
            <a:schemeClr val="accent2"/>
          </a:solidFill>
          <a:ln/>
        </p:spPr>
      </p:sp>
      <p:sp>
        <p:nvSpPr>
          <p:cNvPr id="10" name="Text 8"/>
          <p:cNvSpPr txBox="1"/>
          <p:nvPr/>
        </p:nvSpPr>
        <p:spPr>
          <a:xfrm>
            <a:off x="9052560" y="1984248"/>
            <a:ext cx="1828800" cy="27432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Diamine Green</a:t>
            </a:r>
            <a:endParaRPr lang="en-US" sz="1500" dirty="0"/>
          </a:p>
        </p:txBody>
      </p:sp>
      <p:sp>
        <p:nvSpPr>
          <p:cNvPr id="11" name="Text 9"/>
          <p:cNvSpPr txBox="1"/>
          <p:nvPr/>
        </p:nvSpPr>
        <p:spPr>
          <a:xfrm>
            <a:off x="9052560" y="2304288"/>
            <a:ext cx="1828800" cy="228600"/>
          </a:xfrm>
          <a:prstGeom prst="rect">
            <a:avLst/>
          </a:prstGeom>
          <a:noFill/>
          <a:ln/>
        </p:spPr>
        <p:txBody>
          <a:bodyPr wrap="square" lIns="0" tIns="0" rIns="0" bIns="0" rtlCol="0" anchor="t"/>
          <a:lstStyle/>
          <a:p>
            <a:pPr indent="0" marL="0">
              <a:buNone/>
            </a:pPr>
            <a:r>
              <a:rPr lang="en-US" sz="1100" i="1" dirty="0">
                <a:solidFill>
                  <a:srgbClr val="FFFFFF"/>
                </a:solidFill>
              </a:rPr>
              <a:t>No. 02</a:t>
            </a:r>
            <a:endParaRPr lang="en-US" sz="1100" dirty="0"/>
          </a:p>
        </p:txBody>
      </p:sp>
      <p:sp>
        <p:nvSpPr>
          <p:cNvPr id="12" name="!!Chip3"/>
          <p:cNvSpPr/>
          <p:nvPr/>
        </p:nvSpPr>
        <p:spPr>
          <a:xfrm>
            <a:off x="8869680" y="2825496"/>
            <a:ext cx="2743200" cy="868680"/>
          </a:xfrm>
          <a:prstGeom prst="rect">
            <a:avLst/>
          </a:prstGeom>
          <a:solidFill>
            <a:schemeClr val="accent3"/>
          </a:solidFill>
          <a:ln/>
        </p:spPr>
      </p:sp>
      <p:sp>
        <p:nvSpPr>
          <p:cNvPr id="13" name="Text 11"/>
          <p:cNvSpPr txBox="1"/>
          <p:nvPr/>
        </p:nvSpPr>
        <p:spPr>
          <a:xfrm>
            <a:off x="9052560" y="3008376"/>
            <a:ext cx="1828800" cy="27432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Carmine</a:t>
            </a:r>
            <a:endParaRPr lang="en-US" sz="1500" dirty="0"/>
          </a:p>
        </p:txBody>
      </p:sp>
      <p:sp>
        <p:nvSpPr>
          <p:cNvPr id="14" name="Text 12"/>
          <p:cNvSpPr txBox="1"/>
          <p:nvPr/>
        </p:nvSpPr>
        <p:spPr>
          <a:xfrm>
            <a:off x="9052560" y="3328416"/>
            <a:ext cx="1828800" cy="228600"/>
          </a:xfrm>
          <a:prstGeom prst="rect">
            <a:avLst/>
          </a:prstGeom>
          <a:noFill/>
          <a:ln/>
        </p:spPr>
        <p:txBody>
          <a:bodyPr wrap="square" lIns="0" tIns="0" rIns="0" bIns="0" rtlCol="0" anchor="t"/>
          <a:lstStyle/>
          <a:p>
            <a:pPr indent="0" marL="0">
              <a:buNone/>
            </a:pPr>
            <a:r>
              <a:rPr lang="en-US" sz="1100" i="1" dirty="0">
                <a:solidFill>
                  <a:srgbClr val="FFFFFF"/>
                </a:solidFill>
              </a:rPr>
              <a:t>No. 03</a:t>
            </a:r>
            <a:endParaRPr lang="en-US" sz="1100" dirty="0"/>
          </a:p>
        </p:txBody>
      </p:sp>
      <p:sp>
        <p:nvSpPr>
          <p:cNvPr id="15" name="Swatch 04"/>
          <p:cNvSpPr/>
          <p:nvPr/>
        </p:nvSpPr>
        <p:spPr>
          <a:xfrm>
            <a:off x="8869680" y="3849624"/>
            <a:ext cx="2743200" cy="868680"/>
          </a:xfrm>
          <a:prstGeom prst="rect">
            <a:avLst/>
          </a:prstGeom>
          <a:solidFill>
            <a:schemeClr val="accent4"/>
          </a:solidFill>
          <a:ln/>
        </p:spPr>
      </p:sp>
      <p:sp>
        <p:nvSpPr>
          <p:cNvPr id="16" name="Text 14"/>
          <p:cNvSpPr txBox="1"/>
          <p:nvPr/>
        </p:nvSpPr>
        <p:spPr>
          <a:xfrm>
            <a:off x="9052560" y="4032504"/>
            <a:ext cx="1828800" cy="27432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Blue</a:t>
            </a:r>
            <a:endParaRPr lang="en-US" sz="1500" dirty="0"/>
          </a:p>
        </p:txBody>
      </p:sp>
      <p:sp>
        <p:nvSpPr>
          <p:cNvPr id="17" name="Text 15"/>
          <p:cNvSpPr txBox="1"/>
          <p:nvPr/>
        </p:nvSpPr>
        <p:spPr>
          <a:xfrm>
            <a:off x="9052560" y="4352544"/>
            <a:ext cx="1828800" cy="228600"/>
          </a:xfrm>
          <a:prstGeom prst="rect">
            <a:avLst/>
          </a:prstGeom>
          <a:noFill/>
          <a:ln/>
        </p:spPr>
        <p:txBody>
          <a:bodyPr wrap="square" lIns="0" tIns="0" rIns="0" bIns="0" rtlCol="0" anchor="t"/>
          <a:lstStyle/>
          <a:p>
            <a:pPr indent="0" marL="0">
              <a:buNone/>
            </a:pPr>
            <a:r>
              <a:rPr lang="en-US" sz="1100" i="1" dirty="0">
                <a:solidFill>
                  <a:srgbClr val="FFFFFF"/>
                </a:solidFill>
              </a:rPr>
              <a:t>No. 04</a:t>
            </a:r>
            <a:endParaRPr lang="en-US" sz="1100" dirty="0"/>
          </a:p>
        </p:txBody>
      </p:sp>
      <p:sp>
        <p:nvSpPr>
          <p:cNvPr id="18" name="Swatch 05"/>
          <p:cNvSpPr/>
          <p:nvPr/>
        </p:nvSpPr>
        <p:spPr>
          <a:xfrm>
            <a:off x="8869680" y="4873752"/>
            <a:ext cx="2743200" cy="868680"/>
          </a:xfrm>
          <a:prstGeom prst="rect">
            <a:avLst/>
          </a:prstGeom>
          <a:solidFill>
            <a:schemeClr val="accent5"/>
          </a:solidFill>
          <a:ln/>
        </p:spPr>
      </p:sp>
      <p:sp>
        <p:nvSpPr>
          <p:cNvPr id="19" name="Text 17"/>
          <p:cNvSpPr txBox="1"/>
          <p:nvPr/>
        </p:nvSpPr>
        <p:spPr>
          <a:xfrm>
            <a:off x="9052560" y="5056632"/>
            <a:ext cx="1828800" cy="27432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Red Violet</a:t>
            </a:r>
            <a:endParaRPr lang="en-US" sz="1500" dirty="0"/>
          </a:p>
        </p:txBody>
      </p:sp>
      <p:sp>
        <p:nvSpPr>
          <p:cNvPr id="20" name="Text 18"/>
          <p:cNvSpPr txBox="1"/>
          <p:nvPr/>
        </p:nvSpPr>
        <p:spPr>
          <a:xfrm>
            <a:off x="9052560" y="5376672"/>
            <a:ext cx="1828800" cy="228600"/>
          </a:xfrm>
          <a:prstGeom prst="rect">
            <a:avLst/>
          </a:prstGeom>
          <a:noFill/>
          <a:ln/>
        </p:spPr>
        <p:txBody>
          <a:bodyPr wrap="square" lIns="0" tIns="0" rIns="0" bIns="0" rtlCol="0" anchor="t"/>
          <a:lstStyle/>
          <a:p>
            <a:pPr indent="0" marL="0">
              <a:buNone/>
            </a:pPr>
            <a:r>
              <a:rPr lang="en-US" sz="1100" i="1" dirty="0">
                <a:solidFill>
                  <a:srgbClr val="FFFFFF"/>
                </a:solidFill>
              </a:rPr>
              <a:t>No. 05</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Introduction and Background</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FCI is the engine of India's food security system</a:t>
            </a:r>
            <a:endParaRPr lang="en-US" sz="1600" dirty="0"/>
          </a:p>
        </p:txBody>
      </p:sp>
      <p:sp>
        <p:nvSpPr>
          <p:cNvPr id="4" name="!!Chip1"/>
          <p:cNvSpPr/>
          <p:nvPr/>
        </p:nvSpPr>
        <p:spPr>
          <a:xfrm>
            <a:off x="10241280" y="384048"/>
            <a:ext cx="411480" cy="411480"/>
          </a:xfrm>
          <a:prstGeom prst="rect">
            <a:avLst/>
          </a:prstGeom>
          <a:solidFill>
            <a:srgbClr val="CC1236"/>
          </a:solidFill>
          <a:ln/>
        </p:spPr>
      </p:sp>
      <p:sp>
        <p:nvSpPr>
          <p:cNvPr id="5" name="!!Chip2"/>
          <p:cNvSpPr/>
          <p:nvPr/>
        </p:nvSpPr>
        <p:spPr>
          <a:xfrm>
            <a:off x="10698480" y="384048"/>
            <a:ext cx="411480" cy="411480"/>
          </a:xfrm>
          <a:prstGeom prst="rect">
            <a:avLst/>
          </a:prstGeom>
          <a:solidFill>
            <a:srgbClr val="FFF200"/>
          </a:solidFill>
          <a:ln/>
        </p:spPr>
      </p:sp>
      <p:sp>
        <p:nvSpPr>
          <p:cNvPr id="6" name="!!Chip3"/>
          <p:cNvSpPr/>
          <p:nvPr/>
        </p:nvSpPr>
        <p:spPr>
          <a:xfrm>
            <a:off x="11155680" y="384048"/>
            <a:ext cx="411480" cy="411480"/>
          </a:xfrm>
          <a:prstGeom prst="rect">
            <a:avLst/>
          </a:prstGeom>
          <a:solidFill>
            <a:srgbClr val="006EB8"/>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154</a:t>
            </a:r>
            <a:endParaRPr lang="en-US" sz="1000" dirty="0"/>
          </a:p>
        </p:txBody>
      </p:sp>
      <p:sp>
        <p:nvSpPr>
          <p:cNvPr id="8" name="Stat tile 1"/>
          <p:cNvSpPr/>
          <p:nvPr/>
        </p:nvSpPr>
        <p:spPr>
          <a:xfrm>
            <a:off x="548640" y="1600200"/>
            <a:ext cx="2606040" cy="1325880"/>
          </a:xfrm>
          <a:prstGeom prst="roundRect">
            <a:avLst>
              <a:gd name="adj" fmla="val 5517"/>
            </a:avLst>
          </a:prstGeom>
          <a:solidFill>
            <a:srgbClr val="FFFFFF"/>
          </a:solidFill>
          <a:ln/>
        </p:spPr>
      </p:sp>
      <p:sp>
        <p:nvSpPr>
          <p:cNvPr id="9" name="Text 7"/>
          <p:cNvSpPr txBox="1"/>
          <p:nvPr/>
        </p:nvSpPr>
        <p:spPr>
          <a:xfrm>
            <a:off x="731520" y="1719072"/>
            <a:ext cx="2240280" cy="548640"/>
          </a:xfrm>
          <a:prstGeom prst="rect">
            <a:avLst/>
          </a:prstGeom>
          <a:noFill/>
          <a:ln/>
        </p:spPr>
        <p:txBody>
          <a:bodyPr wrap="square" lIns="0" tIns="0" rIns="0" bIns="0" rtlCol="0" anchor="t"/>
          <a:lstStyle/>
          <a:p>
            <a:pPr indent="0" marL="0">
              <a:buNone/>
            </a:pPr>
            <a:r>
              <a:rPr lang="en-US" sz="3200" b="1" dirty="0">
                <a:solidFill>
                  <a:schemeClr val="accent5"/>
                </a:solidFill>
                <a:latin typeface="+mj-lt" pitchFamily="34" charset="0"/>
                <a:ea typeface="+mj-lt" pitchFamily="34" charset="-122"/>
                <a:cs typeface="+mj-lt" pitchFamily="34" charset="-120"/>
              </a:rPr>
              <a:t>1965</a:t>
            </a:r>
            <a:endParaRPr lang="en-US" sz="3200" dirty="0"/>
          </a:p>
        </p:txBody>
      </p:sp>
      <p:sp>
        <p:nvSpPr>
          <p:cNvPr id="10" name="Text 8"/>
          <p:cNvSpPr txBox="1"/>
          <p:nvPr/>
        </p:nvSpPr>
        <p:spPr>
          <a:xfrm>
            <a:off x="731520" y="2331720"/>
            <a:ext cx="2240280" cy="548640"/>
          </a:xfrm>
          <a:prstGeom prst="rect">
            <a:avLst/>
          </a:prstGeom>
          <a:noFill/>
          <a:ln/>
        </p:spPr>
        <p:txBody>
          <a:bodyPr wrap="square" lIns="0" tIns="0" rIns="0" bIns="0" rtlCol="0" anchor="t"/>
          <a:lstStyle/>
          <a:p>
            <a:pPr indent="0" marL="0">
              <a:buNone/>
            </a:pPr>
            <a:r>
              <a:rPr lang="en-US" sz="1400" dirty="0">
                <a:solidFill>
                  <a:schemeClr val="tx1"/>
                </a:solidFill>
              </a:rPr>
              <a:t>FCI set up under the Food Corporations Act, 1964</a:t>
            </a:r>
            <a:endParaRPr lang="en-US" sz="1400" dirty="0"/>
          </a:p>
        </p:txBody>
      </p:sp>
      <p:sp>
        <p:nvSpPr>
          <p:cNvPr id="11" name="Stat tile 2"/>
          <p:cNvSpPr/>
          <p:nvPr/>
        </p:nvSpPr>
        <p:spPr>
          <a:xfrm>
            <a:off x="3337560" y="1600200"/>
            <a:ext cx="2606040" cy="1325880"/>
          </a:xfrm>
          <a:prstGeom prst="roundRect">
            <a:avLst>
              <a:gd name="adj" fmla="val 5517"/>
            </a:avLst>
          </a:prstGeom>
          <a:solidFill>
            <a:srgbClr val="FFFFFF"/>
          </a:solidFill>
          <a:ln/>
        </p:spPr>
      </p:sp>
      <p:sp>
        <p:nvSpPr>
          <p:cNvPr id="12" name="Text 10"/>
          <p:cNvSpPr txBox="1"/>
          <p:nvPr/>
        </p:nvSpPr>
        <p:spPr>
          <a:xfrm>
            <a:off x="3520440" y="1719072"/>
            <a:ext cx="2240280" cy="548640"/>
          </a:xfrm>
          <a:prstGeom prst="rect">
            <a:avLst/>
          </a:prstGeom>
          <a:noFill/>
          <a:ln/>
        </p:spPr>
        <p:txBody>
          <a:bodyPr wrap="square" lIns="0" tIns="0" rIns="0" bIns="0" rtlCol="0" anchor="t"/>
          <a:lstStyle/>
          <a:p>
            <a:pPr indent="0" marL="0">
              <a:buNone/>
            </a:pPr>
            <a:r>
              <a:rPr lang="en-US" sz="3200" b="1" dirty="0">
                <a:solidFill>
                  <a:schemeClr val="accent2"/>
                </a:solidFill>
                <a:latin typeface="+mj-lt" pitchFamily="34" charset="0"/>
                <a:ea typeface="+mj-lt" pitchFamily="34" charset="-122"/>
                <a:cs typeface="+mj-lt" pitchFamily="34" charset="-120"/>
              </a:rPr>
              <a:t>81.3 Cr</a:t>
            </a:r>
            <a:endParaRPr lang="en-US" sz="3200" dirty="0"/>
          </a:p>
        </p:txBody>
      </p:sp>
      <p:sp>
        <p:nvSpPr>
          <p:cNvPr id="13" name="Text 11"/>
          <p:cNvSpPr txBox="1"/>
          <p:nvPr/>
        </p:nvSpPr>
        <p:spPr>
          <a:xfrm>
            <a:off x="3520440" y="2331720"/>
            <a:ext cx="2240280" cy="548640"/>
          </a:xfrm>
          <a:prstGeom prst="rect">
            <a:avLst/>
          </a:prstGeom>
          <a:noFill/>
          <a:ln/>
        </p:spPr>
        <p:txBody>
          <a:bodyPr wrap="square" lIns="0" tIns="0" rIns="0" bIns="0" rtlCol="0" anchor="t"/>
          <a:lstStyle/>
          <a:p>
            <a:pPr indent="0" marL="0">
              <a:buNone/>
            </a:pPr>
            <a:r>
              <a:rPr lang="en-US" sz="1400" dirty="0">
                <a:solidFill>
                  <a:schemeClr val="tx1"/>
                </a:solidFill>
              </a:rPr>
              <a:t>citizens covered under NFSA</a:t>
            </a:r>
            <a:endParaRPr lang="en-US" sz="1400" dirty="0"/>
          </a:p>
        </p:txBody>
      </p:sp>
      <p:sp>
        <p:nvSpPr>
          <p:cNvPr id="14" name="Stat tile 3"/>
          <p:cNvSpPr/>
          <p:nvPr/>
        </p:nvSpPr>
        <p:spPr>
          <a:xfrm>
            <a:off x="6126480" y="1600200"/>
            <a:ext cx="2606040" cy="1325880"/>
          </a:xfrm>
          <a:prstGeom prst="roundRect">
            <a:avLst>
              <a:gd name="adj" fmla="val 5517"/>
            </a:avLst>
          </a:prstGeom>
          <a:solidFill>
            <a:srgbClr val="FFFFFF"/>
          </a:solidFill>
          <a:ln/>
        </p:spPr>
      </p:sp>
      <p:sp>
        <p:nvSpPr>
          <p:cNvPr id="15" name="Text 13"/>
          <p:cNvSpPr txBox="1"/>
          <p:nvPr/>
        </p:nvSpPr>
        <p:spPr>
          <a:xfrm>
            <a:off x="6309360" y="1719072"/>
            <a:ext cx="2240280" cy="548640"/>
          </a:xfrm>
          <a:prstGeom prst="rect">
            <a:avLst/>
          </a:prstGeom>
          <a:noFill/>
          <a:ln/>
        </p:spPr>
        <p:txBody>
          <a:bodyPr wrap="square" lIns="0" tIns="0" rIns="0" bIns="0" rtlCol="0" anchor="t"/>
          <a:lstStyle/>
          <a:p>
            <a:pPr indent="0" marL="0">
              <a:buNone/>
            </a:pPr>
            <a:r>
              <a:rPr lang="en-US" sz="2800" b="1" dirty="0">
                <a:solidFill>
                  <a:schemeClr val="accent3"/>
                </a:solidFill>
                <a:latin typeface="+mj-lt" pitchFamily="34" charset="0"/>
                <a:ea typeface="+mj-lt" pitchFamily="34" charset="-122"/>
                <a:cs typeface="+mj-lt" pitchFamily="34" charset="-120"/>
              </a:rPr>
              <a:t>₹1,46,524 Cr</a:t>
            </a:r>
            <a:endParaRPr lang="en-US" sz="2800" dirty="0"/>
          </a:p>
        </p:txBody>
      </p:sp>
      <p:sp>
        <p:nvSpPr>
          <p:cNvPr id="16" name="Text 14"/>
          <p:cNvSpPr txBox="1"/>
          <p:nvPr/>
        </p:nvSpPr>
        <p:spPr>
          <a:xfrm>
            <a:off x="6309360" y="2331720"/>
            <a:ext cx="2240280" cy="548640"/>
          </a:xfrm>
          <a:prstGeom prst="rect">
            <a:avLst/>
          </a:prstGeom>
          <a:noFill/>
          <a:ln/>
        </p:spPr>
        <p:txBody>
          <a:bodyPr wrap="square" lIns="0" tIns="0" rIns="0" bIns="0" rtlCol="0" anchor="t"/>
          <a:lstStyle/>
          <a:p>
            <a:pPr indent="0" marL="0">
              <a:buNone/>
            </a:pPr>
            <a:r>
              <a:rPr lang="en-US" sz="1400" dirty="0">
                <a:solidFill>
                  <a:schemeClr val="tx1"/>
                </a:solidFill>
              </a:rPr>
              <a:t>Total Food Subsidy, FY 2024-25</a:t>
            </a:r>
            <a:endParaRPr lang="en-US" sz="1400" dirty="0"/>
          </a:p>
        </p:txBody>
      </p:sp>
      <p:sp>
        <p:nvSpPr>
          <p:cNvPr id="17" name="Stat tile 4"/>
          <p:cNvSpPr/>
          <p:nvPr/>
        </p:nvSpPr>
        <p:spPr>
          <a:xfrm>
            <a:off x="8915400" y="1600200"/>
            <a:ext cx="2606040" cy="1325880"/>
          </a:xfrm>
          <a:prstGeom prst="roundRect">
            <a:avLst>
              <a:gd name="adj" fmla="val 5517"/>
            </a:avLst>
          </a:prstGeom>
          <a:solidFill>
            <a:srgbClr val="FFFFFF"/>
          </a:solidFill>
          <a:ln/>
        </p:spPr>
      </p:sp>
      <p:sp>
        <p:nvSpPr>
          <p:cNvPr id="18" name="Text 16"/>
          <p:cNvSpPr txBox="1"/>
          <p:nvPr/>
        </p:nvSpPr>
        <p:spPr>
          <a:xfrm>
            <a:off x="9098280" y="1719072"/>
            <a:ext cx="2240280" cy="548640"/>
          </a:xfrm>
          <a:prstGeom prst="rect">
            <a:avLst/>
          </a:prstGeom>
          <a:noFill/>
          <a:ln/>
        </p:spPr>
        <p:txBody>
          <a:bodyPr wrap="square" lIns="0" tIns="0" rIns="0" bIns="0" rtlCol="0" anchor="t"/>
          <a:lstStyle/>
          <a:p>
            <a:pPr indent="0" marL="0">
              <a:buNone/>
            </a:pPr>
            <a:r>
              <a:rPr lang="en-US" sz="3200" b="1" dirty="0">
                <a:solidFill>
                  <a:schemeClr val="accent4"/>
                </a:solidFill>
                <a:latin typeface="+mj-lt" pitchFamily="34" charset="0"/>
                <a:ea typeface="+mj-lt" pitchFamily="34" charset="-122"/>
                <a:cs typeface="+mj-lt" pitchFamily="34" charset="-120"/>
              </a:rPr>
              <a:t>5.34 Lakh</a:t>
            </a:r>
            <a:endParaRPr lang="en-US" sz="3200" dirty="0"/>
          </a:p>
        </p:txBody>
      </p:sp>
      <p:sp>
        <p:nvSpPr>
          <p:cNvPr id="19" name="Text 17"/>
          <p:cNvSpPr txBox="1"/>
          <p:nvPr/>
        </p:nvSpPr>
        <p:spPr>
          <a:xfrm>
            <a:off x="9098280" y="2331720"/>
            <a:ext cx="2240280" cy="548640"/>
          </a:xfrm>
          <a:prstGeom prst="rect">
            <a:avLst/>
          </a:prstGeom>
          <a:noFill/>
          <a:ln/>
        </p:spPr>
        <p:txBody>
          <a:bodyPr wrap="square" lIns="0" tIns="0" rIns="0" bIns="0" rtlCol="0" anchor="t"/>
          <a:lstStyle/>
          <a:p>
            <a:pPr indent="0" marL="0">
              <a:buNone/>
            </a:pPr>
            <a:r>
              <a:rPr lang="en-US" sz="1400" dirty="0">
                <a:solidFill>
                  <a:schemeClr val="tx1"/>
                </a:solidFill>
              </a:rPr>
              <a:t>Fair Price Shops served</a:t>
            </a:r>
            <a:endParaRPr lang="en-US" sz="1400" dirty="0"/>
          </a:p>
        </p:txBody>
      </p:sp>
      <p:sp>
        <p:nvSpPr>
          <p:cNvPr id="20" name="Pillar card 1"/>
          <p:cNvSpPr/>
          <p:nvPr/>
        </p:nvSpPr>
        <p:spPr>
          <a:xfrm>
            <a:off x="548640" y="3108960"/>
            <a:ext cx="3520440" cy="1828800"/>
          </a:xfrm>
          <a:prstGeom prst="roundRect">
            <a:avLst>
              <a:gd name="adj" fmla="val 4000"/>
            </a:avLst>
          </a:prstGeom>
          <a:solidFill>
            <a:schemeClr val="accent1"/>
          </a:solidFill>
          <a:ln/>
        </p:spPr>
      </p:sp>
      <p:sp>
        <p:nvSpPr>
          <p:cNvPr id="21" name="Pillar number 1"/>
          <p:cNvSpPr/>
          <p:nvPr/>
        </p:nvSpPr>
        <p:spPr>
          <a:xfrm>
            <a:off x="731520" y="3273552"/>
            <a:ext cx="457200" cy="457200"/>
          </a:xfrm>
          <a:prstGeom prst="ellipse">
            <a:avLst/>
          </a:prstGeom>
          <a:solidFill>
            <a:srgbClr val="FFFFFF"/>
          </a:solidFill>
          <a:ln/>
        </p:spPr>
      </p:sp>
      <p:sp>
        <p:nvSpPr>
          <p:cNvPr id="22" name="Text 20"/>
          <p:cNvSpPr txBox="1"/>
          <p:nvPr/>
        </p:nvSpPr>
        <p:spPr>
          <a:xfrm>
            <a:off x="731520" y="3273552"/>
            <a:ext cx="457200" cy="457200"/>
          </a:xfrm>
          <a:prstGeom prst="rect">
            <a:avLst/>
          </a:prstGeom>
          <a:noFill/>
          <a:ln/>
        </p:spPr>
        <p:txBody>
          <a:bodyPr wrap="square" lIns="0" tIns="0" rIns="0" bIns="0" rtlCol="0" anchor="ctr"/>
          <a:lstStyle/>
          <a:p>
            <a:pPr algn="ctr" indent="0" marL="0">
              <a:buNone/>
            </a:pPr>
            <a:r>
              <a:rPr lang="en-US" sz="1800" b="1" dirty="0">
                <a:solidFill>
                  <a:srgbClr val="051230"/>
                </a:solidFill>
                <a:latin typeface="+mj-lt" pitchFamily="34" charset="0"/>
                <a:ea typeface="+mj-lt" pitchFamily="34" charset="-122"/>
                <a:cs typeface="+mj-lt" pitchFamily="34" charset="-120"/>
              </a:rPr>
              <a:t>1</a:t>
            </a:r>
            <a:endParaRPr lang="en-US" sz="1800" dirty="0"/>
          </a:p>
        </p:txBody>
      </p:sp>
      <p:sp>
        <p:nvSpPr>
          <p:cNvPr id="23" name="Text 21"/>
          <p:cNvSpPr txBox="1"/>
          <p:nvPr/>
        </p:nvSpPr>
        <p:spPr>
          <a:xfrm>
            <a:off x="1325880" y="3310128"/>
            <a:ext cx="2606040" cy="411480"/>
          </a:xfrm>
          <a:prstGeom prst="rect">
            <a:avLst/>
          </a:prstGeom>
          <a:noFill/>
          <a:ln/>
        </p:spPr>
        <p:txBody>
          <a:bodyPr wrap="square" lIns="0" tIns="0" rIns="0" bIns="0" rtlCol="0" anchor="ctr"/>
          <a:lstStyle/>
          <a:p>
            <a:pPr indent="0" marL="0">
              <a:buNone/>
            </a:pPr>
            <a:r>
              <a:rPr lang="en-US" sz="1600" b="1" dirty="0">
                <a:solidFill>
                  <a:srgbClr val="051230"/>
                </a:solidFill>
                <a:latin typeface="+mj-lt" pitchFamily="34" charset="0"/>
                <a:ea typeface="+mj-lt" pitchFamily="34" charset="-122"/>
                <a:cs typeface="+mj-lt" pitchFamily="34" charset="-120"/>
              </a:rPr>
              <a:t>Price support (MSP)</a:t>
            </a:r>
            <a:endParaRPr lang="en-US" sz="1600" dirty="0"/>
          </a:p>
        </p:txBody>
      </p:sp>
      <p:sp>
        <p:nvSpPr>
          <p:cNvPr id="24" name="Text 22"/>
          <p:cNvSpPr txBox="1"/>
          <p:nvPr/>
        </p:nvSpPr>
        <p:spPr>
          <a:xfrm>
            <a:off x="777240" y="3931920"/>
            <a:ext cx="3108960" cy="914400"/>
          </a:xfrm>
          <a:prstGeom prst="rect">
            <a:avLst/>
          </a:prstGeom>
          <a:noFill/>
          <a:ln/>
        </p:spPr>
        <p:txBody>
          <a:bodyPr wrap="square" lIns="0" tIns="0" rIns="0" bIns="0" rtlCol="0" anchor="t"/>
          <a:lstStyle/>
          <a:p>
            <a:pPr indent="0" marL="0">
              <a:buNone/>
            </a:pPr>
            <a:r>
              <a:rPr lang="en-US" sz="1400" dirty="0">
                <a:solidFill>
                  <a:srgbClr val="051230"/>
                </a:solidFill>
              </a:rPr>
              <a:t>Government fixes a Minimum Support Price so farmers get a floor price for their crop.</a:t>
            </a:r>
            <a:endParaRPr lang="en-US" sz="1400" dirty="0"/>
          </a:p>
        </p:txBody>
      </p:sp>
      <p:sp>
        <p:nvSpPr>
          <p:cNvPr id="25" name="Pillar card 2"/>
          <p:cNvSpPr/>
          <p:nvPr/>
        </p:nvSpPr>
        <p:spPr>
          <a:xfrm>
            <a:off x="4274820" y="3108960"/>
            <a:ext cx="3520440" cy="1828800"/>
          </a:xfrm>
          <a:prstGeom prst="roundRect">
            <a:avLst>
              <a:gd name="adj" fmla="val 4000"/>
            </a:avLst>
          </a:prstGeom>
          <a:solidFill>
            <a:schemeClr val="accent2"/>
          </a:solidFill>
          <a:ln/>
        </p:spPr>
      </p:sp>
      <p:sp>
        <p:nvSpPr>
          <p:cNvPr id="26" name="Pillar number 2"/>
          <p:cNvSpPr/>
          <p:nvPr/>
        </p:nvSpPr>
        <p:spPr>
          <a:xfrm>
            <a:off x="4457700" y="3273552"/>
            <a:ext cx="457200" cy="457200"/>
          </a:xfrm>
          <a:prstGeom prst="ellipse">
            <a:avLst/>
          </a:prstGeom>
          <a:solidFill>
            <a:srgbClr val="FFFFFF"/>
          </a:solidFill>
          <a:ln/>
        </p:spPr>
      </p:sp>
      <p:sp>
        <p:nvSpPr>
          <p:cNvPr id="27" name="Text 25"/>
          <p:cNvSpPr txBox="1"/>
          <p:nvPr/>
        </p:nvSpPr>
        <p:spPr>
          <a:xfrm>
            <a:off x="4457700" y="3273552"/>
            <a:ext cx="457200" cy="457200"/>
          </a:xfrm>
          <a:prstGeom prst="rect">
            <a:avLst/>
          </a:prstGeom>
          <a:noFill/>
          <a:ln/>
        </p:spPr>
        <p:txBody>
          <a:bodyPr wrap="square" lIns="0" tIns="0" rIns="0" bIns="0" rtlCol="0" anchor="ctr"/>
          <a:lstStyle/>
          <a:p>
            <a:pPr algn="ctr" indent="0" marL="0">
              <a:buNone/>
            </a:pPr>
            <a:r>
              <a:rPr lang="en-US" sz="1800" b="1" dirty="0">
                <a:solidFill>
                  <a:srgbClr val="051230"/>
                </a:solidFill>
                <a:latin typeface="+mj-lt" pitchFamily="34" charset="0"/>
                <a:ea typeface="+mj-lt" pitchFamily="34" charset="-122"/>
                <a:cs typeface="+mj-lt" pitchFamily="34" charset="-120"/>
              </a:rPr>
              <a:t>2</a:t>
            </a:r>
            <a:endParaRPr lang="en-US" sz="1800" dirty="0"/>
          </a:p>
        </p:txBody>
      </p:sp>
      <p:sp>
        <p:nvSpPr>
          <p:cNvPr id="28" name="Text 26"/>
          <p:cNvSpPr txBox="1"/>
          <p:nvPr/>
        </p:nvSpPr>
        <p:spPr>
          <a:xfrm>
            <a:off x="5052060" y="3310128"/>
            <a:ext cx="2606040" cy="411480"/>
          </a:xfrm>
          <a:prstGeom prst="rect">
            <a:avLst/>
          </a:prstGeom>
          <a:noFill/>
          <a:ln/>
        </p:spPr>
        <p:txBody>
          <a:bodyPr wrap="square" lIns="0" tIns="0" rIns="0" bIns="0" rtlCol="0" anchor="ctr"/>
          <a:lstStyle/>
          <a:p>
            <a:pPr indent="0" marL="0">
              <a:buNone/>
            </a:pPr>
            <a:r>
              <a:rPr lang="en-US" sz="1600" b="1" dirty="0">
                <a:solidFill>
                  <a:srgbClr val="FFFFFF"/>
                </a:solidFill>
                <a:latin typeface="+mj-lt" pitchFamily="34" charset="0"/>
                <a:ea typeface="+mj-lt" pitchFamily="34" charset="-122"/>
                <a:cs typeface="+mj-lt" pitchFamily="34" charset="-120"/>
              </a:rPr>
              <a:t>Procurement and buffer stock</a:t>
            </a:r>
            <a:endParaRPr lang="en-US" sz="1600" dirty="0"/>
          </a:p>
        </p:txBody>
      </p:sp>
      <p:sp>
        <p:nvSpPr>
          <p:cNvPr id="29" name="Text 27"/>
          <p:cNvSpPr txBox="1"/>
          <p:nvPr/>
        </p:nvSpPr>
        <p:spPr>
          <a:xfrm>
            <a:off x="4503420" y="3931920"/>
            <a:ext cx="3108960" cy="914400"/>
          </a:xfrm>
          <a:prstGeom prst="rect">
            <a:avLst/>
          </a:prstGeom>
          <a:noFill/>
          <a:ln/>
        </p:spPr>
        <p:txBody>
          <a:bodyPr wrap="square" lIns="0" tIns="0" rIns="0" bIns="0" rtlCol="0" anchor="t"/>
          <a:lstStyle/>
          <a:p>
            <a:pPr indent="0" marL="0">
              <a:buNone/>
            </a:pPr>
            <a:r>
              <a:rPr lang="en-US" sz="1400" dirty="0">
                <a:solidFill>
                  <a:srgbClr val="FFFFFF"/>
                </a:solidFill>
              </a:rPr>
              <a:t>FCI buys grain at MSP and holds buffer stock to protect the country in a food crisis.</a:t>
            </a:r>
            <a:endParaRPr lang="en-US" sz="1400" dirty="0"/>
          </a:p>
        </p:txBody>
      </p:sp>
      <p:sp>
        <p:nvSpPr>
          <p:cNvPr id="30" name="Pillar card 3"/>
          <p:cNvSpPr/>
          <p:nvPr/>
        </p:nvSpPr>
        <p:spPr>
          <a:xfrm>
            <a:off x="8001000" y="3108960"/>
            <a:ext cx="3520440" cy="1828800"/>
          </a:xfrm>
          <a:prstGeom prst="roundRect">
            <a:avLst>
              <a:gd name="adj" fmla="val 4000"/>
            </a:avLst>
          </a:prstGeom>
          <a:solidFill>
            <a:schemeClr val="accent5"/>
          </a:solidFill>
          <a:ln/>
        </p:spPr>
      </p:sp>
      <p:sp>
        <p:nvSpPr>
          <p:cNvPr id="31" name="Pillar number 3"/>
          <p:cNvSpPr/>
          <p:nvPr/>
        </p:nvSpPr>
        <p:spPr>
          <a:xfrm>
            <a:off x="8183880" y="3273552"/>
            <a:ext cx="457200" cy="457200"/>
          </a:xfrm>
          <a:prstGeom prst="ellipse">
            <a:avLst/>
          </a:prstGeom>
          <a:solidFill>
            <a:srgbClr val="FFFFFF"/>
          </a:solidFill>
          <a:ln/>
        </p:spPr>
      </p:sp>
      <p:sp>
        <p:nvSpPr>
          <p:cNvPr id="32" name="Text 30"/>
          <p:cNvSpPr txBox="1"/>
          <p:nvPr/>
        </p:nvSpPr>
        <p:spPr>
          <a:xfrm>
            <a:off x="8183880" y="3273552"/>
            <a:ext cx="457200" cy="457200"/>
          </a:xfrm>
          <a:prstGeom prst="rect">
            <a:avLst/>
          </a:prstGeom>
          <a:noFill/>
          <a:ln/>
        </p:spPr>
        <p:txBody>
          <a:bodyPr wrap="square" lIns="0" tIns="0" rIns="0" bIns="0" rtlCol="0" anchor="ctr"/>
          <a:lstStyle/>
          <a:p>
            <a:pPr algn="ctr" indent="0" marL="0">
              <a:buNone/>
            </a:pPr>
            <a:r>
              <a:rPr lang="en-US" sz="1800" b="1" dirty="0">
                <a:solidFill>
                  <a:srgbClr val="051230"/>
                </a:solidFill>
                <a:latin typeface="+mj-lt" pitchFamily="34" charset="0"/>
                <a:ea typeface="+mj-lt" pitchFamily="34" charset="-122"/>
                <a:cs typeface="+mj-lt" pitchFamily="34" charset="-120"/>
              </a:rPr>
              <a:t>3</a:t>
            </a:r>
            <a:endParaRPr lang="en-US" sz="1800" dirty="0"/>
          </a:p>
        </p:txBody>
      </p:sp>
      <p:sp>
        <p:nvSpPr>
          <p:cNvPr id="33" name="Text 31"/>
          <p:cNvSpPr txBox="1"/>
          <p:nvPr/>
        </p:nvSpPr>
        <p:spPr>
          <a:xfrm>
            <a:off x="8778240" y="3310128"/>
            <a:ext cx="2606040" cy="411480"/>
          </a:xfrm>
          <a:prstGeom prst="rect">
            <a:avLst/>
          </a:prstGeom>
          <a:noFill/>
          <a:ln/>
        </p:spPr>
        <p:txBody>
          <a:bodyPr wrap="square" lIns="0" tIns="0" rIns="0" bIns="0" rtlCol="0" anchor="ctr"/>
          <a:lstStyle/>
          <a:p>
            <a:pPr indent="0" marL="0">
              <a:buNone/>
            </a:pPr>
            <a:r>
              <a:rPr lang="en-US" sz="1600" b="1" dirty="0">
                <a:solidFill>
                  <a:srgbClr val="FFFFFF"/>
                </a:solidFill>
                <a:latin typeface="+mj-lt" pitchFamily="34" charset="0"/>
                <a:ea typeface="+mj-lt" pitchFamily="34" charset="-122"/>
                <a:cs typeface="+mj-lt" pitchFamily="34" charset="-120"/>
              </a:rPr>
              <a:t>Subsidised distribution (PDS)</a:t>
            </a:r>
            <a:endParaRPr lang="en-US" sz="1600" dirty="0"/>
          </a:p>
        </p:txBody>
      </p:sp>
      <p:sp>
        <p:nvSpPr>
          <p:cNvPr id="34" name="Text 32"/>
          <p:cNvSpPr txBox="1"/>
          <p:nvPr/>
        </p:nvSpPr>
        <p:spPr>
          <a:xfrm>
            <a:off x="8229600" y="3931920"/>
            <a:ext cx="3108960" cy="914400"/>
          </a:xfrm>
          <a:prstGeom prst="rect">
            <a:avLst/>
          </a:prstGeom>
          <a:noFill/>
          <a:ln/>
        </p:spPr>
        <p:txBody>
          <a:bodyPr wrap="square" lIns="0" tIns="0" rIns="0" bIns="0" rtlCol="0" anchor="t"/>
          <a:lstStyle/>
          <a:p>
            <a:pPr indent="0" marL="0">
              <a:buNone/>
            </a:pPr>
            <a:r>
              <a:rPr lang="en-US" sz="1400" dirty="0">
                <a:solidFill>
                  <a:srgbClr val="FFFFFF"/>
                </a:solidFill>
              </a:rPr>
              <a:t>Grain reaches households through Fair Price Shops, free under NFSA/PMGKAY since Jan 2023.</a:t>
            </a:r>
            <a:endParaRPr lang="en-US" sz="1400" dirty="0"/>
          </a:p>
        </p:txBody>
      </p:sp>
      <p:sp>
        <p:nvSpPr>
          <p:cNvPr id="35" name="Challenge banner"/>
          <p:cNvSpPr/>
          <p:nvPr/>
        </p:nvSpPr>
        <p:spPr>
          <a:xfrm>
            <a:off x="548640" y="5120640"/>
            <a:ext cx="10972800" cy="1143000"/>
          </a:xfrm>
          <a:prstGeom prst="roundRect">
            <a:avLst>
              <a:gd name="adj" fmla="val 6400"/>
            </a:avLst>
          </a:prstGeom>
          <a:solidFill>
            <a:schemeClr val="tx1"/>
          </a:solidFill>
          <a:ln/>
        </p:spPr>
      </p:sp>
      <p:sp>
        <p:nvSpPr>
          <p:cNvPr id="36" name="Text 34"/>
          <p:cNvSpPr txBox="1"/>
          <p:nvPr/>
        </p:nvSpPr>
        <p:spPr>
          <a:xfrm>
            <a:off x="777240" y="5257800"/>
            <a:ext cx="10515600" cy="868680"/>
          </a:xfrm>
          <a:prstGeom prst="rect">
            <a:avLst/>
          </a:prstGeom>
          <a:noFill/>
          <a:ln/>
        </p:spPr>
        <p:txBody>
          <a:bodyPr wrap="square" lIns="0" tIns="0" rIns="0" bIns="0" rtlCol="0" anchor="ctr"/>
          <a:lstStyle/>
          <a:p>
            <a:pPr indent="0" marL="0">
              <a:buNone/>
            </a:pPr>
            <a:r>
              <a:rPr lang="en-US" sz="1500" b="1" dirty="0">
                <a:solidFill>
                  <a:schemeClr val="accent1"/>
                </a:solidFill>
              </a:rPr>
              <a:t>Current challenge: </a:t>
            </a:r>
            <a:pPr indent="0" marL="0">
              <a:buNone/>
            </a:pPr>
            <a:r>
              <a:rPr lang="en-US" sz="1500" dirty="0">
                <a:solidFill>
                  <a:srgbClr val="FFFFFF"/>
                </a:solidFill>
              </a:rPr>
              <a:t>Economic Cost = Procurement + Distribution, but the Central Issue Price (CIP) is now ₹0. The Government therefore pays the whole gap as Food Subsidy, so it matters which cost components are growing.</a:t>
            </a:r>
            <a:endParaRPr lang="en-US" sz="15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Literature Review</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Strong theory and reform ideas exist, but little recent, component-wise cost evidence</a:t>
            </a:r>
            <a:endParaRPr lang="en-US" sz="1600" dirty="0"/>
          </a:p>
        </p:txBody>
      </p:sp>
      <p:sp>
        <p:nvSpPr>
          <p:cNvPr id="4" name="!!Chip1"/>
          <p:cNvSpPr/>
          <p:nvPr/>
        </p:nvSpPr>
        <p:spPr>
          <a:xfrm>
            <a:off x="10241280" y="384048"/>
            <a:ext cx="411480" cy="411480"/>
          </a:xfrm>
          <a:prstGeom prst="rect">
            <a:avLst/>
          </a:prstGeom>
          <a:solidFill>
            <a:srgbClr val="EB5324"/>
          </a:solidFill>
          <a:ln/>
        </p:spPr>
      </p:sp>
      <p:sp>
        <p:nvSpPr>
          <p:cNvPr id="5" name="!!Chip2"/>
          <p:cNvSpPr/>
          <p:nvPr/>
        </p:nvSpPr>
        <p:spPr>
          <a:xfrm>
            <a:off x="10698480" y="384048"/>
            <a:ext cx="411480" cy="411480"/>
          </a:xfrm>
          <a:prstGeom prst="rect">
            <a:avLst/>
          </a:prstGeom>
          <a:solidFill>
            <a:srgbClr val="00978D"/>
          </a:solidFill>
          <a:ln/>
        </p:spPr>
      </p:sp>
      <p:sp>
        <p:nvSpPr>
          <p:cNvPr id="6" name="!!Chip3"/>
          <p:cNvSpPr/>
          <p:nvPr/>
        </p:nvSpPr>
        <p:spPr>
          <a:xfrm>
            <a:off x="11155680" y="384048"/>
            <a:ext cx="411480" cy="411480"/>
          </a:xfrm>
          <a:prstGeom prst="rect">
            <a:avLst/>
          </a:prstGeom>
          <a:solidFill>
            <a:srgbClr val="051230"/>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155</a:t>
            </a:r>
            <a:endParaRPr lang="en-US" sz="1000" dirty="0"/>
          </a:p>
        </p:txBody>
      </p:sp>
      <p:graphicFrame>
        <p:nvGraphicFramePr>
          <p:cNvPr id="4" name="Literature table"/>
          <p:cNvGraphicFramePr>
            <a:graphicFrameLocks noGrp="1"/>
          </p:cNvGraphicFramePr>
          <p:nvPr>
            <p:extLst>
              <p:ext uri="{D42A27DB-BD31-4B8C-83A1-F6EECF244321}">
                <p14:modId xmlns:p14="http://schemas.microsoft.com/office/powerpoint/2010/main" val="1579011935"/>
              </p:ext>
            </p:extLst>
          </p:nvPr>
        </p:nvGraphicFramePr>
        <p:xfrm>
          <a:off x="548640" y="1600200"/>
          <a:ext cx="10972800" cy="914400"/>
        </p:xfrm>
        <a:graphic>
          <a:graphicData uri="http://schemas.openxmlformats.org/drawingml/2006/table">
            <a:tbl>
              <a:tblPr/>
              <a:tblGrid>
                <a:gridCol w="2377440"/>
                <a:gridCol w="1737360"/>
                <a:gridCol w="4206240"/>
                <a:gridCol w="2651760"/>
              </a:tblGrid>
              <a:tr h="384048">
                <a:tc>
                  <a:txBody>
                    <a:bodyPr/>
                    <a:lstStyle/>
                    <a:p>
                      <a:pPr indent="0" marL="0">
                        <a:buNone/>
                      </a:pPr>
                      <a:r>
                        <a:rPr lang="en-US" sz="1300" b="1" dirty="0">
                          <a:solidFill>
                            <a:srgbClr val="FFFFFF"/>
                          </a:solidFill>
                        </a:rPr>
                        <a:t>Author (Year)</a:t>
                      </a:r>
                      <a:endParaRPr lang="en-US" sz="1300" dirty="0"/>
                    </a:p>
                  </a:txBody>
                  <a:tcPr marL="91440" marR="91440"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006EB8"/>
                    </a:solidFill>
                  </a:tcPr>
                </a:tc>
                <a:tc>
                  <a:txBody>
                    <a:bodyPr/>
                    <a:lstStyle/>
                    <a:p>
                      <a:pPr indent="0" marL="0">
                        <a:buNone/>
                      </a:pPr>
                      <a:r>
                        <a:rPr lang="en-US" sz="1300" b="1" dirty="0">
                          <a:solidFill>
                            <a:srgbClr val="FFFFFF"/>
                          </a:solidFill>
                        </a:rPr>
                        <a:t>Focus</a:t>
                      </a:r>
                      <a:endParaRPr lang="en-US" sz="1300" dirty="0"/>
                    </a:p>
                  </a:txBody>
                  <a:tcPr marL="91440" marR="91440"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006EB8"/>
                    </a:solidFill>
                  </a:tcPr>
                </a:tc>
                <a:tc>
                  <a:txBody>
                    <a:bodyPr/>
                    <a:lstStyle/>
                    <a:p>
                      <a:pPr indent="0" marL="0">
                        <a:buNone/>
                      </a:pPr>
                      <a:r>
                        <a:rPr lang="en-US" sz="1300" b="1" dirty="0">
                          <a:solidFill>
                            <a:srgbClr val="FFFFFF"/>
                          </a:solidFill>
                        </a:rPr>
                        <a:t>Key finding</a:t>
                      </a:r>
                      <a:endParaRPr lang="en-US" sz="1300" dirty="0"/>
                    </a:p>
                  </a:txBody>
                  <a:tcPr marL="91440" marR="91440"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006EB8"/>
                    </a:solidFill>
                  </a:tcPr>
                </a:tc>
                <a:tc>
                  <a:txBody>
                    <a:bodyPr/>
                    <a:lstStyle/>
                    <a:p>
                      <a:pPr indent="0" marL="0">
                        <a:buNone/>
                      </a:pPr>
                      <a:r>
                        <a:rPr lang="en-US" sz="1300" b="1" dirty="0">
                          <a:solidFill>
                            <a:srgbClr val="FFFFFF"/>
                          </a:solidFill>
                        </a:rPr>
                        <a:t>Limitation / gap</a:t>
                      </a:r>
                      <a:endParaRPr lang="en-US" sz="1300" dirty="0"/>
                    </a:p>
                  </a:txBody>
                  <a:tcPr marL="91440" marR="91440"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006EB8"/>
                    </a:solidFill>
                  </a:tcPr>
                </a:tc>
              </a:tr>
              <a:tr h="566928">
                <a:tc>
                  <a:txBody>
                    <a:bodyPr/>
                    <a:lstStyle/>
                    <a:p>
                      <a:pPr indent="0" marL="0">
                        <a:buNone/>
                      </a:pPr>
                      <a:r>
                        <a:rPr lang="en-US" sz="1200" b="1" dirty="0">
                          <a:solidFill>
                            <a:srgbClr val="051230"/>
                          </a:solidFill>
                        </a:rPr>
                        <a:t>Drèze &amp; Sen (1989) [9]</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Hunger and entitlements</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Hunger comes from lack of entitlements, not only from food shortage</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Conceptual; no FCI cost data</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51230"/>
                          </a:solidFill>
                        </a:rPr>
                        <a:t>Swaminathan (2000) [11]</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PDS efficiency</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Grain rotted in godowns while the poor stayed hungry</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Pre-NFSA; old cost structure</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r>
              <a:tr h="566928">
                <a:tc>
                  <a:txBody>
                    <a:bodyPr/>
                    <a:lstStyle/>
                    <a:p>
                      <a:pPr indent="0" marL="0">
                        <a:buNone/>
                      </a:pPr>
                      <a:r>
                        <a:rPr lang="en-US" sz="1200" b="1" dirty="0">
                          <a:solidFill>
                            <a:srgbClr val="051230"/>
                          </a:solidFill>
                        </a:rPr>
                        <a:t>Himanshu &amp; Sen (2013) [12]</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NFSA implementation</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NFSA expanded food rights, but the Economic Cost-CIP gap threatens sustainability</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Pre-COVID; no year-wise trend</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51230"/>
                          </a:solidFill>
                        </a:rPr>
                        <a:t>Gulati &amp; Saini (2015) [10]</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Food subsidy drivers</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Wheat subsidy rose from about ₹600/qtl (2007-08) to over ₹1,400/qtl (2013-14)</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Data ends 2013-14</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r>
              <a:tr h="566928">
                <a:tc>
                  <a:txBody>
                    <a:bodyPr/>
                    <a:lstStyle/>
                    <a:p>
                      <a:pPr indent="0" marL="0">
                        <a:buNone/>
                      </a:pPr>
                      <a:r>
                        <a:rPr lang="en-US" sz="1200" b="1" dirty="0">
                          <a:solidFill>
                            <a:srgbClr val="051230"/>
                          </a:solidFill>
                        </a:rPr>
                        <a:t>Kaur &amp; Arora (2020) [13]</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Subsidy incentives</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Full cost-minus-CIP reimbursement gives FCI little motive to cut costs</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200" dirty="0">
                          <a:solidFill>
                            <a:srgbClr val="051230"/>
                          </a:solidFill>
                        </a:rPr>
                        <a:t>Conceptual; no component CAGR</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51230"/>
                          </a:solidFill>
                        </a:rPr>
                        <a:t>Shanta Kumar Committee (2015) [4]</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FCI reform</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FCI owns storage for about 35% of stock; suggests silos (PPP) and cash transfers</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200" dirty="0">
                          <a:solidFill>
                            <a:srgbClr val="051230"/>
                          </a:solidFill>
                        </a:rPr>
                        <a:t>Predates COVID / PMGKAY</a:t>
                      </a:r>
                      <a:endParaRPr lang="en-US" sz="1200" dirty="0"/>
                    </a:p>
                  </a:txBody>
                  <a:tcPr marL="91440" marR="91440"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r>
            </a:tbl>
          </a:graphicData>
        </a:graphic>
      </p:graphicFrame>
      <p:sp>
        <p:nvSpPr>
          <p:cNvPr id="9" name="Gap banner"/>
          <p:cNvSpPr/>
          <p:nvPr/>
        </p:nvSpPr>
        <p:spPr>
          <a:xfrm>
            <a:off x="548640" y="5623560"/>
            <a:ext cx="10972800" cy="640080"/>
          </a:xfrm>
          <a:prstGeom prst="roundRect">
            <a:avLst>
              <a:gd name="adj" fmla="val 11429"/>
            </a:avLst>
          </a:prstGeom>
          <a:solidFill>
            <a:schemeClr val="accent4"/>
          </a:solidFill>
          <a:ln/>
        </p:spPr>
      </p:sp>
      <p:sp>
        <p:nvSpPr>
          <p:cNvPr id="10" name="Text 7"/>
          <p:cNvSpPr txBox="1"/>
          <p:nvPr/>
        </p:nvSpPr>
        <p:spPr>
          <a:xfrm>
            <a:off x="777240" y="5623560"/>
            <a:ext cx="10515600" cy="640080"/>
          </a:xfrm>
          <a:prstGeom prst="rect">
            <a:avLst/>
          </a:prstGeom>
          <a:noFill/>
          <a:ln/>
        </p:spPr>
        <p:txBody>
          <a:bodyPr wrap="square" lIns="0" tIns="0" rIns="0" bIns="0" rtlCol="0" anchor="ctr"/>
          <a:lstStyle/>
          <a:p>
            <a:pPr indent="0" marL="0">
              <a:buNone/>
            </a:pPr>
            <a:r>
              <a:rPr lang="en-US" sz="1500" b="1" dirty="0">
                <a:solidFill>
                  <a:srgbClr val="FFFFFF"/>
                </a:solidFill>
              </a:rPr>
              <a:t>Gap: no study tracks procurement, distribution and carrying cost year by year across the COVID → NFSA transition.</a:t>
            </a:r>
            <a:endParaRPr lang="en-US" sz="15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Problem Statement</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The subsidy bill moves a lot, but the cost drivers behind it are unclear</a:t>
            </a:r>
            <a:endParaRPr lang="en-US" sz="1600" dirty="0"/>
          </a:p>
        </p:txBody>
      </p:sp>
      <p:sp>
        <p:nvSpPr>
          <p:cNvPr id="4" name="!!Chip1"/>
          <p:cNvSpPr/>
          <p:nvPr/>
        </p:nvSpPr>
        <p:spPr>
          <a:xfrm>
            <a:off x="10241280" y="384048"/>
            <a:ext cx="411480" cy="411480"/>
          </a:xfrm>
          <a:prstGeom prst="rect">
            <a:avLst/>
          </a:prstGeom>
          <a:solidFill>
            <a:srgbClr val="CC1236"/>
          </a:solidFill>
          <a:ln/>
        </p:spPr>
      </p:sp>
      <p:sp>
        <p:nvSpPr>
          <p:cNvPr id="5" name="!!Chip2"/>
          <p:cNvSpPr/>
          <p:nvPr/>
        </p:nvSpPr>
        <p:spPr>
          <a:xfrm>
            <a:off x="10698480" y="384048"/>
            <a:ext cx="411480" cy="411480"/>
          </a:xfrm>
          <a:prstGeom prst="rect">
            <a:avLst/>
          </a:prstGeom>
          <a:solidFill>
            <a:srgbClr val="FDBF68"/>
          </a:solidFill>
          <a:ln/>
        </p:spPr>
      </p:sp>
      <p:sp>
        <p:nvSpPr>
          <p:cNvPr id="6" name="!!Chip3"/>
          <p:cNvSpPr/>
          <p:nvPr/>
        </p:nvSpPr>
        <p:spPr>
          <a:xfrm>
            <a:off x="11155680" y="384048"/>
            <a:ext cx="411480" cy="411480"/>
          </a:xfrm>
          <a:prstGeom prst="rect">
            <a:avLst/>
          </a:prstGeom>
          <a:solidFill>
            <a:srgbClr val="00978D"/>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122</a:t>
            </a:r>
            <a:endParaRPr lang="en-US" sz="1000" dirty="0"/>
          </a:p>
        </p:txBody>
      </p:sp>
      <p:sp>
        <p:nvSpPr>
          <p:cNvPr id="8" name="Problem card"/>
          <p:cNvSpPr/>
          <p:nvPr/>
        </p:nvSpPr>
        <p:spPr>
          <a:xfrm>
            <a:off x="548640" y="1600200"/>
            <a:ext cx="4206240" cy="4663440"/>
          </a:xfrm>
          <a:prstGeom prst="roundRect">
            <a:avLst>
              <a:gd name="adj" fmla="val 1739"/>
            </a:avLst>
          </a:prstGeom>
          <a:solidFill>
            <a:schemeClr val="accent3"/>
          </a:solidFill>
          <a:ln/>
        </p:spPr>
      </p:sp>
      <p:sp>
        <p:nvSpPr>
          <p:cNvPr id="9" name="Text 7"/>
          <p:cNvSpPr txBox="1"/>
          <p:nvPr/>
        </p:nvSpPr>
        <p:spPr>
          <a:xfrm>
            <a:off x="822960" y="1828800"/>
            <a:ext cx="3657600" cy="274320"/>
          </a:xfrm>
          <a:prstGeom prst="rect">
            <a:avLst/>
          </a:prstGeom>
          <a:noFill/>
          <a:ln/>
        </p:spPr>
        <p:txBody>
          <a:bodyPr wrap="square" lIns="0" tIns="0" rIns="0" bIns="0" rtlCol="0" anchor="t"/>
          <a:lstStyle/>
          <a:p>
            <a:pPr indent="0" marL="0">
              <a:buNone/>
            </a:pPr>
            <a:r>
              <a:rPr lang="en-US" sz="1300" b="1" spc="200" kern="0" dirty="0">
                <a:solidFill>
                  <a:srgbClr val="FBE6A0"/>
                </a:solidFill>
              </a:rPr>
              <a:t>THE PROBLEM</a:t>
            </a:r>
            <a:endParaRPr lang="en-US" sz="1300" dirty="0"/>
          </a:p>
        </p:txBody>
      </p:sp>
      <p:sp>
        <p:nvSpPr>
          <p:cNvPr id="10" name="Text 8"/>
          <p:cNvSpPr txBox="1"/>
          <p:nvPr/>
        </p:nvSpPr>
        <p:spPr>
          <a:xfrm>
            <a:off x="822960" y="2240280"/>
            <a:ext cx="3657600" cy="2926080"/>
          </a:xfrm>
          <a:prstGeom prst="rect">
            <a:avLst/>
          </a:prstGeom>
          <a:noFill/>
          <a:ln/>
        </p:spPr>
        <p:txBody>
          <a:bodyPr wrap="square" lIns="0" tIns="0" rIns="0" bIns="0" rtlCol="0" anchor="t"/>
          <a:lstStyle/>
          <a:p>
            <a:pPr indent="0" marL="0">
              <a:buNone/>
            </a:pPr>
            <a:r>
              <a:rPr lang="en-US" sz="1900" dirty="0">
                <a:solidFill>
                  <a:srgbClr val="FFFFFF"/>
                </a:solidFill>
                <a:latin typeface="+mj-lt" pitchFamily="34" charset="0"/>
                <a:ea typeface="+mj-lt" pitchFamily="34" charset="-122"/>
                <a:cs typeface="+mj-lt" pitchFamily="34" charset="-120"/>
              </a:rPr>
              <a:t>India's Total Food Subsidy went from ₹2.17 lakh crore (2020-21) down to ₹1.33 lakh crore (2023-24) and back up to ₹1.47 lakh crore (2024-25), yet it is unclear which FCI cost components are driving this.</a:t>
            </a:r>
            <a:endParaRPr lang="en-US" sz="1900" dirty="0"/>
          </a:p>
        </p:txBody>
      </p:sp>
      <p:sp>
        <p:nvSpPr>
          <p:cNvPr id="11" name="Text 9"/>
          <p:cNvSpPr txBox="1"/>
          <p:nvPr/>
        </p:nvSpPr>
        <p:spPr>
          <a:xfrm>
            <a:off x="822960" y="5394960"/>
            <a:ext cx="3657600" cy="457200"/>
          </a:xfrm>
          <a:prstGeom prst="rect">
            <a:avLst/>
          </a:prstGeom>
          <a:noFill/>
          <a:ln/>
        </p:spPr>
        <p:txBody>
          <a:bodyPr wrap="square" lIns="0" tIns="0" rIns="0" bIns="0" rtlCol="0" anchor="t"/>
          <a:lstStyle/>
          <a:p>
            <a:pPr indent="0" marL="0">
              <a:buNone/>
            </a:pPr>
            <a:r>
              <a:rPr lang="en-US" sz="1600" b="1" i="1" dirty="0">
                <a:solidFill>
                  <a:schemeClr val="accent1"/>
                </a:solidFill>
                <a:latin typeface="+mj-lt" pitchFamily="34" charset="0"/>
                <a:ea typeface="+mj-lt" pitchFamily="34" charset="-122"/>
                <a:cs typeface="+mj-lt" pitchFamily="34" charset="-120"/>
              </a:rPr>
              <a:t>Subsidy = Economic Cost − CIP</a:t>
            </a:r>
            <a:endParaRPr lang="en-US" sz="1600" dirty="0"/>
          </a:p>
        </p:txBody>
      </p:sp>
      <p:sp>
        <p:nvSpPr>
          <p:cNvPr id="12" name="Problem detail 1"/>
          <p:cNvSpPr/>
          <p:nvPr/>
        </p:nvSpPr>
        <p:spPr>
          <a:xfrm>
            <a:off x="4983480" y="1600200"/>
            <a:ext cx="6537960" cy="1463040"/>
          </a:xfrm>
          <a:prstGeom prst="roundRect">
            <a:avLst>
              <a:gd name="adj" fmla="val 5000"/>
            </a:avLst>
          </a:prstGeom>
          <a:solidFill>
            <a:srgbClr val="FFFFFF"/>
          </a:solidFill>
          <a:ln/>
        </p:spPr>
      </p:sp>
      <p:sp>
        <p:nvSpPr>
          <p:cNvPr id="13" name="Problem number 1"/>
          <p:cNvSpPr/>
          <p:nvPr/>
        </p:nvSpPr>
        <p:spPr>
          <a:xfrm>
            <a:off x="5212080" y="1828800"/>
            <a:ext cx="502920" cy="502920"/>
          </a:xfrm>
          <a:prstGeom prst="ellipse">
            <a:avLst/>
          </a:prstGeom>
          <a:solidFill>
            <a:schemeClr val="accent3"/>
          </a:solidFill>
          <a:ln/>
        </p:spPr>
      </p:sp>
      <p:sp>
        <p:nvSpPr>
          <p:cNvPr id="14" name="Text 12"/>
          <p:cNvSpPr txBox="1"/>
          <p:nvPr/>
        </p:nvSpPr>
        <p:spPr>
          <a:xfrm>
            <a:off x="521208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1</a:t>
            </a:r>
            <a:endParaRPr lang="en-US" sz="1800" dirty="0"/>
          </a:p>
        </p:txBody>
      </p:sp>
      <p:sp>
        <p:nvSpPr>
          <p:cNvPr id="15" name="Text 13"/>
          <p:cNvSpPr txBox="1"/>
          <p:nvPr/>
        </p:nvSpPr>
        <p:spPr>
          <a:xfrm>
            <a:off x="5943600" y="1764792"/>
            <a:ext cx="5394960" cy="320040"/>
          </a:xfrm>
          <a:prstGeom prst="rect">
            <a:avLst/>
          </a:prstGeom>
          <a:noFill/>
          <a:ln/>
        </p:spPr>
        <p:txBody>
          <a:bodyPr wrap="square" lIns="0" tIns="0" rIns="0" bIns="0" rtlCol="0" anchor="t"/>
          <a:lstStyle/>
          <a:p>
            <a:pPr indent="0" marL="0">
              <a:buNone/>
            </a:pPr>
            <a:r>
              <a:rPr lang="en-US" sz="1600" b="1" dirty="0">
                <a:solidFill>
                  <a:schemeClr val="accent3"/>
                </a:solidFill>
                <a:latin typeface="+mj-lt" pitchFamily="34" charset="0"/>
                <a:ea typeface="+mj-lt" pitchFamily="34" charset="-122"/>
                <a:cs typeface="+mj-lt" pitchFamily="34" charset="-120"/>
              </a:rPr>
              <a:t>Why it needs investigation</a:t>
            </a:r>
            <a:endParaRPr lang="en-US" sz="1600" dirty="0"/>
          </a:p>
        </p:txBody>
      </p:sp>
      <p:sp>
        <p:nvSpPr>
          <p:cNvPr id="16" name="Text 14"/>
          <p:cNvSpPr txBox="1"/>
          <p:nvPr/>
        </p:nvSpPr>
        <p:spPr>
          <a:xfrm>
            <a:off x="5943600" y="2130552"/>
            <a:ext cx="5394960" cy="868680"/>
          </a:xfrm>
          <a:prstGeom prst="rect">
            <a:avLst/>
          </a:prstGeom>
          <a:noFill/>
          <a:ln/>
        </p:spPr>
        <p:txBody>
          <a:bodyPr wrap="square" lIns="0" tIns="0" rIns="0" bIns="0" rtlCol="0" anchor="t"/>
          <a:lstStyle/>
          <a:p>
            <a:pPr indent="0" marL="0">
              <a:buNone/>
            </a:pPr>
            <a:r>
              <a:rPr lang="en-US" sz="1400" dirty="0">
                <a:solidFill>
                  <a:schemeClr val="tx1"/>
                </a:solidFill>
              </a:rPr>
              <a:t>With CIP at ₹0 since January 2023, every rupee of procurement, distribution and carrying cost falls on the Government.</a:t>
            </a:r>
            <a:endParaRPr lang="en-US" sz="1400" dirty="0"/>
          </a:p>
        </p:txBody>
      </p:sp>
      <p:sp>
        <p:nvSpPr>
          <p:cNvPr id="17" name="Problem detail 2"/>
          <p:cNvSpPr/>
          <p:nvPr/>
        </p:nvSpPr>
        <p:spPr>
          <a:xfrm>
            <a:off x="4983480" y="3200400"/>
            <a:ext cx="6537960" cy="1463040"/>
          </a:xfrm>
          <a:prstGeom prst="roundRect">
            <a:avLst>
              <a:gd name="adj" fmla="val 5000"/>
            </a:avLst>
          </a:prstGeom>
          <a:solidFill>
            <a:srgbClr val="FFFFFF"/>
          </a:solidFill>
          <a:ln/>
        </p:spPr>
      </p:sp>
      <p:sp>
        <p:nvSpPr>
          <p:cNvPr id="18" name="Problem number 2"/>
          <p:cNvSpPr/>
          <p:nvPr/>
        </p:nvSpPr>
        <p:spPr>
          <a:xfrm>
            <a:off x="5212080" y="3429000"/>
            <a:ext cx="502920" cy="502920"/>
          </a:xfrm>
          <a:prstGeom prst="ellipse">
            <a:avLst/>
          </a:prstGeom>
          <a:solidFill>
            <a:schemeClr val="accent3"/>
          </a:solidFill>
          <a:ln/>
        </p:spPr>
      </p:sp>
      <p:sp>
        <p:nvSpPr>
          <p:cNvPr id="19" name="Text 17"/>
          <p:cNvSpPr txBox="1"/>
          <p:nvPr/>
        </p:nvSpPr>
        <p:spPr>
          <a:xfrm>
            <a:off x="5212080" y="3429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2</a:t>
            </a:r>
            <a:endParaRPr lang="en-US" sz="1800" dirty="0"/>
          </a:p>
        </p:txBody>
      </p:sp>
      <p:sp>
        <p:nvSpPr>
          <p:cNvPr id="20" name="Text 18"/>
          <p:cNvSpPr txBox="1"/>
          <p:nvPr/>
        </p:nvSpPr>
        <p:spPr>
          <a:xfrm>
            <a:off x="5943600" y="3364992"/>
            <a:ext cx="5394960" cy="320040"/>
          </a:xfrm>
          <a:prstGeom prst="rect">
            <a:avLst/>
          </a:prstGeom>
          <a:noFill/>
          <a:ln/>
        </p:spPr>
        <p:txBody>
          <a:bodyPr wrap="square" lIns="0" tIns="0" rIns="0" bIns="0" rtlCol="0" anchor="t"/>
          <a:lstStyle/>
          <a:p>
            <a:pPr indent="0" marL="0">
              <a:buNone/>
            </a:pPr>
            <a:r>
              <a:rPr lang="en-US" sz="1600" b="1" dirty="0">
                <a:solidFill>
                  <a:schemeClr val="accent3"/>
                </a:solidFill>
                <a:latin typeface="+mj-lt" pitchFamily="34" charset="0"/>
                <a:ea typeface="+mj-lt" pitchFamily="34" charset="-122"/>
                <a:cs typeface="+mj-lt" pitchFamily="34" charset="-120"/>
              </a:rPr>
              <a:t>Limits of existing approaches</a:t>
            </a:r>
            <a:endParaRPr lang="en-US" sz="1600" dirty="0"/>
          </a:p>
        </p:txBody>
      </p:sp>
      <p:sp>
        <p:nvSpPr>
          <p:cNvPr id="21" name="Text 19"/>
          <p:cNvSpPr txBox="1"/>
          <p:nvPr/>
        </p:nvSpPr>
        <p:spPr>
          <a:xfrm>
            <a:off x="5943600" y="3730752"/>
            <a:ext cx="5394960" cy="868680"/>
          </a:xfrm>
          <a:prstGeom prst="rect">
            <a:avLst/>
          </a:prstGeom>
          <a:noFill/>
          <a:ln/>
        </p:spPr>
        <p:txBody>
          <a:bodyPr wrap="square" lIns="0" tIns="0" rIns="0" bIns="0" rtlCol="0" anchor="t"/>
          <a:lstStyle/>
          <a:p>
            <a:pPr indent="0" marL="0">
              <a:buNone/>
            </a:pPr>
            <a:r>
              <a:rPr lang="en-US" sz="1400" dirty="0">
                <a:solidFill>
                  <a:schemeClr val="tx1"/>
                </a:solidFill>
              </a:rPr>
              <a:t>Studies are mostly pre-2020 and aggregate. Few give component-wise trends, and FCI's published subsidy rate does not reconcile with its own cost data.</a:t>
            </a:r>
            <a:endParaRPr lang="en-US" sz="1400" dirty="0"/>
          </a:p>
        </p:txBody>
      </p:sp>
      <p:sp>
        <p:nvSpPr>
          <p:cNvPr id="22" name="Problem detail 3"/>
          <p:cNvSpPr/>
          <p:nvPr/>
        </p:nvSpPr>
        <p:spPr>
          <a:xfrm>
            <a:off x="4983480" y="4800600"/>
            <a:ext cx="6537960" cy="1463040"/>
          </a:xfrm>
          <a:prstGeom prst="roundRect">
            <a:avLst>
              <a:gd name="adj" fmla="val 5000"/>
            </a:avLst>
          </a:prstGeom>
          <a:solidFill>
            <a:srgbClr val="FFFFFF"/>
          </a:solidFill>
          <a:ln/>
        </p:spPr>
      </p:sp>
      <p:sp>
        <p:nvSpPr>
          <p:cNvPr id="23" name="Problem number 3"/>
          <p:cNvSpPr/>
          <p:nvPr/>
        </p:nvSpPr>
        <p:spPr>
          <a:xfrm>
            <a:off x="5212080" y="5029200"/>
            <a:ext cx="502920" cy="502920"/>
          </a:xfrm>
          <a:prstGeom prst="ellipse">
            <a:avLst/>
          </a:prstGeom>
          <a:solidFill>
            <a:schemeClr val="accent3"/>
          </a:solidFill>
          <a:ln/>
        </p:spPr>
      </p:sp>
      <p:sp>
        <p:nvSpPr>
          <p:cNvPr id="24" name="Text 22"/>
          <p:cNvSpPr txBox="1"/>
          <p:nvPr/>
        </p:nvSpPr>
        <p:spPr>
          <a:xfrm>
            <a:off x="5212080" y="5029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3</a:t>
            </a:r>
            <a:endParaRPr lang="en-US" sz="1800" dirty="0"/>
          </a:p>
        </p:txBody>
      </p:sp>
      <p:sp>
        <p:nvSpPr>
          <p:cNvPr id="25" name="Text 23"/>
          <p:cNvSpPr txBox="1"/>
          <p:nvPr/>
        </p:nvSpPr>
        <p:spPr>
          <a:xfrm>
            <a:off x="5943600" y="4965192"/>
            <a:ext cx="5394960" cy="320040"/>
          </a:xfrm>
          <a:prstGeom prst="rect">
            <a:avLst/>
          </a:prstGeom>
          <a:noFill/>
          <a:ln/>
        </p:spPr>
        <p:txBody>
          <a:bodyPr wrap="square" lIns="0" tIns="0" rIns="0" bIns="0" rtlCol="0" anchor="t"/>
          <a:lstStyle/>
          <a:p>
            <a:pPr indent="0" marL="0">
              <a:buNone/>
            </a:pPr>
            <a:r>
              <a:rPr lang="en-US" sz="1600" b="1" dirty="0">
                <a:solidFill>
                  <a:schemeClr val="accent3"/>
                </a:solidFill>
                <a:latin typeface="+mj-lt" pitchFamily="34" charset="0"/>
                <a:ea typeface="+mj-lt" pitchFamily="34" charset="-122"/>
                <a:cs typeface="+mj-lt" pitchFamily="34" charset="-120"/>
              </a:rPr>
              <a:t>Expected contribution</a:t>
            </a:r>
            <a:endParaRPr lang="en-US" sz="1600" dirty="0"/>
          </a:p>
        </p:txBody>
      </p:sp>
      <p:sp>
        <p:nvSpPr>
          <p:cNvPr id="26" name="Text 24"/>
          <p:cNvSpPr txBox="1"/>
          <p:nvPr/>
        </p:nvSpPr>
        <p:spPr>
          <a:xfrm>
            <a:off x="5943600" y="5330952"/>
            <a:ext cx="5394960" cy="868680"/>
          </a:xfrm>
          <a:prstGeom prst="rect">
            <a:avLst/>
          </a:prstGeom>
          <a:noFill/>
          <a:ln/>
        </p:spPr>
        <p:txBody>
          <a:bodyPr wrap="square" lIns="0" tIns="0" rIns="0" bIns="0" rtlCol="0" anchor="t"/>
          <a:lstStyle/>
          <a:p>
            <a:pPr indent="0" marL="0">
              <a:buNone/>
            </a:pPr>
            <a:r>
              <a:rPr lang="en-US" sz="1400" dirty="0">
                <a:solidFill>
                  <a:schemeClr val="tx1"/>
                </a:solidFill>
              </a:rPr>
              <a:t>A five-year component-level trend analysis (YoY and CAGR) for wheat and rice, a data-quality finding, and five evidence-based recommendations.</a:t>
            </a:r>
            <a:endParaRPr lang="en-US" sz="14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Aim and Objectives</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One aim, five measurable objectives, each answering the problem statement</a:t>
            </a:r>
            <a:endParaRPr lang="en-US" sz="1600" dirty="0"/>
          </a:p>
        </p:txBody>
      </p:sp>
      <p:sp>
        <p:nvSpPr>
          <p:cNvPr id="4" name="!!Chip1"/>
          <p:cNvSpPr/>
          <p:nvPr/>
        </p:nvSpPr>
        <p:spPr>
          <a:xfrm>
            <a:off x="10241280" y="384048"/>
            <a:ext cx="411480" cy="411480"/>
          </a:xfrm>
          <a:prstGeom prst="rect">
            <a:avLst/>
          </a:prstGeom>
          <a:solidFill>
            <a:srgbClr val="DD4027"/>
          </a:solidFill>
          <a:ln/>
        </p:spPr>
      </p:sp>
      <p:sp>
        <p:nvSpPr>
          <p:cNvPr id="5" name="!!Chip2"/>
          <p:cNvSpPr/>
          <p:nvPr/>
        </p:nvSpPr>
        <p:spPr>
          <a:xfrm>
            <a:off x="10698480" y="384048"/>
            <a:ext cx="411480" cy="411480"/>
          </a:xfrm>
          <a:prstGeom prst="rect">
            <a:avLst/>
          </a:prstGeom>
          <a:solidFill>
            <a:srgbClr val="F3A257"/>
          </a:solidFill>
          <a:ln/>
        </p:spPr>
      </p:sp>
      <p:sp>
        <p:nvSpPr>
          <p:cNvPr id="6" name="!!Chip3"/>
          <p:cNvSpPr/>
          <p:nvPr/>
        </p:nvSpPr>
        <p:spPr>
          <a:xfrm>
            <a:off x="11155680" y="384048"/>
            <a:ext cx="411480" cy="411480"/>
          </a:xfrm>
          <a:prstGeom prst="rect">
            <a:avLst/>
          </a:prstGeom>
          <a:solidFill>
            <a:srgbClr val="1C4286"/>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179</a:t>
            </a:r>
            <a:endParaRPr lang="en-US" sz="1000" dirty="0"/>
          </a:p>
        </p:txBody>
      </p:sp>
      <p:sp>
        <p:nvSpPr>
          <p:cNvPr id="8" name="Aim banner"/>
          <p:cNvSpPr/>
          <p:nvPr/>
        </p:nvSpPr>
        <p:spPr>
          <a:xfrm>
            <a:off x="548640" y="1600200"/>
            <a:ext cx="10972800" cy="960120"/>
          </a:xfrm>
          <a:prstGeom prst="roundRect">
            <a:avLst>
              <a:gd name="adj" fmla="val 7619"/>
            </a:avLst>
          </a:prstGeom>
          <a:solidFill>
            <a:schemeClr val="accent2"/>
          </a:solidFill>
          <a:ln/>
        </p:spPr>
      </p:sp>
      <p:sp>
        <p:nvSpPr>
          <p:cNvPr id="9" name="Text 7"/>
          <p:cNvSpPr txBox="1"/>
          <p:nvPr/>
        </p:nvSpPr>
        <p:spPr>
          <a:xfrm>
            <a:off x="777240" y="1600200"/>
            <a:ext cx="10515600" cy="960120"/>
          </a:xfrm>
          <a:prstGeom prst="rect">
            <a:avLst/>
          </a:prstGeom>
          <a:noFill/>
          <a:ln/>
        </p:spPr>
        <p:txBody>
          <a:bodyPr wrap="square" lIns="0" tIns="0" rIns="0" bIns="0" rtlCol="0" anchor="ctr"/>
          <a:lstStyle/>
          <a:p>
            <a:pPr indent="0" marL="0">
              <a:buNone/>
            </a:pPr>
            <a:r>
              <a:rPr lang="en-US" sz="1700" b="1" dirty="0">
                <a:solidFill>
                  <a:schemeClr val="accent1"/>
                </a:solidFill>
              </a:rPr>
              <a:t>AIM  </a:t>
            </a:r>
            <a:pPr indent="0" marL="0">
              <a:buNone/>
            </a:pPr>
            <a:r>
              <a:rPr lang="en-US" sz="1700" dirty="0">
                <a:solidFill>
                  <a:srgbClr val="FFFFFF"/>
                </a:solidFill>
              </a:rPr>
              <a:t>To analyse the economic cost components of food grain management at FCI over 2020-21 to 2024-25 and identify which components create the most cost and subsidy pressure.</a:t>
            </a:r>
            <a:endParaRPr lang="en-US" sz="1700" dirty="0"/>
          </a:p>
        </p:txBody>
      </p:sp>
      <p:sp>
        <p:nvSpPr>
          <p:cNvPr id="10" name="Objective card 1"/>
          <p:cNvSpPr/>
          <p:nvPr/>
        </p:nvSpPr>
        <p:spPr>
          <a:xfrm>
            <a:off x="548640" y="2788920"/>
            <a:ext cx="2084832" cy="3474720"/>
          </a:xfrm>
          <a:prstGeom prst="roundRect">
            <a:avLst>
              <a:gd name="adj" fmla="val 3509"/>
            </a:avLst>
          </a:prstGeom>
          <a:solidFill>
            <a:srgbClr val="FFFFFF"/>
          </a:solidFill>
          <a:ln/>
        </p:spPr>
      </p:sp>
      <p:sp>
        <p:nvSpPr>
          <p:cNvPr id="11" name="Objective number 1"/>
          <p:cNvSpPr/>
          <p:nvPr/>
        </p:nvSpPr>
        <p:spPr>
          <a:xfrm>
            <a:off x="731520" y="2971800"/>
            <a:ext cx="594360" cy="594360"/>
          </a:xfrm>
          <a:prstGeom prst="ellipse">
            <a:avLst/>
          </a:prstGeom>
          <a:solidFill>
            <a:schemeClr val="accent1"/>
          </a:solidFill>
          <a:ln/>
        </p:spPr>
      </p:sp>
      <p:sp>
        <p:nvSpPr>
          <p:cNvPr id="12" name="Text 10"/>
          <p:cNvSpPr txBox="1"/>
          <p:nvPr/>
        </p:nvSpPr>
        <p:spPr>
          <a:xfrm>
            <a:off x="731520" y="2971800"/>
            <a:ext cx="594360" cy="594360"/>
          </a:xfrm>
          <a:prstGeom prst="rect">
            <a:avLst/>
          </a:prstGeom>
          <a:noFill/>
          <a:ln/>
        </p:spPr>
        <p:txBody>
          <a:bodyPr wrap="square" lIns="0" tIns="0" rIns="0" bIns="0" rtlCol="0" anchor="ctr"/>
          <a:lstStyle/>
          <a:p>
            <a:pPr algn="ctr" indent="0" marL="0">
              <a:buNone/>
            </a:pPr>
            <a:r>
              <a:rPr lang="en-US" sz="2200" b="1" dirty="0">
                <a:solidFill>
                  <a:srgbClr val="051230"/>
                </a:solidFill>
                <a:latin typeface="+mj-lt" pitchFamily="34" charset="0"/>
                <a:ea typeface="+mj-lt" pitchFamily="34" charset="-122"/>
                <a:cs typeface="+mj-lt" pitchFamily="34" charset="-120"/>
              </a:rPr>
              <a:t>1</a:t>
            </a:r>
            <a:endParaRPr lang="en-US" sz="2200" dirty="0"/>
          </a:p>
        </p:txBody>
      </p:sp>
      <p:sp>
        <p:nvSpPr>
          <p:cNvPr id="13" name="Text 11"/>
          <p:cNvSpPr txBox="1"/>
          <p:nvPr/>
        </p:nvSpPr>
        <p:spPr>
          <a:xfrm>
            <a:off x="731520" y="3703320"/>
            <a:ext cx="1737360" cy="548640"/>
          </a:xfrm>
          <a:prstGeom prst="rect">
            <a:avLst/>
          </a:prstGeom>
          <a:noFill/>
          <a:ln/>
        </p:spPr>
        <p:txBody>
          <a:bodyPr wrap="square" lIns="0" tIns="0" rIns="0" bIns="0" rtlCol="0" anchor="t"/>
          <a:lstStyle/>
          <a:p>
            <a:pPr indent="0" marL="0">
              <a:buNone/>
            </a:pPr>
            <a:r>
              <a:rPr lang="en-US" sz="1500" b="1" dirty="0">
                <a:solidFill>
                  <a:srgbClr val="051230"/>
                </a:solidFill>
                <a:latin typeface="+mj-lt" pitchFamily="34" charset="0"/>
                <a:ea typeface="+mj-lt" pitchFamily="34" charset="-122"/>
                <a:cs typeface="+mj-lt" pitchFamily="34" charset="-120"/>
              </a:rPr>
              <a:t>Cost trends</a:t>
            </a:r>
            <a:endParaRPr lang="en-US" sz="1500" dirty="0"/>
          </a:p>
        </p:txBody>
      </p:sp>
      <p:sp>
        <p:nvSpPr>
          <p:cNvPr id="14" name="Text 12"/>
          <p:cNvSpPr txBox="1"/>
          <p:nvPr/>
        </p:nvSpPr>
        <p:spPr>
          <a:xfrm>
            <a:off x="731520" y="4251960"/>
            <a:ext cx="1737360" cy="1371600"/>
          </a:xfrm>
          <a:prstGeom prst="rect">
            <a:avLst/>
          </a:prstGeom>
          <a:noFill/>
          <a:ln/>
        </p:spPr>
        <p:txBody>
          <a:bodyPr wrap="square" lIns="0" tIns="0" rIns="0" bIns="0" rtlCol="0" anchor="t"/>
          <a:lstStyle/>
          <a:p>
            <a:pPr indent="0" marL="0">
              <a:buNone/>
            </a:pPr>
            <a:r>
              <a:rPr lang="en-US" sz="1300" dirty="0">
                <a:solidFill>
                  <a:schemeClr val="tx1"/>
                </a:solidFill>
              </a:rPr>
              <a:t>Track distribution and buffer carrying cost per quintal; compare wheat and rice economic cost.</a:t>
            </a:r>
            <a:endParaRPr lang="en-US" sz="1300" dirty="0"/>
          </a:p>
        </p:txBody>
      </p:sp>
      <p:sp>
        <p:nvSpPr>
          <p:cNvPr id="15" name="Text 13"/>
          <p:cNvSpPr txBox="1"/>
          <p:nvPr/>
        </p:nvSpPr>
        <p:spPr>
          <a:xfrm>
            <a:off x="731520" y="5577840"/>
            <a:ext cx="1737360" cy="594360"/>
          </a:xfrm>
          <a:prstGeom prst="rect">
            <a:avLst/>
          </a:prstGeom>
          <a:noFill/>
          <a:ln/>
        </p:spPr>
        <p:txBody>
          <a:bodyPr wrap="square" lIns="0" tIns="0" rIns="0" bIns="0" rtlCol="0" anchor="t"/>
          <a:lstStyle/>
          <a:p>
            <a:pPr indent="0" marL="0">
              <a:buNone/>
            </a:pPr>
            <a:r>
              <a:rPr lang="en-US" sz="1200" b="1" i="1" dirty="0">
                <a:solidFill>
                  <a:schemeClr val="tx2"/>
                </a:solidFill>
              </a:rPr>
              <a:t>Measured by: </a:t>
            </a:r>
            <a:pPr indent="0" marL="0">
              <a:buNone/>
            </a:pPr>
            <a:r>
              <a:rPr lang="en-US" sz="1200" i="1" dirty="0">
                <a:solidFill>
                  <a:schemeClr val="tx2"/>
                </a:solidFill>
              </a:rPr>
              <a:t>YoY %, ₹/qtl gap</a:t>
            </a:r>
            <a:endParaRPr lang="en-US" sz="1200" dirty="0"/>
          </a:p>
        </p:txBody>
      </p:sp>
      <p:sp>
        <p:nvSpPr>
          <p:cNvPr id="16" name="Objective card 2"/>
          <p:cNvSpPr/>
          <p:nvPr/>
        </p:nvSpPr>
        <p:spPr>
          <a:xfrm>
            <a:off x="2770632" y="2788920"/>
            <a:ext cx="2084832" cy="3474720"/>
          </a:xfrm>
          <a:prstGeom prst="roundRect">
            <a:avLst>
              <a:gd name="adj" fmla="val 3509"/>
            </a:avLst>
          </a:prstGeom>
          <a:solidFill>
            <a:srgbClr val="FFFFFF"/>
          </a:solidFill>
          <a:ln/>
        </p:spPr>
      </p:sp>
      <p:sp>
        <p:nvSpPr>
          <p:cNvPr id="17" name="Objective number 2"/>
          <p:cNvSpPr/>
          <p:nvPr/>
        </p:nvSpPr>
        <p:spPr>
          <a:xfrm>
            <a:off x="2953512" y="2971800"/>
            <a:ext cx="594360" cy="594360"/>
          </a:xfrm>
          <a:prstGeom prst="ellipse">
            <a:avLst/>
          </a:prstGeom>
          <a:solidFill>
            <a:schemeClr val="accent2"/>
          </a:solidFill>
          <a:ln/>
        </p:spPr>
      </p:sp>
      <p:sp>
        <p:nvSpPr>
          <p:cNvPr id="18" name="Text 16"/>
          <p:cNvSpPr txBox="1"/>
          <p:nvPr/>
        </p:nvSpPr>
        <p:spPr>
          <a:xfrm>
            <a:off x="2953512" y="29718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mj-lt" pitchFamily="34" charset="0"/>
                <a:ea typeface="+mj-lt" pitchFamily="34" charset="-122"/>
                <a:cs typeface="+mj-lt" pitchFamily="34" charset="-120"/>
              </a:rPr>
              <a:t>2</a:t>
            </a:r>
            <a:endParaRPr lang="en-US" sz="2200" dirty="0"/>
          </a:p>
        </p:txBody>
      </p:sp>
      <p:sp>
        <p:nvSpPr>
          <p:cNvPr id="19" name="Text 17"/>
          <p:cNvSpPr txBox="1"/>
          <p:nvPr/>
        </p:nvSpPr>
        <p:spPr>
          <a:xfrm>
            <a:off x="2953512" y="3703320"/>
            <a:ext cx="1737360" cy="548640"/>
          </a:xfrm>
          <a:prstGeom prst="rect">
            <a:avLst/>
          </a:prstGeom>
          <a:noFill/>
          <a:ln/>
        </p:spPr>
        <p:txBody>
          <a:bodyPr wrap="square" lIns="0" tIns="0" rIns="0" bIns="0" rtlCol="0" anchor="t"/>
          <a:lstStyle/>
          <a:p>
            <a:pPr indent="0" marL="0">
              <a:buNone/>
            </a:pPr>
            <a:r>
              <a:rPr lang="en-US" sz="1500" b="1" dirty="0">
                <a:solidFill>
                  <a:srgbClr val="051230"/>
                </a:solidFill>
                <a:latin typeface="+mj-lt" pitchFamily="34" charset="0"/>
                <a:ea typeface="+mj-lt" pitchFamily="34" charset="-122"/>
                <a:cs typeface="+mj-lt" pitchFamily="34" charset="-120"/>
              </a:rPr>
              <a:t>Subsidy vs CIP</a:t>
            </a:r>
            <a:endParaRPr lang="en-US" sz="1500" dirty="0"/>
          </a:p>
        </p:txBody>
      </p:sp>
      <p:sp>
        <p:nvSpPr>
          <p:cNvPr id="20" name="Text 18"/>
          <p:cNvSpPr txBox="1"/>
          <p:nvPr/>
        </p:nvSpPr>
        <p:spPr>
          <a:xfrm>
            <a:off x="2953512" y="4251960"/>
            <a:ext cx="1737360" cy="1371600"/>
          </a:xfrm>
          <a:prstGeom prst="rect">
            <a:avLst/>
          </a:prstGeom>
          <a:noFill/>
          <a:ln/>
        </p:spPr>
        <p:txBody>
          <a:bodyPr wrap="square" lIns="0" tIns="0" rIns="0" bIns="0" rtlCol="0" anchor="t"/>
          <a:lstStyle/>
          <a:p>
            <a:pPr indent="0" marL="0">
              <a:buNone/>
            </a:pPr>
            <a:r>
              <a:rPr lang="en-US" sz="1300" dirty="0">
                <a:solidFill>
                  <a:schemeClr val="tx1"/>
                </a:solidFill>
              </a:rPr>
              <a:t>Assess the consumer subsidy rate against CIP and Total Economic Cost.</a:t>
            </a:r>
            <a:endParaRPr lang="en-US" sz="1300" dirty="0"/>
          </a:p>
        </p:txBody>
      </p:sp>
      <p:sp>
        <p:nvSpPr>
          <p:cNvPr id="21" name="Text 19"/>
          <p:cNvSpPr txBox="1"/>
          <p:nvPr/>
        </p:nvSpPr>
        <p:spPr>
          <a:xfrm>
            <a:off x="2953512" y="5577840"/>
            <a:ext cx="1737360" cy="594360"/>
          </a:xfrm>
          <a:prstGeom prst="rect">
            <a:avLst/>
          </a:prstGeom>
          <a:noFill/>
          <a:ln/>
        </p:spPr>
        <p:txBody>
          <a:bodyPr wrap="square" lIns="0" tIns="0" rIns="0" bIns="0" rtlCol="0" anchor="t"/>
          <a:lstStyle/>
          <a:p>
            <a:pPr indent="0" marL="0">
              <a:buNone/>
            </a:pPr>
            <a:r>
              <a:rPr lang="en-US" sz="1200" b="1" i="1" dirty="0">
                <a:solidFill>
                  <a:schemeClr val="tx2"/>
                </a:solidFill>
              </a:rPr>
              <a:t>Measured by: </a:t>
            </a:r>
            <a:pPr indent="0" marL="0">
              <a:buNone/>
            </a:pPr>
            <a:r>
              <a:rPr lang="en-US" sz="1200" i="1" dirty="0">
                <a:solidFill>
                  <a:schemeClr val="tx2"/>
                </a:solidFill>
              </a:rPr>
              <a:t>Published vs modelled gap</a:t>
            </a:r>
            <a:endParaRPr lang="en-US" sz="1200" dirty="0"/>
          </a:p>
        </p:txBody>
      </p:sp>
      <p:sp>
        <p:nvSpPr>
          <p:cNvPr id="22" name="Objective card 3"/>
          <p:cNvSpPr/>
          <p:nvPr/>
        </p:nvSpPr>
        <p:spPr>
          <a:xfrm>
            <a:off x="4992624" y="2788920"/>
            <a:ext cx="2084832" cy="3474720"/>
          </a:xfrm>
          <a:prstGeom prst="roundRect">
            <a:avLst>
              <a:gd name="adj" fmla="val 3509"/>
            </a:avLst>
          </a:prstGeom>
          <a:solidFill>
            <a:srgbClr val="FFFFFF"/>
          </a:solidFill>
          <a:ln/>
        </p:spPr>
      </p:sp>
      <p:sp>
        <p:nvSpPr>
          <p:cNvPr id="23" name="Objective number 3"/>
          <p:cNvSpPr/>
          <p:nvPr/>
        </p:nvSpPr>
        <p:spPr>
          <a:xfrm>
            <a:off x="5175504" y="2971800"/>
            <a:ext cx="594360" cy="594360"/>
          </a:xfrm>
          <a:prstGeom prst="ellipse">
            <a:avLst/>
          </a:prstGeom>
          <a:solidFill>
            <a:schemeClr val="accent4"/>
          </a:solidFill>
          <a:ln/>
        </p:spPr>
      </p:sp>
      <p:sp>
        <p:nvSpPr>
          <p:cNvPr id="24" name="Text 22"/>
          <p:cNvSpPr txBox="1"/>
          <p:nvPr/>
        </p:nvSpPr>
        <p:spPr>
          <a:xfrm>
            <a:off x="5175504" y="29718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mj-lt" pitchFamily="34" charset="0"/>
                <a:ea typeface="+mj-lt" pitchFamily="34" charset="-122"/>
                <a:cs typeface="+mj-lt" pitchFamily="34" charset="-120"/>
              </a:rPr>
              <a:t>3</a:t>
            </a:r>
            <a:endParaRPr lang="en-US" sz="2200" dirty="0"/>
          </a:p>
        </p:txBody>
      </p:sp>
      <p:sp>
        <p:nvSpPr>
          <p:cNvPr id="25" name="Text 23"/>
          <p:cNvSpPr txBox="1"/>
          <p:nvPr/>
        </p:nvSpPr>
        <p:spPr>
          <a:xfrm>
            <a:off x="5175504" y="3703320"/>
            <a:ext cx="1737360" cy="548640"/>
          </a:xfrm>
          <a:prstGeom prst="rect">
            <a:avLst/>
          </a:prstGeom>
          <a:noFill/>
          <a:ln/>
        </p:spPr>
        <p:txBody>
          <a:bodyPr wrap="square" lIns="0" tIns="0" rIns="0" bIns="0" rtlCol="0" anchor="t"/>
          <a:lstStyle/>
          <a:p>
            <a:pPr indent="0" marL="0">
              <a:buNone/>
            </a:pPr>
            <a:r>
              <a:rPr lang="en-US" sz="1500" b="1" dirty="0">
                <a:solidFill>
                  <a:srgbClr val="051230"/>
                </a:solidFill>
                <a:latin typeface="+mj-lt" pitchFamily="34" charset="0"/>
                <a:ea typeface="+mj-lt" pitchFamily="34" charset="-122"/>
                <a:cs typeface="+mj-lt" pitchFamily="34" charset="-120"/>
              </a:rPr>
              <a:t>Subsidy trend</a:t>
            </a:r>
            <a:endParaRPr lang="en-US" sz="1500" dirty="0"/>
          </a:p>
        </p:txBody>
      </p:sp>
      <p:sp>
        <p:nvSpPr>
          <p:cNvPr id="26" name="Text 24"/>
          <p:cNvSpPr txBox="1"/>
          <p:nvPr/>
        </p:nvSpPr>
        <p:spPr>
          <a:xfrm>
            <a:off x="5175504" y="4251960"/>
            <a:ext cx="1737360" cy="1371600"/>
          </a:xfrm>
          <a:prstGeom prst="rect">
            <a:avLst/>
          </a:prstGeom>
          <a:noFill/>
          <a:ln/>
        </p:spPr>
        <p:txBody>
          <a:bodyPr wrap="square" lIns="0" tIns="0" rIns="0" bIns="0" rtlCol="0" anchor="t"/>
          <a:lstStyle/>
          <a:p>
            <a:pPr indent="0" marL="0">
              <a:buNone/>
            </a:pPr>
            <a:r>
              <a:rPr lang="en-US" sz="1300" dirty="0">
                <a:solidFill>
                  <a:schemeClr val="tx1"/>
                </a:solidFill>
              </a:rPr>
              <a:t>Analyse Total Food Subsidy paid to FCI over the five years.</a:t>
            </a:r>
            <a:endParaRPr lang="en-US" sz="1300" dirty="0"/>
          </a:p>
        </p:txBody>
      </p:sp>
      <p:sp>
        <p:nvSpPr>
          <p:cNvPr id="27" name="Text 25"/>
          <p:cNvSpPr txBox="1"/>
          <p:nvPr/>
        </p:nvSpPr>
        <p:spPr>
          <a:xfrm>
            <a:off x="5175504" y="5577840"/>
            <a:ext cx="1737360" cy="594360"/>
          </a:xfrm>
          <a:prstGeom prst="rect">
            <a:avLst/>
          </a:prstGeom>
          <a:noFill/>
          <a:ln/>
        </p:spPr>
        <p:txBody>
          <a:bodyPr wrap="square" lIns="0" tIns="0" rIns="0" bIns="0" rtlCol="0" anchor="t"/>
          <a:lstStyle/>
          <a:p>
            <a:pPr indent="0" marL="0">
              <a:buNone/>
            </a:pPr>
            <a:r>
              <a:rPr lang="en-US" sz="1200" b="1" i="1" dirty="0">
                <a:solidFill>
                  <a:schemeClr val="tx2"/>
                </a:solidFill>
              </a:rPr>
              <a:t>Measured by: </a:t>
            </a:r>
            <a:pPr indent="0" marL="0">
              <a:buNone/>
            </a:pPr>
            <a:r>
              <a:rPr lang="en-US" sz="1200" i="1" dirty="0">
                <a:solidFill>
                  <a:schemeClr val="tx2"/>
                </a:solidFill>
              </a:rPr>
              <a:t>YoY %, CAGR</a:t>
            </a:r>
            <a:endParaRPr lang="en-US" sz="1200" dirty="0"/>
          </a:p>
        </p:txBody>
      </p:sp>
      <p:sp>
        <p:nvSpPr>
          <p:cNvPr id="28" name="Objective card 4"/>
          <p:cNvSpPr/>
          <p:nvPr/>
        </p:nvSpPr>
        <p:spPr>
          <a:xfrm>
            <a:off x="7214616" y="2788920"/>
            <a:ext cx="2084832" cy="3474720"/>
          </a:xfrm>
          <a:prstGeom prst="roundRect">
            <a:avLst>
              <a:gd name="adj" fmla="val 3509"/>
            </a:avLst>
          </a:prstGeom>
          <a:solidFill>
            <a:srgbClr val="FFFFFF"/>
          </a:solidFill>
          <a:ln/>
        </p:spPr>
      </p:sp>
      <p:sp>
        <p:nvSpPr>
          <p:cNvPr id="29" name="Objective number 4"/>
          <p:cNvSpPr/>
          <p:nvPr/>
        </p:nvSpPr>
        <p:spPr>
          <a:xfrm>
            <a:off x="7397496" y="2971800"/>
            <a:ext cx="594360" cy="594360"/>
          </a:xfrm>
          <a:prstGeom prst="ellipse">
            <a:avLst/>
          </a:prstGeom>
          <a:solidFill>
            <a:schemeClr val="accent5"/>
          </a:solidFill>
          <a:ln/>
        </p:spPr>
      </p:sp>
      <p:sp>
        <p:nvSpPr>
          <p:cNvPr id="30" name="Text 28"/>
          <p:cNvSpPr txBox="1"/>
          <p:nvPr/>
        </p:nvSpPr>
        <p:spPr>
          <a:xfrm>
            <a:off x="7397496" y="29718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mj-lt" pitchFamily="34" charset="0"/>
                <a:ea typeface="+mj-lt" pitchFamily="34" charset="-122"/>
                <a:cs typeface="+mj-lt" pitchFamily="34" charset="-120"/>
              </a:rPr>
              <a:t>4</a:t>
            </a:r>
            <a:endParaRPr lang="en-US" sz="2200" dirty="0"/>
          </a:p>
        </p:txBody>
      </p:sp>
      <p:sp>
        <p:nvSpPr>
          <p:cNvPr id="31" name="Text 29"/>
          <p:cNvSpPr txBox="1"/>
          <p:nvPr/>
        </p:nvSpPr>
        <p:spPr>
          <a:xfrm>
            <a:off x="7397496" y="3703320"/>
            <a:ext cx="1737360" cy="548640"/>
          </a:xfrm>
          <a:prstGeom prst="rect">
            <a:avLst/>
          </a:prstGeom>
          <a:noFill/>
          <a:ln/>
        </p:spPr>
        <p:txBody>
          <a:bodyPr wrap="square" lIns="0" tIns="0" rIns="0" bIns="0" rtlCol="0" anchor="t"/>
          <a:lstStyle/>
          <a:p>
            <a:pPr indent="0" marL="0">
              <a:buNone/>
            </a:pPr>
            <a:r>
              <a:rPr lang="en-US" sz="1500" b="1" dirty="0">
                <a:solidFill>
                  <a:srgbClr val="051230"/>
                </a:solidFill>
                <a:latin typeface="+mj-lt" pitchFamily="34" charset="0"/>
                <a:ea typeface="+mj-lt" pitchFamily="34" charset="-122"/>
                <a:cs typeface="+mj-lt" pitchFamily="34" charset="-120"/>
              </a:rPr>
              <a:t>Capacity and finance</a:t>
            </a:r>
            <a:endParaRPr lang="en-US" sz="1500" dirty="0"/>
          </a:p>
        </p:txBody>
      </p:sp>
      <p:sp>
        <p:nvSpPr>
          <p:cNvPr id="32" name="Text 30"/>
          <p:cNvSpPr txBox="1"/>
          <p:nvPr/>
        </p:nvSpPr>
        <p:spPr>
          <a:xfrm>
            <a:off x="7397496" y="4251960"/>
            <a:ext cx="1737360" cy="1371600"/>
          </a:xfrm>
          <a:prstGeom prst="rect">
            <a:avLst/>
          </a:prstGeom>
          <a:noFill/>
          <a:ln/>
        </p:spPr>
        <p:txBody>
          <a:bodyPr wrap="square" lIns="0" tIns="0" rIns="0" bIns="0" rtlCol="0" anchor="t"/>
          <a:lstStyle/>
          <a:p>
            <a:pPr indent="0" marL="0">
              <a:buNone/>
            </a:pPr>
            <a:r>
              <a:rPr lang="en-US" sz="1300" dirty="0">
                <a:solidFill>
                  <a:schemeClr val="tx1"/>
                </a:solidFill>
              </a:rPr>
              <a:t>Examine storage utilisation, procurement volumes and key financial indicators.</a:t>
            </a:r>
            <a:endParaRPr lang="en-US" sz="1300" dirty="0"/>
          </a:p>
        </p:txBody>
      </p:sp>
      <p:sp>
        <p:nvSpPr>
          <p:cNvPr id="33" name="Text 31"/>
          <p:cNvSpPr txBox="1"/>
          <p:nvPr/>
        </p:nvSpPr>
        <p:spPr>
          <a:xfrm>
            <a:off x="7397496" y="5577840"/>
            <a:ext cx="1737360" cy="594360"/>
          </a:xfrm>
          <a:prstGeom prst="rect">
            <a:avLst/>
          </a:prstGeom>
          <a:noFill/>
          <a:ln/>
        </p:spPr>
        <p:txBody>
          <a:bodyPr wrap="square" lIns="0" tIns="0" rIns="0" bIns="0" rtlCol="0" anchor="t"/>
          <a:lstStyle/>
          <a:p>
            <a:pPr indent="0" marL="0">
              <a:buNone/>
            </a:pPr>
            <a:r>
              <a:rPr lang="en-US" sz="1200" b="1" i="1" dirty="0">
                <a:solidFill>
                  <a:schemeClr val="tx2"/>
                </a:solidFill>
              </a:rPr>
              <a:t>Measured by: </a:t>
            </a:r>
            <a:pPr indent="0" marL="0">
              <a:buNone/>
            </a:pPr>
            <a:r>
              <a:rPr lang="en-US" sz="1200" i="1" dirty="0">
                <a:solidFill>
                  <a:schemeClr val="tx2"/>
                </a:solidFill>
              </a:rPr>
              <a:t>Utilisation %, net worth</a:t>
            </a:r>
            <a:endParaRPr lang="en-US" sz="1200" dirty="0"/>
          </a:p>
        </p:txBody>
      </p:sp>
      <p:sp>
        <p:nvSpPr>
          <p:cNvPr id="34" name="Objective card 5"/>
          <p:cNvSpPr/>
          <p:nvPr/>
        </p:nvSpPr>
        <p:spPr>
          <a:xfrm>
            <a:off x="9436608" y="2788920"/>
            <a:ext cx="2084832" cy="3474720"/>
          </a:xfrm>
          <a:prstGeom prst="roundRect">
            <a:avLst>
              <a:gd name="adj" fmla="val 3509"/>
            </a:avLst>
          </a:prstGeom>
          <a:solidFill>
            <a:srgbClr val="FFFFFF"/>
          </a:solidFill>
          <a:ln/>
        </p:spPr>
      </p:sp>
      <p:sp>
        <p:nvSpPr>
          <p:cNvPr id="35" name="Objective number 5"/>
          <p:cNvSpPr/>
          <p:nvPr/>
        </p:nvSpPr>
        <p:spPr>
          <a:xfrm>
            <a:off x="9619488" y="2971800"/>
            <a:ext cx="594360" cy="594360"/>
          </a:xfrm>
          <a:prstGeom prst="ellipse">
            <a:avLst/>
          </a:prstGeom>
          <a:solidFill>
            <a:schemeClr val="accent3"/>
          </a:solidFill>
          <a:ln/>
        </p:spPr>
      </p:sp>
      <p:sp>
        <p:nvSpPr>
          <p:cNvPr id="36" name="Text 34"/>
          <p:cNvSpPr txBox="1"/>
          <p:nvPr/>
        </p:nvSpPr>
        <p:spPr>
          <a:xfrm>
            <a:off x="9619488" y="29718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mj-lt" pitchFamily="34" charset="0"/>
                <a:ea typeface="+mj-lt" pitchFamily="34" charset="-122"/>
                <a:cs typeface="+mj-lt" pitchFamily="34" charset="-120"/>
              </a:rPr>
              <a:t>5</a:t>
            </a:r>
            <a:endParaRPr lang="en-US" sz="2200" dirty="0"/>
          </a:p>
        </p:txBody>
      </p:sp>
      <p:sp>
        <p:nvSpPr>
          <p:cNvPr id="37" name="Text 35"/>
          <p:cNvSpPr txBox="1"/>
          <p:nvPr/>
        </p:nvSpPr>
        <p:spPr>
          <a:xfrm>
            <a:off x="9619488" y="3703320"/>
            <a:ext cx="1737360" cy="548640"/>
          </a:xfrm>
          <a:prstGeom prst="rect">
            <a:avLst/>
          </a:prstGeom>
          <a:noFill/>
          <a:ln/>
        </p:spPr>
        <p:txBody>
          <a:bodyPr wrap="square" lIns="0" tIns="0" rIns="0" bIns="0" rtlCol="0" anchor="t"/>
          <a:lstStyle/>
          <a:p>
            <a:pPr indent="0" marL="0">
              <a:buNone/>
            </a:pPr>
            <a:r>
              <a:rPr lang="en-US" sz="1500" b="1" dirty="0">
                <a:solidFill>
                  <a:srgbClr val="051230"/>
                </a:solidFill>
                <a:latin typeface="+mj-lt" pitchFamily="34" charset="0"/>
                <a:ea typeface="+mj-lt" pitchFamily="34" charset="-122"/>
                <a:cs typeface="+mj-lt" pitchFamily="34" charset="-120"/>
              </a:rPr>
              <a:t>Fastest-growing cost</a:t>
            </a:r>
            <a:endParaRPr lang="en-US" sz="1500" dirty="0"/>
          </a:p>
        </p:txBody>
      </p:sp>
      <p:sp>
        <p:nvSpPr>
          <p:cNvPr id="38" name="Text 36"/>
          <p:cNvSpPr txBox="1"/>
          <p:nvPr/>
        </p:nvSpPr>
        <p:spPr>
          <a:xfrm>
            <a:off x="9619488" y="4251960"/>
            <a:ext cx="1737360" cy="1371600"/>
          </a:xfrm>
          <a:prstGeom prst="rect">
            <a:avLst/>
          </a:prstGeom>
          <a:noFill/>
          <a:ln/>
        </p:spPr>
        <p:txBody>
          <a:bodyPr wrap="square" lIns="0" tIns="0" rIns="0" bIns="0" rtlCol="0" anchor="t"/>
          <a:lstStyle/>
          <a:p>
            <a:pPr indent="0" marL="0">
              <a:buNone/>
            </a:pPr>
            <a:r>
              <a:rPr lang="en-US" sz="1300" dirty="0">
                <a:solidFill>
                  <a:schemeClr val="tx1"/>
                </a:solidFill>
              </a:rPr>
              <a:t>Find the component with the highest CAGR and its implications.</a:t>
            </a:r>
            <a:endParaRPr lang="en-US" sz="1300" dirty="0"/>
          </a:p>
        </p:txBody>
      </p:sp>
      <p:sp>
        <p:nvSpPr>
          <p:cNvPr id="39" name="Text 37"/>
          <p:cNvSpPr txBox="1"/>
          <p:nvPr/>
        </p:nvSpPr>
        <p:spPr>
          <a:xfrm>
            <a:off x="9619488" y="5577840"/>
            <a:ext cx="1737360" cy="594360"/>
          </a:xfrm>
          <a:prstGeom prst="rect">
            <a:avLst/>
          </a:prstGeom>
          <a:noFill/>
          <a:ln/>
        </p:spPr>
        <p:txBody>
          <a:bodyPr wrap="square" lIns="0" tIns="0" rIns="0" bIns="0" rtlCol="0" anchor="t"/>
          <a:lstStyle/>
          <a:p>
            <a:pPr indent="0" marL="0">
              <a:buNone/>
            </a:pPr>
            <a:r>
              <a:rPr lang="en-US" sz="1200" b="1" i="1" dirty="0">
                <a:solidFill>
                  <a:schemeClr val="tx2"/>
                </a:solidFill>
              </a:rPr>
              <a:t>Measured by: </a:t>
            </a:r>
            <a:pPr indent="0" marL="0">
              <a:buNone/>
            </a:pPr>
            <a:r>
              <a:rPr lang="en-US" sz="1200" i="1" dirty="0">
                <a:solidFill>
                  <a:schemeClr val="tx2"/>
                </a:solidFill>
              </a:rPr>
              <a:t>5-year CAGR</a:t>
            </a:r>
            <a:endParaRPr lang="en-US" sz="12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Research Gap and Contribution</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What earlier work leaves open, and what this project adds</a:t>
            </a:r>
            <a:endParaRPr lang="en-US" sz="1600" dirty="0"/>
          </a:p>
        </p:txBody>
      </p:sp>
      <p:sp>
        <p:nvSpPr>
          <p:cNvPr id="4" name="!!Chip1"/>
          <p:cNvSpPr/>
          <p:nvPr/>
        </p:nvSpPr>
        <p:spPr>
          <a:xfrm>
            <a:off x="10241280" y="384048"/>
            <a:ext cx="411480" cy="411480"/>
          </a:xfrm>
          <a:prstGeom prst="rect">
            <a:avLst/>
          </a:prstGeom>
          <a:solidFill>
            <a:srgbClr val="F6917E"/>
          </a:solidFill>
          <a:ln/>
        </p:spPr>
      </p:sp>
      <p:sp>
        <p:nvSpPr>
          <p:cNvPr id="5" name="!!Chip2"/>
          <p:cNvSpPr/>
          <p:nvPr/>
        </p:nvSpPr>
        <p:spPr>
          <a:xfrm>
            <a:off x="10698480" y="384048"/>
            <a:ext cx="411480" cy="411480"/>
          </a:xfrm>
          <a:prstGeom prst="rect">
            <a:avLst/>
          </a:prstGeom>
          <a:solidFill>
            <a:srgbClr val="FFF200"/>
          </a:solidFill>
          <a:ln/>
        </p:spPr>
      </p:sp>
      <p:sp>
        <p:nvSpPr>
          <p:cNvPr id="6" name="!!Chip3"/>
          <p:cNvSpPr/>
          <p:nvPr/>
        </p:nvSpPr>
        <p:spPr>
          <a:xfrm>
            <a:off x="11155680" y="384048"/>
            <a:ext cx="411480" cy="411480"/>
          </a:xfrm>
          <a:prstGeom prst="rect">
            <a:avLst/>
          </a:prstGeom>
          <a:solidFill>
            <a:srgbClr val="0093A5"/>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240</a:t>
            </a:r>
            <a:endParaRPr lang="en-US" sz="1000" dirty="0"/>
          </a:p>
        </p:txBody>
      </p:sp>
      <p:graphicFrame>
        <p:nvGraphicFramePr>
          <p:cNvPr id="7" name="Gap comparison table"/>
          <p:cNvGraphicFramePr>
            <a:graphicFrameLocks noGrp="1"/>
          </p:cNvGraphicFramePr>
          <p:nvPr>
            <p:extLst>
              <p:ext uri="{D42A27DB-BD31-4B8C-83A1-F6EECF244321}">
                <p14:modId xmlns:p14="http://schemas.microsoft.com/office/powerpoint/2010/main" val="1579011935"/>
              </p:ext>
            </p:extLst>
          </p:nvPr>
        </p:nvGraphicFramePr>
        <p:xfrm>
          <a:off x="548640" y="1600200"/>
          <a:ext cx="10972800" cy="914400"/>
        </p:xfrm>
        <a:graphic>
          <a:graphicData uri="http://schemas.openxmlformats.org/drawingml/2006/table">
            <a:tbl>
              <a:tblPr/>
              <a:tblGrid>
                <a:gridCol w="2103120"/>
                <a:gridCol w="4114800"/>
                <a:gridCol w="4754880"/>
              </a:tblGrid>
              <a:tr h="457200">
                <a:tc>
                  <a:txBody>
                    <a:bodyPr/>
                    <a:lstStyle/>
                    <a:p>
                      <a:pPr indent="0" marL="0">
                        <a:buNone/>
                      </a:pPr>
                      <a:r>
                        <a:rPr lang="en-US" sz="1500" b="1" dirty="0">
                          <a:solidFill>
                            <a:srgbClr val="FFFFFF"/>
                          </a:solidFill>
                        </a:rPr>
                        <a:t>Dimension</a:t>
                      </a:r>
                      <a:endParaRPr lang="en-US" sz="1500" dirty="0"/>
                    </a:p>
                  </a:txBody>
                  <a:tcPr marL="109728" marR="109728"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051230"/>
                    </a:solidFill>
                  </a:tcPr>
                </a:tc>
                <a:tc>
                  <a:txBody>
                    <a:bodyPr/>
                    <a:lstStyle/>
                    <a:p>
                      <a:pPr indent="0" marL="0">
                        <a:buNone/>
                      </a:pPr>
                      <a:r>
                        <a:rPr lang="en-US" sz="1500" b="1" dirty="0">
                          <a:solidFill>
                            <a:srgbClr val="051230"/>
                          </a:solidFill>
                        </a:rPr>
                        <a:t>What is missing in existing work</a:t>
                      </a:r>
                      <a:endParaRPr lang="en-US" sz="1500" dirty="0"/>
                    </a:p>
                  </a:txBody>
                  <a:tcPr marL="109728" marR="109728"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48067"/>
                    </a:solidFill>
                  </a:tcPr>
                </a:tc>
                <a:tc>
                  <a:txBody>
                    <a:bodyPr/>
                    <a:lstStyle/>
                    <a:p>
                      <a:pPr indent="0" marL="0">
                        <a:buNone/>
                      </a:pPr>
                      <a:r>
                        <a:rPr lang="en-US" sz="1500" b="1" dirty="0">
                          <a:solidFill>
                            <a:srgbClr val="051230"/>
                          </a:solidFill>
                        </a:rPr>
                        <a:t>What this project adds</a:t>
                      </a:r>
                      <a:endParaRPr lang="en-US" sz="1500" dirty="0"/>
                    </a:p>
                  </a:txBody>
                  <a:tcPr marL="109728" marR="109728"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CB315"/>
                    </a:solidFill>
                  </a:tcPr>
                </a:tc>
              </a:tr>
              <a:tr h="640080">
                <a:tc>
                  <a:txBody>
                    <a:bodyPr/>
                    <a:lstStyle/>
                    <a:p>
                      <a:pPr indent="0" marL="0">
                        <a:buNone/>
                      </a:pPr>
                      <a:r>
                        <a:rPr lang="en-US" sz="1400" b="1" dirty="0">
                          <a:solidFill>
                            <a:srgbClr val="051230"/>
                          </a:solidFill>
                        </a:rPr>
                        <a:t>Time frame</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400" dirty="0">
                          <a:solidFill>
                            <a:srgbClr val="051230"/>
                          </a:solidFill>
                        </a:rPr>
                        <a:t>Mostly pre-2020 data (for example 2007-14)</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dirty="0">
                          <a:solidFill>
                            <a:srgbClr val="051230"/>
                          </a:solidFill>
                        </a:rPr>
                        <a:t>2020-25: COVID/PMGKAY, free grain under NFSA, equity infusion</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BE6A0"/>
                    </a:solidFill>
                  </a:tcPr>
                </a:tc>
              </a:tr>
              <a:tr h="640080">
                <a:tc>
                  <a:txBody>
                    <a:bodyPr/>
                    <a:lstStyle/>
                    <a:p>
                      <a:pPr indent="0" marL="0">
                        <a:buNone/>
                      </a:pPr>
                      <a:r>
                        <a:rPr lang="en-US" sz="1400" b="1" dirty="0">
                          <a:solidFill>
                            <a:srgbClr val="051230"/>
                          </a:solidFill>
                        </a:rPr>
                        <a:t>Level of detail</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400" dirty="0">
                          <a:solidFill>
                            <a:srgbClr val="051230"/>
                          </a:solidFill>
                        </a:rPr>
                        <a:t>Aggregate subsidy totals</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dirty="0">
                          <a:solidFill>
                            <a:srgbClr val="051230"/>
                          </a:solidFill>
                        </a:rPr>
                        <a:t>Per-quintal components: procurement, distribution, carrying cost</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BE6A0"/>
                    </a:solidFill>
                  </a:tcPr>
                </a:tc>
              </a:tr>
              <a:tr h="640080">
                <a:tc>
                  <a:txBody>
                    <a:bodyPr/>
                    <a:lstStyle/>
                    <a:p>
                      <a:pPr indent="0" marL="0">
                        <a:buNone/>
                      </a:pPr>
                      <a:r>
                        <a:rPr lang="en-US" sz="1400" b="1" dirty="0">
                          <a:solidFill>
                            <a:srgbClr val="051230"/>
                          </a:solidFill>
                        </a:rPr>
                        <a:t>Method</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400" dirty="0">
                          <a:solidFill>
                            <a:srgbClr val="051230"/>
                          </a:solidFill>
                        </a:rPr>
                        <a:t>Descriptive and policy commentary</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dirty="0">
                          <a:solidFill>
                            <a:srgbClr val="051230"/>
                          </a:solidFill>
                        </a:rPr>
                        <a:t>YoY change and CAGR on audited Annual Report data</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BE6A0"/>
                    </a:solidFill>
                  </a:tcPr>
                </a:tc>
              </a:tr>
              <a:tr h="640080">
                <a:tc>
                  <a:txBody>
                    <a:bodyPr/>
                    <a:lstStyle/>
                    <a:p>
                      <a:pPr indent="0" marL="0">
                        <a:buNone/>
                      </a:pPr>
                      <a:r>
                        <a:rPr lang="en-US" sz="1400" b="1" dirty="0">
                          <a:solidFill>
                            <a:srgbClr val="051230"/>
                          </a:solidFill>
                        </a:rPr>
                        <a:t>Data quality</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400" dirty="0">
                          <a:solidFill>
                            <a:srgbClr val="051230"/>
                          </a:solidFill>
                        </a:rPr>
                        <a:t>Published subsidy rates taken at face value</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dirty="0">
                          <a:solidFill>
                            <a:srgbClr val="051230"/>
                          </a:solidFill>
                        </a:rPr>
                        <a:t>Tests them: published rate does not equal Economic Cost minus CIP</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BE6A0"/>
                    </a:solidFill>
                  </a:tcPr>
                </a:tc>
              </a:tr>
              <a:tr h="640080">
                <a:tc>
                  <a:txBody>
                    <a:bodyPr/>
                    <a:lstStyle/>
                    <a:p>
                      <a:pPr indent="0" marL="0">
                        <a:buNone/>
                      </a:pPr>
                      <a:r>
                        <a:rPr lang="en-US" sz="1400" b="1" dirty="0">
                          <a:solidFill>
                            <a:srgbClr val="051230"/>
                          </a:solidFill>
                        </a:rPr>
                        <a:t>Output</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400" dirty="0">
                          <a:solidFill>
                            <a:srgbClr val="051230"/>
                          </a:solidFill>
                        </a:rPr>
                        <a:t>General reform ideas</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dirty="0">
                          <a:solidFill>
                            <a:srgbClr val="051230"/>
                          </a:solidFill>
                        </a:rPr>
                        <a:t>Five data-backed recommendations</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BE6A0"/>
                    </a:solidFill>
                  </a:tcPr>
                </a:tc>
              </a:tr>
            </a:tbl>
          </a:graphicData>
        </a:graphic>
      </p:graphicFrame>
      <p:sp>
        <p:nvSpPr>
          <p:cNvPr id="9" name="Contribution banner"/>
          <p:cNvSpPr/>
          <p:nvPr/>
        </p:nvSpPr>
        <p:spPr>
          <a:xfrm>
            <a:off x="548640" y="5440680"/>
            <a:ext cx="10972800" cy="822960"/>
          </a:xfrm>
          <a:prstGeom prst="roundRect">
            <a:avLst>
              <a:gd name="adj" fmla="val 8889"/>
            </a:avLst>
          </a:prstGeom>
          <a:solidFill>
            <a:schemeClr val="tx1"/>
          </a:solidFill>
          <a:ln/>
        </p:spPr>
      </p:sp>
      <p:sp>
        <p:nvSpPr>
          <p:cNvPr id="10" name="Text 7"/>
          <p:cNvSpPr txBox="1"/>
          <p:nvPr/>
        </p:nvSpPr>
        <p:spPr>
          <a:xfrm>
            <a:off x="777240" y="5440680"/>
            <a:ext cx="10515600" cy="822960"/>
          </a:xfrm>
          <a:prstGeom prst="rect">
            <a:avLst/>
          </a:prstGeom>
          <a:noFill/>
          <a:ln/>
        </p:spPr>
        <p:txBody>
          <a:bodyPr wrap="square" lIns="0" tIns="0" rIns="0" bIns="0" rtlCol="0" anchor="ctr"/>
          <a:lstStyle/>
          <a:p>
            <a:pPr indent="0" marL="0">
              <a:buNone/>
            </a:pPr>
            <a:r>
              <a:rPr lang="en-US" sz="1500" b="1" dirty="0">
                <a:solidFill>
                  <a:schemeClr val="accent1"/>
                </a:solidFill>
              </a:rPr>
              <a:t>Proposed contribution: </a:t>
            </a:r>
            <a:pPr indent="0" marL="0">
              <a:buNone/>
            </a:pPr>
            <a:r>
              <a:rPr lang="en-US" sz="1500" dirty="0">
                <a:solidFill>
                  <a:srgbClr val="FFFFFF"/>
                </a:solidFill>
              </a:rPr>
              <a:t>a transparent, reproducible cost-component trend study, plus a flagged data-quality limitation for anyone using FCI's public figures.</a:t>
            </a:r>
            <a:endParaRPr lang="en-US" sz="15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Proposed Methodology</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Six steps from official data to evidence-based recommendations</a:t>
            </a:r>
            <a:endParaRPr lang="en-US" sz="1600" dirty="0"/>
          </a:p>
        </p:txBody>
      </p:sp>
      <p:sp>
        <p:nvSpPr>
          <p:cNvPr id="4" name="!!Chip1"/>
          <p:cNvSpPr/>
          <p:nvPr/>
        </p:nvSpPr>
        <p:spPr>
          <a:xfrm>
            <a:off x="10241280" y="384048"/>
            <a:ext cx="411480" cy="411480"/>
          </a:xfrm>
          <a:prstGeom prst="rect">
            <a:avLst/>
          </a:prstGeom>
          <a:solidFill>
            <a:srgbClr val="CC1236"/>
          </a:solidFill>
          <a:ln/>
        </p:spPr>
      </p:sp>
      <p:sp>
        <p:nvSpPr>
          <p:cNvPr id="5" name="!!Chip2"/>
          <p:cNvSpPr/>
          <p:nvPr/>
        </p:nvSpPr>
        <p:spPr>
          <a:xfrm>
            <a:off x="10698480" y="384048"/>
            <a:ext cx="411480" cy="411480"/>
          </a:xfrm>
          <a:prstGeom prst="rect">
            <a:avLst/>
          </a:prstGeom>
          <a:solidFill>
            <a:srgbClr val="EEB480"/>
          </a:solidFill>
          <a:ln/>
        </p:spPr>
      </p:sp>
      <p:sp>
        <p:nvSpPr>
          <p:cNvPr id="6" name="!!Chip3"/>
          <p:cNvSpPr/>
          <p:nvPr/>
        </p:nvSpPr>
        <p:spPr>
          <a:xfrm>
            <a:off x="11155680" y="384048"/>
            <a:ext cx="411480" cy="411480"/>
          </a:xfrm>
          <a:prstGeom prst="rect">
            <a:avLst/>
          </a:prstGeom>
          <a:solidFill>
            <a:srgbClr val="051230"/>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232</a:t>
            </a:r>
            <a:endParaRPr lang="en-US" sz="1000" dirty="0"/>
          </a:p>
        </p:txBody>
      </p:sp>
      <p:sp>
        <p:nvSpPr>
          <p:cNvPr id="8" name="Step card 1"/>
          <p:cNvSpPr/>
          <p:nvPr/>
        </p:nvSpPr>
        <p:spPr>
          <a:xfrm>
            <a:off x="548640" y="1600200"/>
            <a:ext cx="1600200" cy="2331720"/>
          </a:xfrm>
          <a:prstGeom prst="roundRect">
            <a:avLst>
              <a:gd name="adj" fmla="val 4571"/>
            </a:avLst>
          </a:prstGeom>
          <a:solidFill>
            <a:srgbClr val="FFFFFF"/>
          </a:solidFill>
          <a:ln/>
        </p:spPr>
      </p:sp>
      <p:sp>
        <p:nvSpPr>
          <p:cNvPr id="9" name="Step number 1"/>
          <p:cNvSpPr/>
          <p:nvPr/>
        </p:nvSpPr>
        <p:spPr>
          <a:xfrm>
            <a:off x="685800" y="1737360"/>
            <a:ext cx="457200" cy="457200"/>
          </a:xfrm>
          <a:prstGeom prst="ellipse">
            <a:avLst/>
          </a:prstGeom>
          <a:solidFill>
            <a:schemeClr val="accent4"/>
          </a:solidFill>
          <a:ln/>
        </p:spPr>
      </p:sp>
      <p:sp>
        <p:nvSpPr>
          <p:cNvPr id="10" name="Text 8"/>
          <p:cNvSpPr txBox="1"/>
          <p:nvPr/>
        </p:nvSpPr>
        <p:spPr>
          <a:xfrm>
            <a:off x="68580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j-lt" pitchFamily="34" charset="0"/>
                <a:ea typeface="+mj-lt" pitchFamily="34" charset="-122"/>
                <a:cs typeface="+mj-lt" pitchFamily="34" charset="-120"/>
              </a:rPr>
              <a:t>1</a:t>
            </a:r>
            <a:endParaRPr lang="en-US" sz="1600" dirty="0"/>
          </a:p>
        </p:txBody>
      </p:sp>
      <p:sp>
        <p:nvSpPr>
          <p:cNvPr id="11" name="Text 9"/>
          <p:cNvSpPr txBox="1"/>
          <p:nvPr/>
        </p:nvSpPr>
        <p:spPr>
          <a:xfrm>
            <a:off x="685800" y="2286000"/>
            <a:ext cx="1371600" cy="502920"/>
          </a:xfrm>
          <a:prstGeom prst="rect">
            <a:avLst/>
          </a:prstGeom>
          <a:noFill/>
          <a:ln/>
        </p:spPr>
        <p:txBody>
          <a:bodyPr wrap="square" lIns="0" tIns="0" rIns="0" bIns="0" rtlCol="0" anchor="t"/>
          <a:lstStyle/>
          <a:p>
            <a:pPr indent="0" marL="0">
              <a:buNone/>
            </a:pPr>
            <a:r>
              <a:rPr lang="en-US" sz="1400" b="1" dirty="0">
                <a:solidFill>
                  <a:srgbClr val="006EB8"/>
                </a:solidFill>
                <a:latin typeface="+mj-lt" pitchFamily="34" charset="0"/>
                <a:ea typeface="+mj-lt" pitchFamily="34" charset="-122"/>
                <a:cs typeface="+mj-lt" pitchFamily="34" charset="-120"/>
              </a:rPr>
              <a:t>Define scope</a:t>
            </a:r>
            <a:endParaRPr lang="en-US" sz="1400" dirty="0"/>
          </a:p>
        </p:txBody>
      </p:sp>
      <p:sp>
        <p:nvSpPr>
          <p:cNvPr id="12" name="Text 10"/>
          <p:cNvSpPr txBox="1"/>
          <p:nvPr/>
        </p:nvSpPr>
        <p:spPr>
          <a:xfrm>
            <a:off x="685800" y="2788920"/>
            <a:ext cx="1371600" cy="1097280"/>
          </a:xfrm>
          <a:prstGeom prst="rect">
            <a:avLst/>
          </a:prstGeom>
          <a:noFill/>
          <a:ln/>
        </p:spPr>
        <p:txBody>
          <a:bodyPr wrap="square" lIns="0" tIns="0" rIns="0" bIns="0" rtlCol="0" anchor="t"/>
          <a:lstStyle/>
          <a:p>
            <a:pPr indent="0" marL="0">
              <a:buNone/>
            </a:pPr>
            <a:r>
              <a:rPr lang="en-US" sz="1200" dirty="0">
                <a:solidFill>
                  <a:schemeClr val="tx1"/>
                </a:solidFill>
              </a:rPr>
              <a:t>Five FCI years, wheat and rice, five objectives</a:t>
            </a:r>
            <a:endParaRPr lang="en-US" sz="1200" dirty="0"/>
          </a:p>
        </p:txBody>
      </p:sp>
      <p:sp>
        <p:nvSpPr>
          <p:cNvPr id="13" name="Flow arrow 1"/>
          <p:cNvSpPr/>
          <p:nvPr/>
        </p:nvSpPr>
        <p:spPr>
          <a:xfrm>
            <a:off x="2212848" y="2606040"/>
            <a:ext cx="182880" cy="320040"/>
          </a:xfrm>
          <a:prstGeom prst="chevron">
            <a:avLst/>
          </a:prstGeom>
          <a:solidFill>
            <a:srgbClr val="59256A"/>
          </a:solidFill>
          <a:ln/>
        </p:spPr>
      </p:sp>
      <p:sp>
        <p:nvSpPr>
          <p:cNvPr id="14" name="Step card 2"/>
          <p:cNvSpPr/>
          <p:nvPr/>
        </p:nvSpPr>
        <p:spPr>
          <a:xfrm>
            <a:off x="2423160" y="1600200"/>
            <a:ext cx="1600200" cy="2331720"/>
          </a:xfrm>
          <a:prstGeom prst="roundRect">
            <a:avLst>
              <a:gd name="adj" fmla="val 4571"/>
            </a:avLst>
          </a:prstGeom>
          <a:solidFill>
            <a:srgbClr val="FFFFFF"/>
          </a:solidFill>
          <a:ln/>
        </p:spPr>
      </p:sp>
      <p:sp>
        <p:nvSpPr>
          <p:cNvPr id="15" name="Step number 2"/>
          <p:cNvSpPr/>
          <p:nvPr/>
        </p:nvSpPr>
        <p:spPr>
          <a:xfrm>
            <a:off x="2560320" y="1737360"/>
            <a:ext cx="457200" cy="457200"/>
          </a:xfrm>
          <a:prstGeom prst="ellipse">
            <a:avLst/>
          </a:prstGeom>
          <a:solidFill>
            <a:schemeClr val="accent2"/>
          </a:solidFill>
          <a:ln/>
        </p:spPr>
      </p:sp>
      <p:sp>
        <p:nvSpPr>
          <p:cNvPr id="16" name="Text 14"/>
          <p:cNvSpPr txBox="1"/>
          <p:nvPr/>
        </p:nvSpPr>
        <p:spPr>
          <a:xfrm>
            <a:off x="256032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j-lt" pitchFamily="34" charset="0"/>
                <a:ea typeface="+mj-lt" pitchFamily="34" charset="-122"/>
                <a:cs typeface="+mj-lt" pitchFamily="34" charset="-120"/>
              </a:rPr>
              <a:t>2</a:t>
            </a:r>
            <a:endParaRPr lang="en-US" sz="1600" dirty="0"/>
          </a:p>
        </p:txBody>
      </p:sp>
      <p:sp>
        <p:nvSpPr>
          <p:cNvPr id="17" name="Text 15"/>
          <p:cNvSpPr txBox="1"/>
          <p:nvPr/>
        </p:nvSpPr>
        <p:spPr>
          <a:xfrm>
            <a:off x="2560320" y="2286000"/>
            <a:ext cx="1371600" cy="502920"/>
          </a:xfrm>
          <a:prstGeom prst="rect">
            <a:avLst/>
          </a:prstGeom>
          <a:noFill/>
          <a:ln/>
        </p:spPr>
        <p:txBody>
          <a:bodyPr wrap="square" lIns="0" tIns="0" rIns="0" bIns="0" rtlCol="0" anchor="t"/>
          <a:lstStyle/>
          <a:p>
            <a:pPr indent="0" marL="0">
              <a:buNone/>
            </a:pPr>
            <a:r>
              <a:rPr lang="en-US" sz="1400" b="1" dirty="0">
                <a:solidFill>
                  <a:srgbClr val="006EB8"/>
                </a:solidFill>
                <a:latin typeface="+mj-lt" pitchFamily="34" charset="0"/>
                <a:ea typeface="+mj-lt" pitchFamily="34" charset="-122"/>
                <a:cs typeface="+mj-lt" pitchFamily="34" charset="-120"/>
              </a:rPr>
              <a:t>Collect data</a:t>
            </a:r>
            <a:endParaRPr lang="en-US" sz="1400" dirty="0"/>
          </a:p>
        </p:txBody>
      </p:sp>
      <p:sp>
        <p:nvSpPr>
          <p:cNvPr id="18" name="Text 16"/>
          <p:cNvSpPr txBox="1"/>
          <p:nvPr/>
        </p:nvSpPr>
        <p:spPr>
          <a:xfrm>
            <a:off x="2560320" y="2788920"/>
            <a:ext cx="1371600" cy="1097280"/>
          </a:xfrm>
          <a:prstGeom prst="rect">
            <a:avLst/>
          </a:prstGeom>
          <a:noFill/>
          <a:ln/>
        </p:spPr>
        <p:txBody>
          <a:bodyPr wrap="square" lIns="0" tIns="0" rIns="0" bIns="0" rtlCol="0" anchor="t"/>
          <a:lstStyle/>
          <a:p>
            <a:pPr indent="0" marL="0">
              <a:buNone/>
            </a:pPr>
            <a:r>
              <a:rPr lang="en-US" sz="1200" dirty="0">
                <a:solidFill>
                  <a:schemeClr val="tx1"/>
                </a:solidFill>
              </a:rPr>
              <a:t>Five FCI Annual Reports, 2020-21 to 2024-25</a:t>
            </a:r>
            <a:endParaRPr lang="en-US" sz="1200" dirty="0"/>
          </a:p>
        </p:txBody>
      </p:sp>
      <p:sp>
        <p:nvSpPr>
          <p:cNvPr id="19" name="Flow arrow 2"/>
          <p:cNvSpPr/>
          <p:nvPr/>
        </p:nvSpPr>
        <p:spPr>
          <a:xfrm>
            <a:off x="4087368" y="2606040"/>
            <a:ext cx="182880" cy="320040"/>
          </a:xfrm>
          <a:prstGeom prst="chevron">
            <a:avLst/>
          </a:prstGeom>
          <a:solidFill>
            <a:srgbClr val="59256A"/>
          </a:solidFill>
          <a:ln/>
        </p:spPr>
      </p:sp>
      <p:sp>
        <p:nvSpPr>
          <p:cNvPr id="20" name="Step card 3"/>
          <p:cNvSpPr/>
          <p:nvPr/>
        </p:nvSpPr>
        <p:spPr>
          <a:xfrm>
            <a:off x="4297680" y="1600200"/>
            <a:ext cx="1600200" cy="2331720"/>
          </a:xfrm>
          <a:prstGeom prst="roundRect">
            <a:avLst>
              <a:gd name="adj" fmla="val 4571"/>
            </a:avLst>
          </a:prstGeom>
          <a:solidFill>
            <a:srgbClr val="FFFFFF"/>
          </a:solidFill>
          <a:ln/>
        </p:spPr>
      </p:sp>
      <p:sp>
        <p:nvSpPr>
          <p:cNvPr id="21" name="Step number 3"/>
          <p:cNvSpPr/>
          <p:nvPr/>
        </p:nvSpPr>
        <p:spPr>
          <a:xfrm>
            <a:off x="4434840" y="1737360"/>
            <a:ext cx="457200" cy="457200"/>
          </a:xfrm>
          <a:prstGeom prst="ellipse">
            <a:avLst/>
          </a:prstGeom>
          <a:solidFill>
            <a:schemeClr val="accent4"/>
          </a:solidFill>
          <a:ln/>
        </p:spPr>
      </p:sp>
      <p:sp>
        <p:nvSpPr>
          <p:cNvPr id="22" name="Text 20"/>
          <p:cNvSpPr txBox="1"/>
          <p:nvPr/>
        </p:nvSpPr>
        <p:spPr>
          <a:xfrm>
            <a:off x="44348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j-lt" pitchFamily="34" charset="0"/>
                <a:ea typeface="+mj-lt" pitchFamily="34" charset="-122"/>
                <a:cs typeface="+mj-lt" pitchFamily="34" charset="-120"/>
              </a:rPr>
              <a:t>3</a:t>
            </a:r>
            <a:endParaRPr lang="en-US" sz="1600" dirty="0"/>
          </a:p>
        </p:txBody>
      </p:sp>
      <p:sp>
        <p:nvSpPr>
          <p:cNvPr id="23" name="Text 21"/>
          <p:cNvSpPr txBox="1"/>
          <p:nvPr/>
        </p:nvSpPr>
        <p:spPr>
          <a:xfrm>
            <a:off x="4434840" y="2286000"/>
            <a:ext cx="1371600" cy="502920"/>
          </a:xfrm>
          <a:prstGeom prst="rect">
            <a:avLst/>
          </a:prstGeom>
          <a:noFill/>
          <a:ln/>
        </p:spPr>
        <p:txBody>
          <a:bodyPr wrap="square" lIns="0" tIns="0" rIns="0" bIns="0" rtlCol="0" anchor="t"/>
          <a:lstStyle/>
          <a:p>
            <a:pPr indent="0" marL="0">
              <a:buNone/>
            </a:pPr>
            <a:r>
              <a:rPr lang="en-US" sz="1400" b="1" dirty="0">
                <a:solidFill>
                  <a:srgbClr val="006EB8"/>
                </a:solidFill>
                <a:latin typeface="+mj-lt" pitchFamily="34" charset="0"/>
                <a:ea typeface="+mj-lt" pitchFamily="34" charset="-122"/>
                <a:cs typeface="+mj-lt" pitchFamily="34" charset="-120"/>
              </a:rPr>
              <a:t>Extract and validate</a:t>
            </a:r>
            <a:endParaRPr lang="en-US" sz="1400" dirty="0"/>
          </a:p>
        </p:txBody>
      </p:sp>
      <p:sp>
        <p:nvSpPr>
          <p:cNvPr id="24" name="Text 22"/>
          <p:cNvSpPr txBox="1"/>
          <p:nvPr/>
        </p:nvSpPr>
        <p:spPr>
          <a:xfrm>
            <a:off x="4434840" y="2788920"/>
            <a:ext cx="1371600" cy="1097280"/>
          </a:xfrm>
          <a:prstGeom prst="rect">
            <a:avLst/>
          </a:prstGeom>
          <a:noFill/>
          <a:ln/>
        </p:spPr>
        <p:txBody>
          <a:bodyPr wrap="square" lIns="0" tIns="0" rIns="0" bIns="0" rtlCol="0" anchor="t"/>
          <a:lstStyle/>
          <a:p>
            <a:pPr indent="0" marL="0">
              <a:buNone/>
            </a:pPr>
            <a:r>
              <a:rPr lang="en-US" sz="1200" dirty="0">
                <a:solidFill>
                  <a:schemeClr val="tx1"/>
                </a:solidFill>
              </a:rPr>
              <a:t>Master workbook; closing stock must equal next opening stock</a:t>
            </a:r>
            <a:endParaRPr lang="en-US" sz="1200" dirty="0"/>
          </a:p>
        </p:txBody>
      </p:sp>
      <p:sp>
        <p:nvSpPr>
          <p:cNvPr id="25" name="Flow arrow 3"/>
          <p:cNvSpPr/>
          <p:nvPr/>
        </p:nvSpPr>
        <p:spPr>
          <a:xfrm>
            <a:off x="5961888" y="2606040"/>
            <a:ext cx="182880" cy="320040"/>
          </a:xfrm>
          <a:prstGeom prst="chevron">
            <a:avLst/>
          </a:prstGeom>
          <a:solidFill>
            <a:srgbClr val="59256A"/>
          </a:solidFill>
          <a:ln/>
        </p:spPr>
      </p:sp>
      <p:sp>
        <p:nvSpPr>
          <p:cNvPr id="26" name="Step card 4"/>
          <p:cNvSpPr/>
          <p:nvPr/>
        </p:nvSpPr>
        <p:spPr>
          <a:xfrm>
            <a:off x="6172200" y="1600200"/>
            <a:ext cx="1600200" cy="2331720"/>
          </a:xfrm>
          <a:prstGeom prst="roundRect">
            <a:avLst>
              <a:gd name="adj" fmla="val 4571"/>
            </a:avLst>
          </a:prstGeom>
          <a:solidFill>
            <a:srgbClr val="FFFFFF"/>
          </a:solidFill>
          <a:ln/>
        </p:spPr>
      </p:sp>
      <p:sp>
        <p:nvSpPr>
          <p:cNvPr id="27" name="Step number 4"/>
          <p:cNvSpPr/>
          <p:nvPr/>
        </p:nvSpPr>
        <p:spPr>
          <a:xfrm>
            <a:off x="6309360" y="1737360"/>
            <a:ext cx="457200" cy="457200"/>
          </a:xfrm>
          <a:prstGeom prst="ellipse">
            <a:avLst/>
          </a:prstGeom>
          <a:solidFill>
            <a:schemeClr val="accent2"/>
          </a:solidFill>
          <a:ln/>
        </p:spPr>
      </p:sp>
      <p:sp>
        <p:nvSpPr>
          <p:cNvPr id="28" name="Text 26"/>
          <p:cNvSpPr txBox="1"/>
          <p:nvPr/>
        </p:nvSpPr>
        <p:spPr>
          <a:xfrm>
            <a:off x="630936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j-lt" pitchFamily="34" charset="0"/>
                <a:ea typeface="+mj-lt" pitchFamily="34" charset="-122"/>
                <a:cs typeface="+mj-lt" pitchFamily="34" charset="-120"/>
              </a:rPr>
              <a:t>4</a:t>
            </a:r>
            <a:endParaRPr lang="en-US" sz="1600" dirty="0"/>
          </a:p>
        </p:txBody>
      </p:sp>
      <p:sp>
        <p:nvSpPr>
          <p:cNvPr id="29" name="Text 27"/>
          <p:cNvSpPr txBox="1"/>
          <p:nvPr/>
        </p:nvSpPr>
        <p:spPr>
          <a:xfrm>
            <a:off x="6309360" y="2286000"/>
            <a:ext cx="1371600" cy="502920"/>
          </a:xfrm>
          <a:prstGeom prst="rect">
            <a:avLst/>
          </a:prstGeom>
          <a:noFill/>
          <a:ln/>
        </p:spPr>
        <p:txBody>
          <a:bodyPr wrap="square" lIns="0" tIns="0" rIns="0" bIns="0" rtlCol="0" anchor="t"/>
          <a:lstStyle/>
          <a:p>
            <a:pPr indent="0" marL="0">
              <a:buNone/>
            </a:pPr>
            <a:r>
              <a:rPr lang="en-US" sz="1400" b="1" dirty="0">
                <a:solidFill>
                  <a:srgbClr val="006EB8"/>
                </a:solidFill>
                <a:latin typeface="+mj-lt" pitchFamily="34" charset="0"/>
                <a:ea typeface="+mj-lt" pitchFamily="34" charset="-122"/>
                <a:cs typeface="+mj-lt" pitchFamily="34" charset="-120"/>
              </a:rPr>
              <a:t>Compute</a:t>
            </a:r>
            <a:endParaRPr lang="en-US" sz="1400" dirty="0"/>
          </a:p>
        </p:txBody>
      </p:sp>
      <p:sp>
        <p:nvSpPr>
          <p:cNvPr id="30" name="Text 28"/>
          <p:cNvSpPr txBox="1"/>
          <p:nvPr/>
        </p:nvSpPr>
        <p:spPr>
          <a:xfrm>
            <a:off x="6309360" y="2788920"/>
            <a:ext cx="1371600" cy="1097280"/>
          </a:xfrm>
          <a:prstGeom prst="rect">
            <a:avLst/>
          </a:prstGeom>
          <a:noFill/>
          <a:ln/>
        </p:spPr>
        <p:txBody>
          <a:bodyPr wrap="square" lIns="0" tIns="0" rIns="0" bIns="0" rtlCol="0" anchor="t"/>
          <a:lstStyle/>
          <a:p>
            <a:pPr indent="0" marL="0">
              <a:buNone/>
            </a:pPr>
            <a:r>
              <a:rPr lang="en-US" sz="1200" dirty="0">
                <a:solidFill>
                  <a:schemeClr val="tx1"/>
                </a:solidFill>
              </a:rPr>
              <a:t>YoY %, CAGR, Total Economic Cost, EC minus CIP</a:t>
            </a:r>
            <a:endParaRPr lang="en-US" sz="1200" dirty="0"/>
          </a:p>
        </p:txBody>
      </p:sp>
      <p:sp>
        <p:nvSpPr>
          <p:cNvPr id="31" name="Flow arrow 4"/>
          <p:cNvSpPr/>
          <p:nvPr/>
        </p:nvSpPr>
        <p:spPr>
          <a:xfrm>
            <a:off x="7836408" y="2606040"/>
            <a:ext cx="182880" cy="320040"/>
          </a:xfrm>
          <a:prstGeom prst="chevron">
            <a:avLst/>
          </a:prstGeom>
          <a:solidFill>
            <a:srgbClr val="59256A"/>
          </a:solidFill>
          <a:ln/>
        </p:spPr>
      </p:sp>
      <p:sp>
        <p:nvSpPr>
          <p:cNvPr id="32" name="Step card 5"/>
          <p:cNvSpPr/>
          <p:nvPr/>
        </p:nvSpPr>
        <p:spPr>
          <a:xfrm>
            <a:off x="8046720" y="1600200"/>
            <a:ext cx="1600200" cy="2331720"/>
          </a:xfrm>
          <a:prstGeom prst="roundRect">
            <a:avLst>
              <a:gd name="adj" fmla="val 4571"/>
            </a:avLst>
          </a:prstGeom>
          <a:solidFill>
            <a:srgbClr val="FFFFFF"/>
          </a:solidFill>
          <a:ln/>
        </p:spPr>
      </p:sp>
      <p:sp>
        <p:nvSpPr>
          <p:cNvPr id="33" name="Step number 5"/>
          <p:cNvSpPr/>
          <p:nvPr/>
        </p:nvSpPr>
        <p:spPr>
          <a:xfrm>
            <a:off x="8183880" y="1737360"/>
            <a:ext cx="457200" cy="457200"/>
          </a:xfrm>
          <a:prstGeom prst="ellipse">
            <a:avLst/>
          </a:prstGeom>
          <a:solidFill>
            <a:schemeClr val="accent4"/>
          </a:solidFill>
          <a:ln/>
        </p:spPr>
      </p:sp>
      <p:sp>
        <p:nvSpPr>
          <p:cNvPr id="34" name="Text 32"/>
          <p:cNvSpPr txBox="1"/>
          <p:nvPr/>
        </p:nvSpPr>
        <p:spPr>
          <a:xfrm>
            <a:off x="81838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j-lt" pitchFamily="34" charset="0"/>
                <a:ea typeface="+mj-lt" pitchFamily="34" charset="-122"/>
                <a:cs typeface="+mj-lt" pitchFamily="34" charset="-120"/>
              </a:rPr>
              <a:t>5</a:t>
            </a:r>
            <a:endParaRPr lang="en-US" sz="1600" dirty="0"/>
          </a:p>
        </p:txBody>
      </p:sp>
      <p:sp>
        <p:nvSpPr>
          <p:cNvPr id="35" name="Text 33"/>
          <p:cNvSpPr txBox="1"/>
          <p:nvPr/>
        </p:nvSpPr>
        <p:spPr>
          <a:xfrm>
            <a:off x="8183880" y="2286000"/>
            <a:ext cx="1371600" cy="502920"/>
          </a:xfrm>
          <a:prstGeom prst="rect">
            <a:avLst/>
          </a:prstGeom>
          <a:noFill/>
          <a:ln/>
        </p:spPr>
        <p:txBody>
          <a:bodyPr wrap="square" lIns="0" tIns="0" rIns="0" bIns="0" rtlCol="0" anchor="t"/>
          <a:lstStyle/>
          <a:p>
            <a:pPr indent="0" marL="0">
              <a:buNone/>
            </a:pPr>
            <a:r>
              <a:rPr lang="en-US" sz="1400" b="1" dirty="0">
                <a:solidFill>
                  <a:srgbClr val="006EB8"/>
                </a:solidFill>
                <a:latin typeface="+mj-lt" pitchFamily="34" charset="0"/>
                <a:ea typeface="+mj-lt" pitchFamily="34" charset="-122"/>
                <a:cs typeface="+mj-lt" pitchFamily="34" charset="-120"/>
              </a:rPr>
              <a:t>Interpret</a:t>
            </a:r>
            <a:endParaRPr lang="en-US" sz="1400" dirty="0"/>
          </a:p>
        </p:txBody>
      </p:sp>
      <p:sp>
        <p:nvSpPr>
          <p:cNvPr id="36" name="Text 34"/>
          <p:cNvSpPr txBox="1"/>
          <p:nvPr/>
        </p:nvSpPr>
        <p:spPr>
          <a:xfrm>
            <a:off x="8183880" y="2788920"/>
            <a:ext cx="1371600" cy="1097280"/>
          </a:xfrm>
          <a:prstGeom prst="rect">
            <a:avLst/>
          </a:prstGeom>
          <a:noFill/>
          <a:ln/>
        </p:spPr>
        <p:txBody>
          <a:bodyPr wrap="square" lIns="0" tIns="0" rIns="0" bIns="0" rtlCol="0" anchor="t"/>
          <a:lstStyle/>
          <a:p>
            <a:pPr indent="0" marL="0">
              <a:buNone/>
            </a:pPr>
            <a:r>
              <a:rPr lang="en-US" sz="1200" dirty="0">
                <a:solidFill>
                  <a:schemeClr val="tx1"/>
                </a:solidFill>
              </a:rPr>
              <a:t>Link trends to COVID, PMGKAY, NFSA, equity infusion</a:t>
            </a:r>
            <a:endParaRPr lang="en-US" sz="1200" dirty="0"/>
          </a:p>
        </p:txBody>
      </p:sp>
      <p:sp>
        <p:nvSpPr>
          <p:cNvPr id="37" name="Flow arrow 5"/>
          <p:cNvSpPr/>
          <p:nvPr/>
        </p:nvSpPr>
        <p:spPr>
          <a:xfrm>
            <a:off x="9710928" y="2606040"/>
            <a:ext cx="182880" cy="320040"/>
          </a:xfrm>
          <a:prstGeom prst="chevron">
            <a:avLst/>
          </a:prstGeom>
          <a:solidFill>
            <a:srgbClr val="59256A"/>
          </a:solidFill>
          <a:ln/>
        </p:spPr>
      </p:sp>
      <p:sp>
        <p:nvSpPr>
          <p:cNvPr id="38" name="Step card 6"/>
          <p:cNvSpPr/>
          <p:nvPr/>
        </p:nvSpPr>
        <p:spPr>
          <a:xfrm>
            <a:off x="9921240" y="1600200"/>
            <a:ext cx="1600200" cy="2331720"/>
          </a:xfrm>
          <a:prstGeom prst="roundRect">
            <a:avLst>
              <a:gd name="adj" fmla="val 4571"/>
            </a:avLst>
          </a:prstGeom>
          <a:solidFill>
            <a:srgbClr val="FFFFFF"/>
          </a:solidFill>
          <a:ln/>
        </p:spPr>
      </p:sp>
      <p:sp>
        <p:nvSpPr>
          <p:cNvPr id="39" name="Step number 6"/>
          <p:cNvSpPr/>
          <p:nvPr/>
        </p:nvSpPr>
        <p:spPr>
          <a:xfrm>
            <a:off x="10058400" y="1737360"/>
            <a:ext cx="457200" cy="457200"/>
          </a:xfrm>
          <a:prstGeom prst="ellipse">
            <a:avLst/>
          </a:prstGeom>
          <a:solidFill>
            <a:schemeClr val="accent2"/>
          </a:solidFill>
          <a:ln/>
        </p:spPr>
      </p:sp>
      <p:sp>
        <p:nvSpPr>
          <p:cNvPr id="40" name="Text 38"/>
          <p:cNvSpPr txBox="1"/>
          <p:nvPr/>
        </p:nvSpPr>
        <p:spPr>
          <a:xfrm>
            <a:off x="1005840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j-lt" pitchFamily="34" charset="0"/>
                <a:ea typeface="+mj-lt" pitchFamily="34" charset="-122"/>
                <a:cs typeface="+mj-lt" pitchFamily="34" charset="-120"/>
              </a:rPr>
              <a:t>6</a:t>
            </a:r>
            <a:endParaRPr lang="en-US" sz="1600" dirty="0"/>
          </a:p>
        </p:txBody>
      </p:sp>
      <p:sp>
        <p:nvSpPr>
          <p:cNvPr id="41" name="Text 39"/>
          <p:cNvSpPr txBox="1"/>
          <p:nvPr/>
        </p:nvSpPr>
        <p:spPr>
          <a:xfrm>
            <a:off x="10058400" y="2286000"/>
            <a:ext cx="1371600" cy="502920"/>
          </a:xfrm>
          <a:prstGeom prst="rect">
            <a:avLst/>
          </a:prstGeom>
          <a:noFill/>
          <a:ln/>
        </p:spPr>
        <p:txBody>
          <a:bodyPr wrap="square" lIns="0" tIns="0" rIns="0" bIns="0" rtlCol="0" anchor="t"/>
          <a:lstStyle/>
          <a:p>
            <a:pPr indent="0" marL="0">
              <a:buNone/>
            </a:pPr>
            <a:r>
              <a:rPr lang="en-US" sz="1400" b="1" dirty="0">
                <a:solidFill>
                  <a:srgbClr val="006EB8"/>
                </a:solidFill>
                <a:latin typeface="+mj-lt" pitchFamily="34" charset="0"/>
                <a:ea typeface="+mj-lt" pitchFamily="34" charset="-122"/>
                <a:cs typeface="+mj-lt" pitchFamily="34" charset="-120"/>
              </a:rPr>
              <a:t>Conclude</a:t>
            </a:r>
            <a:endParaRPr lang="en-US" sz="1400" dirty="0"/>
          </a:p>
        </p:txBody>
      </p:sp>
      <p:sp>
        <p:nvSpPr>
          <p:cNvPr id="42" name="Text 40"/>
          <p:cNvSpPr txBox="1"/>
          <p:nvPr/>
        </p:nvSpPr>
        <p:spPr>
          <a:xfrm>
            <a:off x="10058400" y="2788920"/>
            <a:ext cx="1371600" cy="1097280"/>
          </a:xfrm>
          <a:prstGeom prst="rect">
            <a:avLst/>
          </a:prstGeom>
          <a:noFill/>
          <a:ln/>
        </p:spPr>
        <p:txBody>
          <a:bodyPr wrap="square" lIns="0" tIns="0" rIns="0" bIns="0" rtlCol="0" anchor="t"/>
          <a:lstStyle/>
          <a:p>
            <a:pPr indent="0" marL="0">
              <a:buNone/>
            </a:pPr>
            <a:r>
              <a:rPr lang="en-US" sz="1200" dirty="0">
                <a:solidFill>
                  <a:schemeClr val="tx1"/>
                </a:solidFill>
              </a:rPr>
              <a:t>Findings, limitations, recommendations</a:t>
            </a:r>
            <a:endParaRPr lang="en-US" sz="1200" dirty="0"/>
          </a:p>
        </p:txBody>
      </p:sp>
      <p:sp>
        <p:nvSpPr>
          <p:cNvPr id="43" name="Design card"/>
          <p:cNvSpPr/>
          <p:nvPr/>
        </p:nvSpPr>
        <p:spPr>
          <a:xfrm>
            <a:off x="548640" y="4160520"/>
            <a:ext cx="4023360" cy="2103120"/>
          </a:xfrm>
          <a:prstGeom prst="roundRect">
            <a:avLst>
              <a:gd name="adj" fmla="val 3478"/>
            </a:avLst>
          </a:prstGeom>
          <a:solidFill>
            <a:schemeClr val="accent4"/>
          </a:solidFill>
          <a:ln/>
        </p:spPr>
      </p:sp>
      <p:sp>
        <p:nvSpPr>
          <p:cNvPr id="44" name="Text 42"/>
          <p:cNvSpPr txBox="1"/>
          <p:nvPr/>
        </p:nvSpPr>
        <p:spPr>
          <a:xfrm>
            <a:off x="777240" y="4297680"/>
            <a:ext cx="3566160" cy="32004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Research design</a:t>
            </a:r>
            <a:endParaRPr lang="en-US" sz="1600" dirty="0"/>
          </a:p>
        </p:txBody>
      </p:sp>
      <p:sp>
        <p:nvSpPr>
          <p:cNvPr id="45" name="Text 43"/>
          <p:cNvSpPr txBox="1"/>
          <p:nvPr/>
        </p:nvSpPr>
        <p:spPr>
          <a:xfrm>
            <a:off x="777240" y="4709160"/>
            <a:ext cx="356616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rPr>
              <a:t>Purely quantitative</a:t>
            </a:r>
            <a:endParaRPr lang="en-US" sz="1400" dirty="0"/>
          </a:p>
          <a:p>
            <a:pPr marL="342900" indent="-342900">
              <a:spcAft>
                <a:spcPts val="400"/>
              </a:spcAft>
              <a:buSzPct val="100000"/>
              <a:buChar char="•"/>
            </a:pPr>
            <a:r>
              <a:rPr lang="en-US" sz="1400" dirty="0">
                <a:solidFill>
                  <a:srgbClr val="FFFFFF"/>
                </a:solidFill>
              </a:rPr>
              <a:t>Secondary, audited, public data</a:t>
            </a:r>
            <a:endParaRPr lang="en-US" sz="1400" dirty="0"/>
          </a:p>
          <a:p>
            <a:pPr marL="342900" indent="-342900">
              <a:spcAft>
                <a:spcPts val="400"/>
              </a:spcAft>
              <a:buSzPct val="100000"/>
              <a:buChar char="•"/>
            </a:pPr>
            <a:r>
              <a:rPr lang="en-US" sz="1400" dirty="0">
                <a:solidFill>
                  <a:srgbClr val="FFFFFF"/>
                </a:solidFill>
              </a:rPr>
              <a:t>Descriptive trend analysis</a:t>
            </a:r>
            <a:endParaRPr lang="en-US" sz="1400" dirty="0"/>
          </a:p>
          <a:p>
            <a:pPr marL="342900" indent="-342900">
              <a:spcAft>
                <a:spcPts val="400"/>
              </a:spcAft>
              <a:buSzPct val="100000"/>
              <a:buChar char="•"/>
            </a:pPr>
            <a:r>
              <a:rPr lang="en-US" sz="1400" dirty="0">
                <a:solidFill>
                  <a:srgbClr val="FFFFFF"/>
                </a:solidFill>
              </a:rPr>
              <a:t>Period: 2020-21 to 2024-25</a:t>
            </a:r>
            <a:endParaRPr lang="en-US" sz="1400" dirty="0"/>
          </a:p>
        </p:txBody>
      </p:sp>
      <p:sp>
        <p:nvSpPr>
          <p:cNvPr id="46" name="Formula card"/>
          <p:cNvSpPr/>
          <p:nvPr/>
        </p:nvSpPr>
        <p:spPr>
          <a:xfrm>
            <a:off x="4754880" y="4160520"/>
            <a:ext cx="6766560" cy="2103120"/>
          </a:xfrm>
          <a:prstGeom prst="roundRect">
            <a:avLst>
              <a:gd name="adj" fmla="val 3478"/>
            </a:avLst>
          </a:prstGeom>
          <a:solidFill>
            <a:srgbClr val="FFFFFF"/>
          </a:solidFill>
          <a:ln/>
        </p:spPr>
      </p:sp>
      <p:sp>
        <p:nvSpPr>
          <p:cNvPr id="47" name="Text 45"/>
          <p:cNvSpPr txBox="1"/>
          <p:nvPr/>
        </p:nvSpPr>
        <p:spPr>
          <a:xfrm>
            <a:off x="4983480" y="4297680"/>
            <a:ext cx="6309360" cy="320040"/>
          </a:xfrm>
          <a:prstGeom prst="rect">
            <a:avLst/>
          </a:prstGeom>
          <a:noFill/>
          <a:ln/>
        </p:spPr>
        <p:txBody>
          <a:bodyPr wrap="square" lIns="0" tIns="0" rIns="0" bIns="0" rtlCol="0" anchor="t"/>
          <a:lstStyle/>
          <a:p>
            <a:pPr indent="0" marL="0">
              <a:buNone/>
            </a:pPr>
            <a:r>
              <a:rPr lang="en-US" sz="1600" b="1" dirty="0">
                <a:solidFill>
                  <a:srgbClr val="006EB8"/>
                </a:solidFill>
                <a:latin typeface="+mj-lt" pitchFamily="34" charset="0"/>
                <a:ea typeface="+mj-lt" pitchFamily="34" charset="-122"/>
                <a:cs typeface="+mj-lt" pitchFamily="34" charset="-120"/>
              </a:rPr>
              <a:t>Key formulas</a:t>
            </a:r>
            <a:endParaRPr lang="en-US" sz="1600" dirty="0"/>
          </a:p>
        </p:txBody>
      </p:sp>
      <p:sp>
        <p:nvSpPr>
          <p:cNvPr id="48" name="Text 46"/>
          <p:cNvSpPr txBox="1"/>
          <p:nvPr/>
        </p:nvSpPr>
        <p:spPr>
          <a:xfrm>
            <a:off x="4983480" y="4709160"/>
            <a:ext cx="6309360" cy="1463040"/>
          </a:xfrm>
          <a:prstGeom prst="rect">
            <a:avLst/>
          </a:prstGeom>
          <a:noFill/>
          <a:ln/>
        </p:spPr>
        <p:txBody>
          <a:bodyPr wrap="square" lIns="0" tIns="0" rIns="0" bIns="0" rtlCol="0" anchor="t"/>
          <a:lstStyle/>
          <a:p>
            <a:pPr indent="0" marL="0">
              <a:spcAft>
                <a:spcPts val="300"/>
              </a:spcAft>
              <a:buNone/>
            </a:pPr>
            <a:r>
              <a:rPr lang="en-US" sz="1400" i="1" dirty="0">
                <a:solidFill>
                  <a:schemeClr val="tx1"/>
                </a:solidFill>
                <a:latin typeface="+mj-lt" pitchFamily="34" charset="0"/>
                <a:ea typeface="+mj-lt" pitchFamily="34" charset="-122"/>
                <a:cs typeface="+mj-lt" pitchFamily="34" charset="-120"/>
              </a:rPr>
              <a:t>YoY % = (Current − Previous) ÷ Previous × 100</a:t>
            </a:r>
            <a:endParaRPr lang="en-US" sz="1400" dirty="0"/>
          </a:p>
          <a:p>
            <a:pPr indent="0" marL="0">
              <a:spcAft>
                <a:spcPts val="300"/>
              </a:spcAft>
              <a:buNone/>
            </a:pPr>
            <a:r>
              <a:rPr lang="en-US" sz="1400" i="1" dirty="0">
                <a:solidFill>
                  <a:schemeClr val="tx1"/>
                </a:solidFill>
                <a:latin typeface="+mj-lt" pitchFamily="34" charset="0"/>
                <a:ea typeface="+mj-lt" pitchFamily="34" charset="-122"/>
                <a:cs typeface="+mj-lt" pitchFamily="34" charset="-120"/>
              </a:rPr>
              <a:t>CAGR = (Ending ÷ Beginning)^(1/4) − 1</a:t>
            </a:r>
            <a:endParaRPr lang="en-US" sz="1400" dirty="0"/>
          </a:p>
          <a:p>
            <a:pPr indent="0" marL="0">
              <a:spcAft>
                <a:spcPts val="300"/>
              </a:spcAft>
              <a:buNone/>
            </a:pPr>
            <a:r>
              <a:rPr lang="en-US" sz="1400" i="1" dirty="0">
                <a:solidFill>
                  <a:schemeClr val="tx1"/>
                </a:solidFill>
                <a:latin typeface="+mj-lt" pitchFamily="34" charset="0"/>
                <a:ea typeface="+mj-lt" pitchFamily="34" charset="-122"/>
                <a:cs typeface="+mj-lt" pitchFamily="34" charset="-120"/>
              </a:rPr>
              <a:t>Economic Cost = Procurement Cost + Distribution Cost</a:t>
            </a:r>
            <a:endParaRPr lang="en-US" sz="1400" dirty="0"/>
          </a:p>
          <a:p>
            <a:pPr indent="0" marL="0">
              <a:spcAft>
                <a:spcPts val="300"/>
              </a:spcAft>
              <a:buNone/>
            </a:pPr>
            <a:r>
              <a:rPr lang="en-US" sz="1400" i="1" dirty="0">
                <a:solidFill>
                  <a:schemeClr val="tx1"/>
                </a:solidFill>
                <a:latin typeface="+mj-lt" pitchFamily="34" charset="0"/>
                <a:ea typeface="+mj-lt" pitchFamily="34" charset="-122"/>
                <a:cs typeface="+mj-lt" pitchFamily="34" charset="-120"/>
              </a:rPr>
              <a:t>Consumer Subsidy = Economic Cost − CIP</a:t>
            </a:r>
            <a:endParaRPr lang="en-US" sz="1400" dirty="0"/>
          </a:p>
          <a:p>
            <a:pPr indent="0" marL="0">
              <a:spcAft>
                <a:spcPts val="300"/>
              </a:spcAft>
              <a:buNone/>
            </a:pPr>
            <a:r>
              <a:rPr lang="en-US" sz="1400" i="1" dirty="0">
                <a:solidFill>
                  <a:schemeClr val="tx1"/>
                </a:solidFill>
                <a:latin typeface="+mj-lt" pitchFamily="34" charset="0"/>
                <a:ea typeface="+mj-lt" pitchFamily="34" charset="-122"/>
                <a:cs typeface="+mj-lt" pitchFamily="34" charset="-120"/>
              </a:rPr>
              <a:t>Total Food Subsidy = Subsidy per qtl × Offtake ÷ 100</a:t>
            </a:r>
            <a:endParaRPr lang="en-US" sz="14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Tools, Technologies and Resources</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Simple, public and reproducible: official reports analysed in Excel</a:t>
            </a:r>
            <a:endParaRPr lang="en-US" sz="1600" dirty="0"/>
          </a:p>
        </p:txBody>
      </p:sp>
      <p:sp>
        <p:nvSpPr>
          <p:cNvPr id="4" name="!!Chip1"/>
          <p:cNvSpPr/>
          <p:nvPr/>
        </p:nvSpPr>
        <p:spPr>
          <a:xfrm>
            <a:off x="10241280" y="384048"/>
            <a:ext cx="411480" cy="411480"/>
          </a:xfrm>
          <a:prstGeom prst="rect">
            <a:avLst/>
          </a:prstGeom>
          <a:solidFill>
            <a:srgbClr val="BB7125"/>
          </a:solidFill>
          <a:ln/>
        </p:spPr>
      </p:sp>
      <p:sp>
        <p:nvSpPr>
          <p:cNvPr id="5" name="!!Chip2"/>
          <p:cNvSpPr/>
          <p:nvPr/>
        </p:nvSpPr>
        <p:spPr>
          <a:xfrm>
            <a:off x="10698480" y="384048"/>
            <a:ext cx="411480" cy="411480"/>
          </a:xfrm>
          <a:prstGeom prst="rect">
            <a:avLst/>
          </a:prstGeom>
          <a:solidFill>
            <a:srgbClr val="D96629"/>
          </a:solidFill>
          <a:ln/>
        </p:spPr>
      </p:sp>
      <p:sp>
        <p:nvSpPr>
          <p:cNvPr id="6" name="!!Chip3"/>
          <p:cNvSpPr/>
          <p:nvPr/>
        </p:nvSpPr>
        <p:spPr>
          <a:xfrm>
            <a:off x="11155680" y="384048"/>
            <a:ext cx="411480" cy="411480"/>
          </a:xfrm>
          <a:prstGeom prst="rect">
            <a:avLst/>
          </a:prstGeom>
          <a:solidFill>
            <a:srgbClr val="00939B"/>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131</a:t>
            </a:r>
            <a:endParaRPr lang="en-US" sz="1000" dirty="0"/>
          </a:p>
        </p:txBody>
      </p:sp>
      <p:graphicFrame>
        <p:nvGraphicFramePr>
          <p:cNvPr id="9" name="Data source table"/>
          <p:cNvGraphicFramePr>
            <a:graphicFrameLocks noGrp="1"/>
          </p:cNvGraphicFramePr>
          <p:nvPr>
            <p:extLst>
              <p:ext uri="{D42A27DB-BD31-4B8C-83A1-F6EECF244321}">
                <p14:modId xmlns:p14="http://schemas.microsoft.com/office/powerpoint/2010/main" val="1579011935"/>
              </p:ext>
            </p:extLst>
          </p:nvPr>
        </p:nvGraphicFramePr>
        <p:xfrm>
          <a:off x="548640" y="1600200"/>
          <a:ext cx="6400800" cy="914400"/>
        </p:xfrm>
        <a:graphic>
          <a:graphicData uri="http://schemas.openxmlformats.org/drawingml/2006/table">
            <a:tbl>
              <a:tblPr/>
              <a:tblGrid>
                <a:gridCol w="3840480"/>
                <a:gridCol w="2560320"/>
              </a:tblGrid>
              <a:tr h="411480">
                <a:tc>
                  <a:txBody>
                    <a:bodyPr/>
                    <a:lstStyle/>
                    <a:p>
                      <a:pPr indent="0" marL="0">
                        <a:buNone/>
                      </a:pPr>
                      <a:r>
                        <a:rPr lang="en-US" sz="1400" b="1" dirty="0">
                          <a:solidFill>
                            <a:srgbClr val="FFFFFF"/>
                          </a:solidFill>
                        </a:rPr>
                        <a:t>Data collected</a:t>
                      </a:r>
                      <a:endParaRPr lang="en-US" sz="1400" dirty="0"/>
                    </a:p>
                  </a:txBody>
                  <a:tcPr marL="109728" marR="109728"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59256A"/>
                    </a:solidFill>
                  </a:tcPr>
                </a:tc>
                <a:tc>
                  <a:txBody>
                    <a:bodyPr/>
                    <a:lstStyle/>
                    <a:p>
                      <a:pPr indent="0" marL="0">
                        <a:buNone/>
                      </a:pPr>
                      <a:r>
                        <a:rPr lang="en-US" sz="1400" b="1" dirty="0">
                          <a:solidFill>
                            <a:srgbClr val="FFFFFF"/>
                          </a:solidFill>
                        </a:rPr>
                        <a:t>Annual Report section</a:t>
                      </a:r>
                      <a:endParaRPr lang="en-US" sz="1400" dirty="0"/>
                    </a:p>
                  </a:txBody>
                  <a:tcPr marL="109728" marR="109728" marT="36576" marB="36576">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59256A"/>
                    </a:solidFill>
                  </a:tcPr>
                </a:tc>
              </a:tr>
              <a:tr h="594360">
                <a:tc>
                  <a:txBody>
                    <a:bodyPr/>
                    <a:lstStyle/>
                    <a:p>
                      <a:pPr indent="0" marL="0">
                        <a:buNone/>
                      </a:pPr>
                      <a:r>
                        <a:rPr lang="en-US" sz="1400" dirty="0">
                          <a:solidFill>
                            <a:srgbClr val="051230"/>
                          </a:solidFill>
                        </a:rPr>
                        <a:t>Procurement and distribution cost per quintal</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b="1" dirty="0">
                          <a:solidFill>
                            <a:srgbClr val="051230"/>
                          </a:solidFill>
                        </a:rPr>
                        <a:t>Cost Analysis</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051230"/>
                          </a:solidFill>
                        </a:rPr>
                        <a:t>Consumer subsidy, buffer carrying cost, Total Food Subsidy</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400" b="1" dirty="0">
                          <a:solidFill>
                            <a:srgbClr val="051230"/>
                          </a:solidFill>
                        </a:rPr>
                        <a:t>Total Food Subsidy</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r>
              <a:tr h="594360">
                <a:tc>
                  <a:txBody>
                    <a:bodyPr/>
                    <a:lstStyle/>
                    <a:p>
                      <a:pPr indent="0" marL="0">
                        <a:buNone/>
                      </a:pPr>
                      <a:r>
                        <a:rPr lang="en-US" sz="1400" dirty="0">
                          <a:solidFill>
                            <a:srgbClr val="051230"/>
                          </a:solidFill>
                        </a:rPr>
                        <a:t>Storage capacity, stock position, freight</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b="1" dirty="0">
                          <a:solidFill>
                            <a:srgbClr val="051230"/>
                          </a:solidFill>
                        </a:rPr>
                        <a:t>Operations at a Glance</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051230"/>
                          </a:solidFill>
                        </a:rPr>
                        <a:t>Net worth, capital employed, borrowing</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c>
                  <a:txBody>
                    <a:bodyPr/>
                    <a:lstStyle/>
                    <a:p>
                      <a:pPr indent="0" marL="0">
                        <a:buNone/>
                      </a:pPr>
                      <a:r>
                        <a:rPr lang="en-US" sz="1400" b="1" dirty="0">
                          <a:solidFill>
                            <a:srgbClr val="051230"/>
                          </a:solidFill>
                        </a:rPr>
                        <a:t>Financial Highlights</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DD4BD"/>
                    </a:solidFill>
                  </a:tcPr>
                </a:tc>
              </a:tr>
              <a:tr h="594360">
                <a:tc>
                  <a:txBody>
                    <a:bodyPr/>
                    <a:lstStyle/>
                    <a:p>
                      <a:pPr indent="0" marL="0">
                        <a:buNone/>
                      </a:pPr>
                      <a:r>
                        <a:rPr lang="en-US" sz="1400" dirty="0">
                          <a:solidFill>
                            <a:srgbClr val="051230"/>
                          </a:solidFill>
                        </a:rPr>
                        <a:t>Procurement volumes (wheat, rice)</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c>
                  <a:txBody>
                    <a:bodyPr/>
                    <a:lstStyle/>
                    <a:p>
                      <a:pPr indent="0" marL="0">
                        <a:buNone/>
                      </a:pPr>
                      <a:r>
                        <a:rPr lang="en-US" sz="1400" b="1" dirty="0">
                          <a:solidFill>
                            <a:srgbClr val="051230"/>
                          </a:solidFill>
                        </a:rPr>
                        <a:t>Directors' Report</a:t>
                      </a:r>
                      <a:endParaRPr lang="en-US" sz="1400" dirty="0"/>
                    </a:p>
                  </a:txBody>
                  <a:tcPr marL="109728" marR="109728" marT="36576" marB="36576" anchor="ctr">
                    <a:lnL w="6350" cap="flat" cmpd="sng" algn="ctr">
                      <a:solidFill>
                        <a:srgbClr val="F48067"/>
                      </a:solidFill>
                      <a:prstDash val="solid"/>
                      <a:round/>
                      <a:headEnd type="none" w="med" len="med"/>
                      <a:tailEnd type="none" w="med" len="med"/>
                    </a:lnL>
                    <a:lnR w="6350" cap="flat" cmpd="sng" algn="ctr">
                      <a:solidFill>
                        <a:srgbClr val="F48067"/>
                      </a:solidFill>
                      <a:prstDash val="solid"/>
                      <a:round/>
                      <a:headEnd type="none" w="med" len="med"/>
                      <a:tailEnd type="none" w="med" len="med"/>
                    </a:lnR>
                    <a:lnT w="6350" cap="flat" cmpd="sng" algn="ctr">
                      <a:solidFill>
                        <a:srgbClr val="F48067"/>
                      </a:solidFill>
                      <a:prstDash val="solid"/>
                      <a:round/>
                      <a:headEnd type="none" w="med" len="med"/>
                      <a:tailEnd type="none" w="med" len="med"/>
                    </a:lnT>
                    <a:lnB w="6350" cap="flat" cmpd="sng" algn="ctr">
                      <a:solidFill>
                        <a:srgbClr val="F48067"/>
                      </a:solidFill>
                      <a:prstDash val="solid"/>
                      <a:round/>
                      <a:headEnd type="none" w="med" len="med"/>
                      <a:tailEnd type="none" w="med" len="med"/>
                    </a:lnB>
                    <a:solidFill>
                      <a:srgbClr val="FFFFFF"/>
                    </a:solidFill>
                  </a:tcPr>
                </a:tc>
              </a:tr>
            </a:tbl>
          </a:graphicData>
        </a:graphic>
      </p:graphicFrame>
      <p:sp>
        <p:nvSpPr>
          <p:cNvPr id="9" name="Dataset banner"/>
          <p:cNvSpPr/>
          <p:nvPr/>
        </p:nvSpPr>
        <p:spPr>
          <a:xfrm>
            <a:off x="548640" y="5440680"/>
            <a:ext cx="6400800" cy="822960"/>
          </a:xfrm>
          <a:prstGeom prst="roundRect">
            <a:avLst>
              <a:gd name="adj" fmla="val 8889"/>
            </a:avLst>
          </a:prstGeom>
          <a:solidFill>
            <a:schemeClr val="accent5"/>
          </a:solidFill>
          <a:ln/>
        </p:spPr>
      </p:sp>
      <p:sp>
        <p:nvSpPr>
          <p:cNvPr id="10" name="Text 7"/>
          <p:cNvSpPr txBox="1"/>
          <p:nvPr/>
        </p:nvSpPr>
        <p:spPr>
          <a:xfrm>
            <a:off x="777240" y="5440680"/>
            <a:ext cx="5943600" cy="822960"/>
          </a:xfrm>
          <a:prstGeom prst="rect">
            <a:avLst/>
          </a:prstGeom>
          <a:noFill/>
          <a:ln/>
        </p:spPr>
        <p:txBody>
          <a:bodyPr wrap="square" lIns="0" tIns="0" rIns="0" bIns="0" rtlCol="0" anchor="ctr"/>
          <a:lstStyle/>
          <a:p>
            <a:pPr indent="0" marL="0">
              <a:buNone/>
            </a:pPr>
            <a:r>
              <a:rPr lang="en-US" sz="1600" b="1" dirty="0">
                <a:solidFill>
                  <a:schemeClr val="accent1"/>
                </a:solidFill>
              </a:rPr>
              <a:t>5 reports × about 250-280 pages </a:t>
            </a:r>
            <a:pPr indent="0" marL="0">
              <a:buNone/>
            </a:pPr>
            <a:r>
              <a:rPr lang="en-US" sz="1600" dirty="0">
                <a:solidFill>
                  <a:srgbClr val="FFFFFF"/>
                </a:solidFill>
              </a:rPr>
              <a:t>consolidated into one master dataset</a:t>
            </a:r>
            <a:endParaRPr lang="en-US" sz="1600" dirty="0"/>
          </a:p>
        </p:txBody>
      </p:sp>
      <p:sp>
        <p:nvSpPr>
          <p:cNvPr id="11" name="Resource card 1"/>
          <p:cNvSpPr/>
          <p:nvPr/>
        </p:nvSpPr>
        <p:spPr>
          <a:xfrm>
            <a:off x="7223760" y="1600200"/>
            <a:ext cx="4297680" cy="1463040"/>
          </a:xfrm>
          <a:prstGeom prst="roundRect">
            <a:avLst>
              <a:gd name="adj" fmla="val 5000"/>
            </a:avLst>
          </a:prstGeom>
          <a:solidFill>
            <a:schemeClr val="accent4"/>
          </a:solidFill>
          <a:ln/>
        </p:spPr>
      </p:sp>
      <p:sp>
        <p:nvSpPr>
          <p:cNvPr id="12" name="Text 9"/>
          <p:cNvSpPr txBox="1"/>
          <p:nvPr/>
        </p:nvSpPr>
        <p:spPr>
          <a:xfrm>
            <a:off x="7452360" y="1737360"/>
            <a:ext cx="3840480" cy="320040"/>
          </a:xfrm>
          <a:prstGeom prst="rect">
            <a:avLst/>
          </a:prstGeom>
          <a:noFill/>
          <a:ln/>
        </p:spPr>
        <p:txBody>
          <a:bodyPr wrap="square" lIns="0" tIns="0" rIns="0" bIns="0" rtlCol="0" anchor="t"/>
          <a:lstStyle/>
          <a:p>
            <a:pPr indent="0" marL="0">
              <a:buNone/>
            </a:pPr>
            <a:r>
              <a:rPr lang="en-US" sz="1600" b="1" dirty="0">
                <a:solidFill>
                  <a:srgbClr val="FFFFFF"/>
                </a:solidFill>
                <a:latin typeface="+mj-lt" pitchFamily="34" charset="0"/>
                <a:ea typeface="+mj-lt" pitchFamily="34" charset="-122"/>
                <a:cs typeface="+mj-lt" pitchFamily="34" charset="-120"/>
              </a:rPr>
              <a:t>Software</a:t>
            </a:r>
            <a:endParaRPr lang="en-US" sz="1600" dirty="0"/>
          </a:p>
        </p:txBody>
      </p:sp>
      <p:sp>
        <p:nvSpPr>
          <p:cNvPr id="13" name="Text 10"/>
          <p:cNvSpPr txBox="1"/>
          <p:nvPr/>
        </p:nvSpPr>
        <p:spPr>
          <a:xfrm>
            <a:off x="7452360" y="2130552"/>
            <a:ext cx="3840480" cy="868680"/>
          </a:xfrm>
          <a:prstGeom prst="rect">
            <a:avLst/>
          </a:prstGeom>
          <a:noFill/>
          <a:ln/>
        </p:spPr>
        <p:txBody>
          <a:bodyPr wrap="square" lIns="0" tIns="0" rIns="0" bIns="0" rtlCol="0" anchor="t"/>
          <a:lstStyle/>
          <a:p>
            <a:pPr indent="0" marL="0">
              <a:buNone/>
            </a:pPr>
            <a:r>
              <a:rPr lang="en-US" sz="1400" dirty="0">
                <a:solidFill>
                  <a:srgbClr val="FFFFFF"/>
                </a:solidFill>
              </a:rPr>
              <a:t>MS Excel master workbook (FCI_Master_Data_2020-25.xlsx), PDF reader, MS Word for the report.</a:t>
            </a:r>
            <a:endParaRPr lang="en-US" sz="1400" dirty="0"/>
          </a:p>
        </p:txBody>
      </p:sp>
      <p:sp>
        <p:nvSpPr>
          <p:cNvPr id="14" name="Resource card 2"/>
          <p:cNvSpPr/>
          <p:nvPr/>
        </p:nvSpPr>
        <p:spPr>
          <a:xfrm>
            <a:off x="7223760" y="3200400"/>
            <a:ext cx="4297680" cy="1188720"/>
          </a:xfrm>
          <a:prstGeom prst="roundRect">
            <a:avLst>
              <a:gd name="adj" fmla="val 6154"/>
            </a:avLst>
          </a:prstGeom>
          <a:solidFill>
            <a:schemeClr val="accent6"/>
          </a:solidFill>
          <a:ln/>
        </p:spPr>
      </p:sp>
      <p:sp>
        <p:nvSpPr>
          <p:cNvPr id="15" name="Text 12"/>
          <p:cNvSpPr txBox="1"/>
          <p:nvPr/>
        </p:nvSpPr>
        <p:spPr>
          <a:xfrm>
            <a:off x="7452360" y="3337560"/>
            <a:ext cx="3840480" cy="320040"/>
          </a:xfrm>
          <a:prstGeom prst="rect">
            <a:avLst/>
          </a:prstGeom>
          <a:noFill/>
          <a:ln/>
        </p:spPr>
        <p:txBody>
          <a:bodyPr wrap="square" lIns="0" tIns="0" rIns="0" bIns="0" rtlCol="0" anchor="t"/>
          <a:lstStyle/>
          <a:p>
            <a:pPr indent="0" marL="0">
              <a:buNone/>
            </a:pPr>
            <a:r>
              <a:rPr lang="en-US" sz="1600" b="1" dirty="0">
                <a:solidFill>
                  <a:srgbClr val="051230"/>
                </a:solidFill>
                <a:latin typeface="+mj-lt" pitchFamily="34" charset="0"/>
                <a:ea typeface="+mj-lt" pitchFamily="34" charset="-122"/>
                <a:cs typeface="+mj-lt" pitchFamily="34" charset="-120"/>
              </a:rPr>
              <a:t>Hardware</a:t>
            </a:r>
            <a:endParaRPr lang="en-US" sz="1600" dirty="0"/>
          </a:p>
        </p:txBody>
      </p:sp>
      <p:sp>
        <p:nvSpPr>
          <p:cNvPr id="16" name="Text 13"/>
          <p:cNvSpPr txBox="1"/>
          <p:nvPr/>
        </p:nvSpPr>
        <p:spPr>
          <a:xfrm>
            <a:off x="7452360" y="3730752"/>
            <a:ext cx="3840480" cy="594360"/>
          </a:xfrm>
          <a:prstGeom prst="rect">
            <a:avLst/>
          </a:prstGeom>
          <a:noFill/>
          <a:ln/>
        </p:spPr>
        <p:txBody>
          <a:bodyPr wrap="square" lIns="0" tIns="0" rIns="0" bIns="0" rtlCol="0" anchor="t"/>
          <a:lstStyle/>
          <a:p>
            <a:pPr indent="0" marL="0">
              <a:buNone/>
            </a:pPr>
            <a:r>
              <a:rPr lang="en-US" sz="1400" dirty="0">
                <a:solidFill>
                  <a:srgbClr val="051230"/>
                </a:solidFill>
              </a:rPr>
              <a:t>Standard laptop or PC; no special hardware is required.</a:t>
            </a:r>
            <a:endParaRPr lang="en-US" sz="1400" dirty="0"/>
          </a:p>
        </p:txBody>
      </p:sp>
      <p:sp>
        <p:nvSpPr>
          <p:cNvPr id="17" name="Resource card 3"/>
          <p:cNvSpPr/>
          <p:nvPr/>
        </p:nvSpPr>
        <p:spPr>
          <a:xfrm>
            <a:off x="7223760" y="4526280"/>
            <a:ext cx="4297680" cy="1737360"/>
          </a:xfrm>
          <a:prstGeom prst="roundRect">
            <a:avLst>
              <a:gd name="adj" fmla="val 4211"/>
            </a:avLst>
          </a:prstGeom>
          <a:solidFill>
            <a:schemeClr val="accent2"/>
          </a:solidFill>
          <a:ln/>
        </p:spPr>
      </p:sp>
      <p:sp>
        <p:nvSpPr>
          <p:cNvPr id="18" name="Text 15"/>
          <p:cNvSpPr txBox="1"/>
          <p:nvPr/>
        </p:nvSpPr>
        <p:spPr>
          <a:xfrm>
            <a:off x="7452360" y="4663440"/>
            <a:ext cx="3840480" cy="320040"/>
          </a:xfrm>
          <a:prstGeom prst="rect">
            <a:avLst/>
          </a:prstGeom>
          <a:noFill/>
          <a:ln/>
        </p:spPr>
        <p:txBody>
          <a:bodyPr wrap="square" lIns="0" tIns="0" rIns="0" bIns="0" rtlCol="0" anchor="t"/>
          <a:lstStyle/>
          <a:p>
            <a:pPr indent="0" marL="0">
              <a:buNone/>
            </a:pPr>
            <a:r>
              <a:rPr lang="en-US" sz="1600" b="1" dirty="0">
                <a:solidFill>
                  <a:srgbClr val="FFFFFF"/>
                </a:solidFill>
                <a:latin typeface="+mj-lt" pitchFamily="34" charset="0"/>
                <a:ea typeface="+mj-lt" pitchFamily="34" charset="-122"/>
                <a:cs typeface="+mj-lt" pitchFamily="34" charset="-120"/>
              </a:rPr>
              <a:t>Why these tools</a:t>
            </a:r>
            <a:endParaRPr lang="en-US" sz="1600" dirty="0"/>
          </a:p>
        </p:txBody>
      </p:sp>
      <p:sp>
        <p:nvSpPr>
          <p:cNvPr id="19" name="Text 16"/>
          <p:cNvSpPr txBox="1"/>
          <p:nvPr/>
        </p:nvSpPr>
        <p:spPr>
          <a:xfrm>
            <a:off x="7452360" y="5056632"/>
            <a:ext cx="3840480" cy="1143000"/>
          </a:xfrm>
          <a:prstGeom prst="rect">
            <a:avLst/>
          </a:prstGeom>
          <a:noFill/>
          <a:ln/>
        </p:spPr>
        <p:txBody>
          <a:bodyPr wrap="square" lIns="0" tIns="0" rIns="0" bIns="0" rtlCol="0" anchor="t"/>
          <a:lstStyle/>
          <a:p>
            <a:pPr indent="0" marL="0">
              <a:buNone/>
            </a:pPr>
            <a:r>
              <a:rPr lang="en-US" sz="1400" dirty="0">
                <a:solidFill>
                  <a:srgbClr val="FFFFFF"/>
                </a:solidFill>
              </a:rPr>
              <a:t>Data is audited, public and comparable year to year; Excel covers YoY, CAGR and tables; every number can be re-traced.</a:t>
            </a:r>
            <a:endParaRPr lang="en-US" sz="14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Work Completed So Far</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Data, analysis and findings are done; verification and polishing remain</a:t>
            </a:r>
            <a:endParaRPr lang="en-US" sz="1600" dirty="0"/>
          </a:p>
        </p:txBody>
      </p:sp>
      <p:sp>
        <p:nvSpPr>
          <p:cNvPr id="4" name="!!Chip1"/>
          <p:cNvSpPr/>
          <p:nvPr/>
        </p:nvSpPr>
        <p:spPr>
          <a:xfrm>
            <a:off x="10241280" y="384048"/>
            <a:ext cx="411480" cy="411480"/>
          </a:xfrm>
          <a:prstGeom prst="rect">
            <a:avLst/>
          </a:prstGeom>
          <a:solidFill>
            <a:srgbClr val="D6B43E"/>
          </a:solidFill>
          <a:ln/>
        </p:spPr>
      </p:sp>
      <p:sp>
        <p:nvSpPr>
          <p:cNvPr id="5" name="!!Chip2"/>
          <p:cNvSpPr/>
          <p:nvPr/>
        </p:nvSpPr>
        <p:spPr>
          <a:xfrm>
            <a:off x="10698480" y="384048"/>
            <a:ext cx="411480" cy="411480"/>
          </a:xfrm>
          <a:prstGeom prst="rect">
            <a:avLst/>
          </a:prstGeom>
          <a:solidFill>
            <a:srgbClr val="FCB315"/>
          </a:solidFill>
          <a:ln/>
        </p:spPr>
      </p:sp>
      <p:sp>
        <p:nvSpPr>
          <p:cNvPr id="6" name="!!Chip3"/>
          <p:cNvSpPr/>
          <p:nvPr/>
        </p:nvSpPr>
        <p:spPr>
          <a:xfrm>
            <a:off x="11155680" y="384048"/>
            <a:ext cx="411480" cy="411480"/>
          </a:xfrm>
          <a:prstGeom prst="rect">
            <a:avLst/>
          </a:prstGeom>
          <a:solidFill>
            <a:srgbClr val="0093A5"/>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148</a:t>
            </a:r>
            <a:endParaRPr lang="en-US" sz="1000" dirty="0"/>
          </a:p>
        </p:txBody>
      </p:sp>
      <p:sp>
        <p:nvSpPr>
          <p:cNvPr id="8" name="KPI tile 1"/>
          <p:cNvSpPr/>
          <p:nvPr/>
        </p:nvSpPr>
        <p:spPr>
          <a:xfrm>
            <a:off x="548640" y="1600200"/>
            <a:ext cx="2606040" cy="1051560"/>
          </a:xfrm>
          <a:prstGeom prst="roundRect">
            <a:avLst>
              <a:gd name="adj" fmla="val 6957"/>
            </a:avLst>
          </a:prstGeom>
          <a:solidFill>
            <a:srgbClr val="FFFFFF"/>
          </a:solidFill>
          <a:ln/>
        </p:spPr>
      </p:sp>
      <p:sp>
        <p:nvSpPr>
          <p:cNvPr id="9" name="Text 7"/>
          <p:cNvSpPr txBox="1"/>
          <p:nvPr/>
        </p:nvSpPr>
        <p:spPr>
          <a:xfrm>
            <a:off x="731520" y="1691640"/>
            <a:ext cx="822960" cy="868680"/>
          </a:xfrm>
          <a:prstGeom prst="rect">
            <a:avLst/>
          </a:prstGeom>
          <a:noFill/>
          <a:ln/>
        </p:spPr>
        <p:txBody>
          <a:bodyPr wrap="square" lIns="0" tIns="0" rIns="0" bIns="0" rtlCol="0" anchor="ctr"/>
          <a:lstStyle/>
          <a:p>
            <a:pPr indent="0" marL="0">
              <a:buNone/>
            </a:pPr>
            <a:r>
              <a:rPr lang="en-US" sz="4400" b="1" dirty="0">
                <a:solidFill>
                  <a:schemeClr val="accent2"/>
                </a:solidFill>
                <a:latin typeface="+mj-lt" pitchFamily="34" charset="0"/>
                <a:ea typeface="+mj-lt" pitchFamily="34" charset="-122"/>
                <a:cs typeface="+mj-lt" pitchFamily="34" charset="-120"/>
              </a:rPr>
              <a:t>5</a:t>
            </a:r>
            <a:endParaRPr lang="en-US" sz="4400" dirty="0"/>
          </a:p>
        </p:txBody>
      </p:sp>
      <p:sp>
        <p:nvSpPr>
          <p:cNvPr id="10" name="Text 8"/>
          <p:cNvSpPr txBox="1"/>
          <p:nvPr/>
        </p:nvSpPr>
        <p:spPr>
          <a:xfrm>
            <a:off x="1600200" y="1691640"/>
            <a:ext cx="1463040" cy="868680"/>
          </a:xfrm>
          <a:prstGeom prst="rect">
            <a:avLst/>
          </a:prstGeom>
          <a:noFill/>
          <a:ln/>
        </p:spPr>
        <p:txBody>
          <a:bodyPr wrap="square" lIns="0" tIns="0" rIns="0" bIns="0" rtlCol="0" anchor="ctr"/>
          <a:lstStyle/>
          <a:p>
            <a:pPr indent="0" marL="0">
              <a:buNone/>
            </a:pPr>
            <a:r>
              <a:rPr lang="en-US" sz="1400" dirty="0">
                <a:solidFill>
                  <a:schemeClr val="tx1"/>
                </a:solidFill>
              </a:rPr>
              <a:t>Annual Reports analysed</a:t>
            </a:r>
            <a:endParaRPr lang="en-US" sz="1400" dirty="0"/>
          </a:p>
        </p:txBody>
      </p:sp>
      <p:sp>
        <p:nvSpPr>
          <p:cNvPr id="11" name="KPI tile 2"/>
          <p:cNvSpPr/>
          <p:nvPr/>
        </p:nvSpPr>
        <p:spPr>
          <a:xfrm>
            <a:off x="3337560" y="1600200"/>
            <a:ext cx="2606040" cy="1051560"/>
          </a:xfrm>
          <a:prstGeom prst="roundRect">
            <a:avLst>
              <a:gd name="adj" fmla="val 6957"/>
            </a:avLst>
          </a:prstGeom>
          <a:solidFill>
            <a:srgbClr val="FFFFFF"/>
          </a:solidFill>
          <a:ln/>
        </p:spPr>
      </p:sp>
      <p:sp>
        <p:nvSpPr>
          <p:cNvPr id="12" name="Text 10"/>
          <p:cNvSpPr txBox="1"/>
          <p:nvPr/>
        </p:nvSpPr>
        <p:spPr>
          <a:xfrm>
            <a:off x="3520440" y="1691640"/>
            <a:ext cx="822960" cy="86868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12</a:t>
            </a:r>
            <a:endParaRPr lang="en-US" sz="4400" dirty="0"/>
          </a:p>
        </p:txBody>
      </p:sp>
      <p:sp>
        <p:nvSpPr>
          <p:cNvPr id="13" name="Text 11"/>
          <p:cNvSpPr txBox="1"/>
          <p:nvPr/>
        </p:nvSpPr>
        <p:spPr>
          <a:xfrm>
            <a:off x="4389120" y="1691640"/>
            <a:ext cx="1463040" cy="868680"/>
          </a:xfrm>
          <a:prstGeom prst="rect">
            <a:avLst/>
          </a:prstGeom>
          <a:noFill/>
          <a:ln/>
        </p:spPr>
        <p:txBody>
          <a:bodyPr wrap="square" lIns="0" tIns="0" rIns="0" bIns="0" rtlCol="0" anchor="ctr"/>
          <a:lstStyle/>
          <a:p>
            <a:pPr indent="0" marL="0">
              <a:buNone/>
            </a:pPr>
            <a:r>
              <a:rPr lang="en-US" sz="1400" dirty="0">
                <a:solidFill>
                  <a:schemeClr val="tx1"/>
                </a:solidFill>
              </a:rPr>
              <a:t>Analysis tables built</a:t>
            </a:r>
            <a:endParaRPr lang="en-US" sz="1400" dirty="0"/>
          </a:p>
        </p:txBody>
      </p:sp>
      <p:sp>
        <p:nvSpPr>
          <p:cNvPr id="14" name="KPI tile 3"/>
          <p:cNvSpPr/>
          <p:nvPr/>
        </p:nvSpPr>
        <p:spPr>
          <a:xfrm>
            <a:off x="6126480" y="1600200"/>
            <a:ext cx="2606040" cy="1051560"/>
          </a:xfrm>
          <a:prstGeom prst="roundRect">
            <a:avLst>
              <a:gd name="adj" fmla="val 6957"/>
            </a:avLst>
          </a:prstGeom>
          <a:solidFill>
            <a:srgbClr val="FFFFFF"/>
          </a:solidFill>
          <a:ln/>
        </p:spPr>
      </p:sp>
      <p:sp>
        <p:nvSpPr>
          <p:cNvPr id="15" name="Text 13"/>
          <p:cNvSpPr txBox="1"/>
          <p:nvPr/>
        </p:nvSpPr>
        <p:spPr>
          <a:xfrm>
            <a:off x="6309360" y="1691640"/>
            <a:ext cx="822960" cy="868680"/>
          </a:xfrm>
          <a:prstGeom prst="rect">
            <a:avLst/>
          </a:prstGeom>
          <a:noFill/>
          <a:ln/>
        </p:spPr>
        <p:txBody>
          <a:bodyPr wrap="square" lIns="0" tIns="0" rIns="0" bIns="0" rtlCol="0" anchor="ctr"/>
          <a:lstStyle/>
          <a:p>
            <a:pPr indent="0" marL="0">
              <a:buNone/>
            </a:pPr>
            <a:r>
              <a:rPr lang="en-US" sz="4400" b="1" dirty="0">
                <a:solidFill>
                  <a:schemeClr val="accent4"/>
                </a:solidFill>
                <a:latin typeface="+mj-lt" pitchFamily="34" charset="0"/>
                <a:ea typeface="+mj-lt" pitchFamily="34" charset="-122"/>
                <a:cs typeface="+mj-lt" pitchFamily="34" charset="-120"/>
              </a:rPr>
              <a:t>6</a:t>
            </a:r>
            <a:endParaRPr lang="en-US" sz="4400" dirty="0"/>
          </a:p>
        </p:txBody>
      </p:sp>
      <p:sp>
        <p:nvSpPr>
          <p:cNvPr id="16" name="Text 14"/>
          <p:cNvSpPr txBox="1"/>
          <p:nvPr/>
        </p:nvSpPr>
        <p:spPr>
          <a:xfrm>
            <a:off x="7178040" y="1691640"/>
            <a:ext cx="1463040" cy="868680"/>
          </a:xfrm>
          <a:prstGeom prst="rect">
            <a:avLst/>
          </a:prstGeom>
          <a:noFill/>
          <a:ln/>
        </p:spPr>
        <p:txBody>
          <a:bodyPr wrap="square" lIns="0" tIns="0" rIns="0" bIns="0" rtlCol="0" anchor="ctr"/>
          <a:lstStyle/>
          <a:p>
            <a:pPr indent="0" marL="0">
              <a:buNone/>
            </a:pPr>
            <a:r>
              <a:rPr lang="en-US" sz="1400" dirty="0">
                <a:solidFill>
                  <a:schemeClr val="tx1"/>
                </a:solidFill>
              </a:rPr>
              <a:t>Findings drawn</a:t>
            </a:r>
            <a:endParaRPr lang="en-US" sz="1400" dirty="0"/>
          </a:p>
        </p:txBody>
      </p:sp>
      <p:sp>
        <p:nvSpPr>
          <p:cNvPr id="17" name="KPI tile 4"/>
          <p:cNvSpPr/>
          <p:nvPr/>
        </p:nvSpPr>
        <p:spPr>
          <a:xfrm>
            <a:off x="8915400" y="1600200"/>
            <a:ext cx="2606040" cy="1051560"/>
          </a:xfrm>
          <a:prstGeom prst="roundRect">
            <a:avLst>
              <a:gd name="adj" fmla="val 6957"/>
            </a:avLst>
          </a:prstGeom>
          <a:solidFill>
            <a:srgbClr val="FFFFFF"/>
          </a:solidFill>
          <a:ln/>
        </p:spPr>
      </p:sp>
      <p:sp>
        <p:nvSpPr>
          <p:cNvPr id="18" name="Text 16"/>
          <p:cNvSpPr txBox="1"/>
          <p:nvPr/>
        </p:nvSpPr>
        <p:spPr>
          <a:xfrm>
            <a:off x="9098280" y="1691640"/>
            <a:ext cx="822960" cy="868680"/>
          </a:xfrm>
          <a:prstGeom prst="rect">
            <a:avLst/>
          </a:prstGeom>
          <a:noFill/>
          <a:ln/>
        </p:spPr>
        <p:txBody>
          <a:bodyPr wrap="square" lIns="0" tIns="0" rIns="0" bIns="0" rtlCol="0" anchor="ctr"/>
          <a:lstStyle/>
          <a:p>
            <a:pPr indent="0" marL="0">
              <a:buNone/>
            </a:pPr>
            <a:r>
              <a:rPr lang="en-US" sz="4400" b="1" dirty="0">
                <a:solidFill>
                  <a:schemeClr val="accent3"/>
                </a:solidFill>
                <a:latin typeface="+mj-lt" pitchFamily="34" charset="0"/>
                <a:ea typeface="+mj-lt" pitchFamily="34" charset="-122"/>
                <a:cs typeface="+mj-lt" pitchFamily="34" charset="-120"/>
              </a:rPr>
              <a:t>5</a:t>
            </a:r>
            <a:endParaRPr lang="en-US" sz="4400" dirty="0"/>
          </a:p>
        </p:txBody>
      </p:sp>
      <p:sp>
        <p:nvSpPr>
          <p:cNvPr id="19" name="Text 17"/>
          <p:cNvSpPr txBox="1"/>
          <p:nvPr/>
        </p:nvSpPr>
        <p:spPr>
          <a:xfrm>
            <a:off x="9966960" y="1691640"/>
            <a:ext cx="1463040" cy="868680"/>
          </a:xfrm>
          <a:prstGeom prst="rect">
            <a:avLst/>
          </a:prstGeom>
          <a:noFill/>
          <a:ln/>
        </p:spPr>
        <p:txBody>
          <a:bodyPr wrap="square" lIns="0" tIns="0" rIns="0" bIns="0" rtlCol="0" anchor="ctr"/>
          <a:lstStyle/>
          <a:p>
            <a:pPr indent="0" marL="0">
              <a:buNone/>
            </a:pPr>
            <a:r>
              <a:rPr lang="en-US" sz="1400" dirty="0">
                <a:solidFill>
                  <a:schemeClr val="tx1"/>
                </a:solidFill>
              </a:rPr>
              <a:t>Recommendations made</a:t>
            </a:r>
            <a:endParaRPr lang="en-US" sz="1400" dirty="0"/>
          </a:p>
        </p:txBody>
      </p:sp>
      <p:sp>
        <p:nvSpPr>
          <p:cNvPr id="20" name="Text 18"/>
          <p:cNvSpPr txBox="1"/>
          <p:nvPr/>
        </p:nvSpPr>
        <p:spPr>
          <a:xfrm>
            <a:off x="548640" y="2834640"/>
            <a:ext cx="6583680" cy="320040"/>
          </a:xfrm>
          <a:prstGeom prst="rect">
            <a:avLst/>
          </a:prstGeom>
          <a:noFill/>
          <a:ln/>
        </p:spPr>
        <p:txBody>
          <a:bodyPr wrap="square" lIns="0" tIns="0" rIns="0" bIns="0" rtlCol="0" anchor="t"/>
          <a:lstStyle/>
          <a:p>
            <a:pPr indent="0" marL="0">
              <a:buNone/>
            </a:pPr>
            <a:r>
              <a:rPr lang="en-US" sz="1700" b="1" dirty="0">
                <a:solidFill>
                  <a:srgbClr val="1A7444"/>
                </a:solidFill>
                <a:latin typeface="+mj-lt" pitchFamily="34" charset="0"/>
                <a:ea typeface="+mj-lt" pitchFamily="34" charset="-122"/>
                <a:cs typeface="+mj-lt" pitchFamily="34" charset="-120"/>
              </a:rPr>
              <a:t>Completed</a:t>
            </a:r>
            <a:endParaRPr lang="en-US" sz="1700" dirty="0"/>
          </a:p>
        </p:txBody>
      </p:sp>
      <p:sp>
        <p:nvSpPr>
          <p:cNvPr id="21" name="Done tick 1"/>
          <p:cNvSpPr/>
          <p:nvPr/>
        </p:nvSpPr>
        <p:spPr>
          <a:xfrm>
            <a:off x="548640" y="3273552"/>
            <a:ext cx="347472" cy="347472"/>
          </a:xfrm>
          <a:prstGeom prst="ellipse">
            <a:avLst/>
          </a:prstGeom>
          <a:solidFill>
            <a:schemeClr val="accent2"/>
          </a:solidFill>
          <a:ln/>
        </p:spPr>
      </p:sp>
      <p:sp>
        <p:nvSpPr>
          <p:cNvPr id="22" name="Text 20"/>
          <p:cNvSpPr txBox="1"/>
          <p:nvPr/>
        </p:nvSpPr>
        <p:spPr>
          <a:xfrm>
            <a:off x="548640" y="32735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a:t>
            </a:r>
            <a:endParaRPr lang="en-US" sz="1400" dirty="0"/>
          </a:p>
        </p:txBody>
      </p:sp>
      <p:sp>
        <p:nvSpPr>
          <p:cNvPr id="23" name="Text 21"/>
          <p:cNvSpPr txBox="1"/>
          <p:nvPr/>
        </p:nvSpPr>
        <p:spPr>
          <a:xfrm>
            <a:off x="1005840" y="3246120"/>
            <a:ext cx="6126480" cy="457200"/>
          </a:xfrm>
          <a:prstGeom prst="rect">
            <a:avLst/>
          </a:prstGeom>
          <a:noFill/>
          <a:ln/>
        </p:spPr>
        <p:txBody>
          <a:bodyPr wrap="square" lIns="0" tIns="0" rIns="0" bIns="0" rtlCol="0" anchor="ctr"/>
          <a:lstStyle/>
          <a:p>
            <a:pPr indent="0" marL="0">
              <a:buNone/>
            </a:pPr>
            <a:r>
              <a:rPr lang="en-US" sz="1400" dirty="0">
                <a:solidFill>
                  <a:schemeClr val="tx1"/>
                </a:solidFill>
              </a:rPr>
              <a:t>Studied FCI's accounts manual and worked through real claim and penalty-clause data</a:t>
            </a:r>
            <a:endParaRPr lang="en-US" sz="1400" dirty="0"/>
          </a:p>
        </p:txBody>
      </p:sp>
      <p:sp>
        <p:nvSpPr>
          <p:cNvPr id="24" name="Done tick 2"/>
          <p:cNvSpPr/>
          <p:nvPr/>
        </p:nvSpPr>
        <p:spPr>
          <a:xfrm>
            <a:off x="548640" y="3776472"/>
            <a:ext cx="347472" cy="347472"/>
          </a:xfrm>
          <a:prstGeom prst="ellipse">
            <a:avLst/>
          </a:prstGeom>
          <a:solidFill>
            <a:schemeClr val="accent2"/>
          </a:solidFill>
          <a:ln/>
        </p:spPr>
      </p:sp>
      <p:sp>
        <p:nvSpPr>
          <p:cNvPr id="25" name="Text 23"/>
          <p:cNvSpPr txBox="1"/>
          <p:nvPr/>
        </p:nvSpPr>
        <p:spPr>
          <a:xfrm>
            <a:off x="548640" y="377647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a:t>
            </a:r>
            <a:endParaRPr lang="en-US" sz="1400" dirty="0"/>
          </a:p>
        </p:txBody>
      </p:sp>
      <p:sp>
        <p:nvSpPr>
          <p:cNvPr id="26" name="Text 24"/>
          <p:cNvSpPr txBox="1"/>
          <p:nvPr/>
        </p:nvSpPr>
        <p:spPr>
          <a:xfrm>
            <a:off x="1005840" y="3749040"/>
            <a:ext cx="6126480" cy="457200"/>
          </a:xfrm>
          <a:prstGeom prst="rect">
            <a:avLst/>
          </a:prstGeom>
          <a:noFill/>
          <a:ln/>
        </p:spPr>
        <p:txBody>
          <a:bodyPr wrap="square" lIns="0" tIns="0" rIns="0" bIns="0" rtlCol="0" anchor="ctr"/>
          <a:lstStyle/>
          <a:p>
            <a:pPr indent="0" marL="0">
              <a:buNone/>
            </a:pPr>
            <a:r>
              <a:rPr lang="en-US" sz="1400" dirty="0">
                <a:solidFill>
                  <a:schemeClr val="tx1"/>
                </a:solidFill>
              </a:rPr>
              <a:t>Wrote the company introduction and topic background (FCI structure, mandate, subsidy framework)</a:t>
            </a:r>
            <a:endParaRPr lang="en-US" sz="1400" dirty="0"/>
          </a:p>
        </p:txBody>
      </p:sp>
      <p:sp>
        <p:nvSpPr>
          <p:cNvPr id="27" name="Done tick 3"/>
          <p:cNvSpPr/>
          <p:nvPr/>
        </p:nvSpPr>
        <p:spPr>
          <a:xfrm>
            <a:off x="548640" y="4279392"/>
            <a:ext cx="347472" cy="347472"/>
          </a:xfrm>
          <a:prstGeom prst="ellipse">
            <a:avLst/>
          </a:prstGeom>
          <a:solidFill>
            <a:schemeClr val="accent2"/>
          </a:solidFill>
          <a:ln/>
        </p:spPr>
      </p:sp>
      <p:sp>
        <p:nvSpPr>
          <p:cNvPr id="28" name="Text 26"/>
          <p:cNvSpPr txBox="1"/>
          <p:nvPr/>
        </p:nvSpPr>
        <p:spPr>
          <a:xfrm>
            <a:off x="548640" y="42793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a:t>
            </a:r>
            <a:endParaRPr lang="en-US" sz="1400" dirty="0"/>
          </a:p>
        </p:txBody>
      </p:sp>
      <p:sp>
        <p:nvSpPr>
          <p:cNvPr id="29" name="Text 27"/>
          <p:cNvSpPr txBox="1"/>
          <p:nvPr/>
        </p:nvSpPr>
        <p:spPr>
          <a:xfrm>
            <a:off x="1005840" y="4251960"/>
            <a:ext cx="6126480" cy="457200"/>
          </a:xfrm>
          <a:prstGeom prst="rect">
            <a:avLst/>
          </a:prstGeom>
          <a:noFill/>
          <a:ln/>
        </p:spPr>
        <p:txBody>
          <a:bodyPr wrap="square" lIns="0" tIns="0" rIns="0" bIns="0" rtlCol="0" anchor="ctr"/>
          <a:lstStyle/>
          <a:p>
            <a:pPr indent="0" marL="0">
              <a:buNone/>
            </a:pPr>
            <a:r>
              <a:rPr lang="en-US" sz="1400" dirty="0">
                <a:solidFill>
                  <a:schemeClr val="tx1"/>
                </a:solidFill>
              </a:rPr>
              <a:t>Completed the literature review across six themes</a:t>
            </a:r>
            <a:endParaRPr lang="en-US" sz="1400" dirty="0"/>
          </a:p>
        </p:txBody>
      </p:sp>
      <p:sp>
        <p:nvSpPr>
          <p:cNvPr id="30" name="Done tick 4"/>
          <p:cNvSpPr/>
          <p:nvPr/>
        </p:nvSpPr>
        <p:spPr>
          <a:xfrm>
            <a:off x="548640" y="4782312"/>
            <a:ext cx="347472" cy="347472"/>
          </a:xfrm>
          <a:prstGeom prst="ellipse">
            <a:avLst/>
          </a:prstGeom>
          <a:solidFill>
            <a:schemeClr val="accent2"/>
          </a:solidFill>
          <a:ln/>
        </p:spPr>
      </p:sp>
      <p:sp>
        <p:nvSpPr>
          <p:cNvPr id="31" name="Text 29"/>
          <p:cNvSpPr txBox="1"/>
          <p:nvPr/>
        </p:nvSpPr>
        <p:spPr>
          <a:xfrm>
            <a:off x="548640" y="478231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a:t>
            </a:r>
            <a:endParaRPr lang="en-US" sz="1400" dirty="0"/>
          </a:p>
        </p:txBody>
      </p:sp>
      <p:sp>
        <p:nvSpPr>
          <p:cNvPr id="32" name="Text 30"/>
          <p:cNvSpPr txBox="1"/>
          <p:nvPr/>
        </p:nvSpPr>
        <p:spPr>
          <a:xfrm>
            <a:off x="1005840" y="4754880"/>
            <a:ext cx="6126480" cy="457200"/>
          </a:xfrm>
          <a:prstGeom prst="rect">
            <a:avLst/>
          </a:prstGeom>
          <a:noFill/>
          <a:ln/>
        </p:spPr>
        <p:txBody>
          <a:bodyPr wrap="square" lIns="0" tIns="0" rIns="0" bIns="0" rtlCol="0" anchor="ctr"/>
          <a:lstStyle/>
          <a:p>
            <a:pPr indent="0" marL="0">
              <a:buNone/>
            </a:pPr>
            <a:r>
              <a:rPr lang="en-US" sz="1400" dirty="0">
                <a:solidFill>
                  <a:schemeClr val="tx1"/>
                </a:solidFill>
              </a:rPr>
              <a:t>Finalised methodology and research objectives</a:t>
            </a:r>
            <a:endParaRPr lang="en-US" sz="1400" dirty="0"/>
          </a:p>
        </p:txBody>
      </p:sp>
      <p:sp>
        <p:nvSpPr>
          <p:cNvPr id="33" name="Done tick 5"/>
          <p:cNvSpPr/>
          <p:nvPr/>
        </p:nvSpPr>
        <p:spPr>
          <a:xfrm>
            <a:off x="548640" y="5285232"/>
            <a:ext cx="347472" cy="347472"/>
          </a:xfrm>
          <a:prstGeom prst="ellipse">
            <a:avLst/>
          </a:prstGeom>
          <a:solidFill>
            <a:schemeClr val="accent2"/>
          </a:solidFill>
          <a:ln/>
        </p:spPr>
      </p:sp>
      <p:sp>
        <p:nvSpPr>
          <p:cNvPr id="34" name="Text 32"/>
          <p:cNvSpPr txBox="1"/>
          <p:nvPr/>
        </p:nvSpPr>
        <p:spPr>
          <a:xfrm>
            <a:off x="548640" y="528523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a:t>
            </a:r>
            <a:endParaRPr lang="en-US" sz="1400" dirty="0"/>
          </a:p>
        </p:txBody>
      </p:sp>
      <p:sp>
        <p:nvSpPr>
          <p:cNvPr id="35" name="Text 33"/>
          <p:cNvSpPr txBox="1"/>
          <p:nvPr/>
        </p:nvSpPr>
        <p:spPr>
          <a:xfrm>
            <a:off x="1005840" y="5257800"/>
            <a:ext cx="6126480" cy="457200"/>
          </a:xfrm>
          <a:prstGeom prst="rect">
            <a:avLst/>
          </a:prstGeom>
          <a:noFill/>
          <a:ln/>
        </p:spPr>
        <p:txBody>
          <a:bodyPr wrap="square" lIns="0" tIns="0" rIns="0" bIns="0" rtlCol="0" anchor="ctr"/>
          <a:lstStyle/>
          <a:p>
            <a:pPr indent="0" marL="0">
              <a:buNone/>
            </a:pPr>
            <a:r>
              <a:rPr lang="en-US" sz="1400" dirty="0">
                <a:solidFill>
                  <a:schemeClr val="tx1"/>
                </a:solidFill>
              </a:rPr>
              <a:t>Extracted five years of data and built 12 tables with YoY and CAGR analysis</a:t>
            </a:r>
            <a:endParaRPr lang="en-US" sz="1400" dirty="0"/>
          </a:p>
        </p:txBody>
      </p:sp>
      <p:sp>
        <p:nvSpPr>
          <p:cNvPr id="36" name="Done tick 6"/>
          <p:cNvSpPr/>
          <p:nvPr/>
        </p:nvSpPr>
        <p:spPr>
          <a:xfrm>
            <a:off x="548640" y="5788152"/>
            <a:ext cx="347472" cy="347472"/>
          </a:xfrm>
          <a:prstGeom prst="ellipse">
            <a:avLst/>
          </a:prstGeom>
          <a:solidFill>
            <a:schemeClr val="accent2"/>
          </a:solidFill>
          <a:ln/>
        </p:spPr>
      </p:sp>
      <p:sp>
        <p:nvSpPr>
          <p:cNvPr id="37" name="Text 35"/>
          <p:cNvSpPr txBox="1"/>
          <p:nvPr/>
        </p:nvSpPr>
        <p:spPr>
          <a:xfrm>
            <a:off x="548640" y="5788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a:t>
            </a:r>
            <a:endParaRPr lang="en-US" sz="1400" dirty="0"/>
          </a:p>
        </p:txBody>
      </p:sp>
      <p:sp>
        <p:nvSpPr>
          <p:cNvPr id="38" name="Text 36"/>
          <p:cNvSpPr txBox="1"/>
          <p:nvPr/>
        </p:nvSpPr>
        <p:spPr>
          <a:xfrm>
            <a:off x="1005840" y="5760720"/>
            <a:ext cx="6126480" cy="457200"/>
          </a:xfrm>
          <a:prstGeom prst="rect">
            <a:avLst/>
          </a:prstGeom>
          <a:noFill/>
          <a:ln/>
        </p:spPr>
        <p:txBody>
          <a:bodyPr wrap="square" lIns="0" tIns="0" rIns="0" bIns="0" rtlCol="0" anchor="ctr"/>
          <a:lstStyle/>
          <a:p>
            <a:pPr indent="0" marL="0">
              <a:buNone/>
            </a:pPr>
            <a:r>
              <a:rPr lang="en-US" sz="1400" dirty="0">
                <a:solidFill>
                  <a:schemeClr val="tx1"/>
                </a:solidFill>
              </a:rPr>
              <a:t>Drew six findings and five recommendations</a:t>
            </a:r>
            <a:endParaRPr lang="en-US" sz="1400" dirty="0"/>
          </a:p>
        </p:txBody>
      </p:sp>
      <p:sp>
        <p:nvSpPr>
          <p:cNvPr id="39" name="Pending card"/>
          <p:cNvSpPr/>
          <p:nvPr/>
        </p:nvSpPr>
        <p:spPr>
          <a:xfrm>
            <a:off x="7406640" y="2834640"/>
            <a:ext cx="4114800" cy="3429000"/>
          </a:xfrm>
          <a:prstGeom prst="roundRect">
            <a:avLst>
              <a:gd name="adj" fmla="val 2133"/>
            </a:avLst>
          </a:prstGeom>
          <a:solidFill>
            <a:schemeClr val="accent6"/>
          </a:solidFill>
          <a:ln/>
        </p:spPr>
      </p:sp>
      <p:sp>
        <p:nvSpPr>
          <p:cNvPr id="40" name="Text 38"/>
          <p:cNvSpPr txBox="1"/>
          <p:nvPr/>
        </p:nvSpPr>
        <p:spPr>
          <a:xfrm>
            <a:off x="7635240" y="2971800"/>
            <a:ext cx="3657600" cy="320040"/>
          </a:xfrm>
          <a:prstGeom prst="rect">
            <a:avLst/>
          </a:prstGeom>
          <a:noFill/>
          <a:ln/>
        </p:spPr>
        <p:txBody>
          <a:bodyPr wrap="square" lIns="0" tIns="0" rIns="0" bIns="0" rtlCol="0" anchor="t"/>
          <a:lstStyle/>
          <a:p>
            <a:pPr indent="0" marL="0">
              <a:buNone/>
            </a:pPr>
            <a:r>
              <a:rPr lang="en-US" sz="1700" b="1" dirty="0">
                <a:solidFill>
                  <a:srgbClr val="051230"/>
                </a:solidFill>
                <a:latin typeface="+mj-lt" pitchFamily="34" charset="0"/>
                <a:ea typeface="+mj-lt" pitchFamily="34" charset="-122"/>
                <a:cs typeface="+mj-lt" pitchFamily="34" charset="-120"/>
              </a:rPr>
              <a:t>Pending tasks</a:t>
            </a:r>
            <a:endParaRPr lang="en-US" sz="1700" dirty="0"/>
          </a:p>
        </p:txBody>
      </p:sp>
      <p:sp>
        <p:nvSpPr>
          <p:cNvPr id="41" name="Text 39"/>
          <p:cNvSpPr txBox="1"/>
          <p:nvPr/>
        </p:nvSpPr>
        <p:spPr>
          <a:xfrm>
            <a:off x="7635240" y="342900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Verify details of six literature citations</a:t>
            </a:r>
            <a:endParaRPr lang="en-US" sz="1400" dirty="0"/>
          </a:p>
          <a:p>
            <a:pPr marL="342900" indent="-342900">
              <a:spcAft>
                <a:spcPts val="600"/>
              </a:spcAft>
              <a:buSzPct val="100000"/>
              <a:buChar char="•"/>
            </a:pPr>
            <a:r>
              <a:rPr lang="en-US" sz="1400" dirty="0">
                <a:solidFill>
                  <a:schemeClr val="tx1"/>
                </a:solidFill>
              </a:rPr>
              <a:t>Add trend charts built from the data workbook</a:t>
            </a:r>
            <a:endParaRPr lang="en-US" sz="1400" dirty="0"/>
          </a:p>
          <a:p>
            <a:pPr marL="342900" indent="-342900">
              <a:spcAft>
                <a:spcPts val="600"/>
              </a:spcAft>
              <a:buSzPct val="100000"/>
              <a:buChar char="•"/>
            </a:pPr>
            <a:r>
              <a:rPr lang="en-US" sz="1400" dirty="0">
                <a:solidFill>
                  <a:schemeClr val="tx1"/>
                </a:solidFill>
              </a:rPr>
              <a:t>Check results in inflation-adjusted (real) terms</a:t>
            </a:r>
            <a:endParaRPr lang="en-US" sz="1400" dirty="0"/>
          </a:p>
          <a:p>
            <a:pPr marL="342900" indent="-342900">
              <a:spcAft>
                <a:spcPts val="600"/>
              </a:spcAft>
              <a:buSzPct val="100000"/>
              <a:buChar char="•"/>
            </a:pPr>
            <a:r>
              <a:rPr lang="en-US" sz="1400" dirty="0">
                <a:solidFill>
                  <a:schemeClr val="tx1"/>
                </a:solidFill>
              </a:rPr>
              <a:t>Plagiarism check, certificates and logbook</a:t>
            </a:r>
            <a:endParaRPr lang="en-US" sz="1400" dirty="0"/>
          </a:p>
          <a:p>
            <a:pPr marL="342900" indent="-342900">
              <a:spcAft>
                <a:spcPts val="600"/>
              </a:spcAft>
              <a:buSzPct val="100000"/>
              <a:buChar char="•"/>
            </a:pPr>
            <a:r>
              <a:rPr lang="en-US" sz="1400" dirty="0">
                <a:solidFill>
                  <a:schemeClr val="tx1"/>
                </a:solidFill>
              </a:rPr>
              <a:t>Final report submission</a:t>
            </a:r>
            <a:endParaRPr lang="en-US" sz="14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Preliminary Findings</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Subsidy fell as free grain began; paddy procurement is the fastest-growing cost</a:t>
            </a:r>
            <a:endParaRPr lang="en-US" sz="1600" dirty="0"/>
          </a:p>
        </p:txBody>
      </p:sp>
      <p:sp>
        <p:nvSpPr>
          <p:cNvPr id="4" name="!!Chip1"/>
          <p:cNvSpPr/>
          <p:nvPr/>
        </p:nvSpPr>
        <p:spPr>
          <a:xfrm>
            <a:off x="10241280" y="384048"/>
            <a:ext cx="411480" cy="411480"/>
          </a:xfrm>
          <a:prstGeom prst="rect">
            <a:avLst/>
          </a:prstGeom>
          <a:solidFill>
            <a:srgbClr val="F5ECC2"/>
          </a:solidFill>
          <a:ln/>
        </p:spPr>
      </p:sp>
      <p:sp>
        <p:nvSpPr>
          <p:cNvPr id="5" name="!!Chip2"/>
          <p:cNvSpPr/>
          <p:nvPr/>
        </p:nvSpPr>
        <p:spPr>
          <a:xfrm>
            <a:off x="10698480" y="384048"/>
            <a:ext cx="411480" cy="411480"/>
          </a:xfrm>
          <a:prstGeom prst="rect">
            <a:avLst/>
          </a:prstGeom>
          <a:solidFill>
            <a:srgbClr val="F99D1B"/>
          </a:solidFill>
          <a:ln/>
        </p:spPr>
      </p:sp>
      <p:sp>
        <p:nvSpPr>
          <p:cNvPr id="6" name="!!Chip3"/>
          <p:cNvSpPr/>
          <p:nvPr/>
        </p:nvSpPr>
        <p:spPr>
          <a:xfrm>
            <a:off x="11155680" y="384048"/>
            <a:ext cx="411480" cy="411480"/>
          </a:xfrm>
          <a:prstGeom prst="rect">
            <a:avLst/>
          </a:prstGeom>
          <a:solidFill>
            <a:srgbClr val="064F6E"/>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151</a:t>
            </a:r>
            <a:endParaRPr lang="en-US" sz="1000" dirty="0"/>
          </a:p>
        </p:txBody>
      </p:sp>
      <p:sp>
        <p:nvSpPr>
          <p:cNvPr id="8" name="Chart card 1"/>
          <p:cNvSpPr/>
          <p:nvPr/>
        </p:nvSpPr>
        <p:spPr>
          <a:xfrm>
            <a:off x="548640" y="1600200"/>
            <a:ext cx="5394960" cy="2926080"/>
          </a:xfrm>
          <a:prstGeom prst="roundRect">
            <a:avLst>
              <a:gd name="adj" fmla="val 2500"/>
            </a:avLst>
          </a:prstGeom>
          <a:solidFill>
            <a:srgbClr val="FFFFFF"/>
          </a:solidFill>
          <a:ln/>
        </p:spPr>
      </p:sp>
      <p:sp>
        <p:nvSpPr>
          <p:cNvPr id="9" name="Chart card 2"/>
          <p:cNvSpPr/>
          <p:nvPr/>
        </p:nvSpPr>
        <p:spPr>
          <a:xfrm>
            <a:off x="6126480" y="1600200"/>
            <a:ext cx="5394960" cy="2926080"/>
          </a:xfrm>
          <a:prstGeom prst="roundRect">
            <a:avLst>
              <a:gd name="adj" fmla="val 2500"/>
            </a:avLst>
          </a:prstGeom>
          <a:solidFill>
            <a:srgbClr val="FFFFFF"/>
          </a:solidFill>
          <a:ln/>
        </p:spPr>
      </p:sp>
      <p:graphicFrame>
        <p:nvGraphicFramePr>
          <p:cNvPr id="10" name="Chart 0" descr=""/>
          <p:cNvGraphicFramePr/>
          <p:nvPr/>
        </p:nvGraphicFramePr>
        <p:xfrm>
          <a:off x="685800" y="1691640"/>
          <a:ext cx="512064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hart 1" descr=""/>
          <p:cNvGraphicFramePr/>
          <p:nvPr/>
        </p:nvGraphicFramePr>
        <p:xfrm>
          <a:off x="6263640" y="1691640"/>
          <a:ext cx="5120640" cy="2743200"/>
        </p:xfrm>
        <a:graphic xmlns:a="http://schemas.openxmlformats.org/drawingml/2006/main">
          <a:graphicData uri="http://schemas.openxmlformats.org/drawingml/2006/chart">
            <c:chart xmlns:c="http://schemas.openxmlformats.org/drawingml/2006/chart" r:id="rId2"/>
          </a:graphicData>
        </a:graphic>
      </p:graphicFrame>
      <p:sp>
        <p:nvSpPr>
          <p:cNvPr id="12" name="Insight card 1"/>
          <p:cNvSpPr/>
          <p:nvPr/>
        </p:nvSpPr>
        <p:spPr>
          <a:xfrm>
            <a:off x="548640" y="4709160"/>
            <a:ext cx="3538728" cy="1554480"/>
          </a:xfrm>
          <a:prstGeom prst="roundRect">
            <a:avLst>
              <a:gd name="adj" fmla="val 4706"/>
            </a:avLst>
          </a:prstGeom>
          <a:solidFill>
            <a:schemeClr val="accent1"/>
          </a:solidFill>
          <a:ln/>
        </p:spPr>
      </p:sp>
      <p:sp>
        <p:nvSpPr>
          <p:cNvPr id="13" name="Text 9"/>
          <p:cNvSpPr txBox="1"/>
          <p:nvPr/>
        </p:nvSpPr>
        <p:spPr>
          <a:xfrm>
            <a:off x="731520" y="4800600"/>
            <a:ext cx="3200400" cy="320040"/>
          </a:xfrm>
          <a:prstGeom prst="rect">
            <a:avLst/>
          </a:prstGeom>
          <a:noFill/>
          <a:ln/>
        </p:spPr>
        <p:txBody>
          <a:bodyPr wrap="square" lIns="0" tIns="0" rIns="0" bIns="0" rtlCol="0" anchor="t"/>
          <a:lstStyle/>
          <a:p>
            <a:pPr indent="0" marL="0">
              <a:buNone/>
            </a:pPr>
            <a:r>
              <a:rPr lang="en-US" sz="1500" b="1" dirty="0">
                <a:solidFill>
                  <a:srgbClr val="051230"/>
                </a:solidFill>
                <a:latin typeface="+mj-lt" pitchFamily="34" charset="0"/>
                <a:ea typeface="+mj-lt" pitchFamily="34" charset="-122"/>
                <a:cs typeface="+mj-lt" pitchFamily="34" charset="-120"/>
              </a:rPr>
              <a:t>Subsidy fell 38.8%</a:t>
            </a:r>
            <a:endParaRPr lang="en-US" sz="1500" dirty="0"/>
          </a:p>
        </p:txBody>
      </p:sp>
      <p:sp>
        <p:nvSpPr>
          <p:cNvPr id="14" name="Text 10"/>
          <p:cNvSpPr txBox="1"/>
          <p:nvPr/>
        </p:nvSpPr>
        <p:spPr>
          <a:xfrm>
            <a:off x="731520" y="5166360"/>
            <a:ext cx="3200400" cy="1051560"/>
          </a:xfrm>
          <a:prstGeom prst="rect">
            <a:avLst/>
          </a:prstGeom>
          <a:noFill/>
          <a:ln/>
        </p:spPr>
        <p:txBody>
          <a:bodyPr wrap="square" lIns="0" tIns="0" rIns="0" bIns="0" rtlCol="0" anchor="t"/>
          <a:lstStyle/>
          <a:p>
            <a:pPr indent="0" marL="0">
              <a:buNone/>
            </a:pPr>
            <a:r>
              <a:rPr lang="en-US" sz="1300" dirty="0">
                <a:solidFill>
                  <a:srgbClr val="051230"/>
                </a:solidFill>
              </a:rPr>
              <a:t>₹2,16,869 Cr to ₹1,32,744 Cr (2020-21 to 2023-24) as PMGKAY ended; up 10.4% in 2024-25 on higher buffer carrying cost.</a:t>
            </a:r>
            <a:endParaRPr lang="en-US" sz="1300" dirty="0"/>
          </a:p>
        </p:txBody>
      </p:sp>
      <p:sp>
        <p:nvSpPr>
          <p:cNvPr id="15" name="Insight card 2"/>
          <p:cNvSpPr/>
          <p:nvPr/>
        </p:nvSpPr>
        <p:spPr>
          <a:xfrm>
            <a:off x="4265676" y="4709160"/>
            <a:ext cx="3538728" cy="1554480"/>
          </a:xfrm>
          <a:prstGeom prst="roundRect">
            <a:avLst>
              <a:gd name="adj" fmla="val 4706"/>
            </a:avLst>
          </a:prstGeom>
          <a:solidFill>
            <a:schemeClr val="accent4"/>
          </a:solidFill>
          <a:ln/>
        </p:spPr>
      </p:sp>
      <p:sp>
        <p:nvSpPr>
          <p:cNvPr id="16" name="Text 12"/>
          <p:cNvSpPr txBox="1"/>
          <p:nvPr/>
        </p:nvSpPr>
        <p:spPr>
          <a:xfrm>
            <a:off x="4448556" y="4800600"/>
            <a:ext cx="3200400" cy="32004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Pressure is at the farm gate</a:t>
            </a:r>
            <a:endParaRPr lang="en-US" sz="1500" dirty="0"/>
          </a:p>
        </p:txBody>
      </p:sp>
      <p:sp>
        <p:nvSpPr>
          <p:cNvPr id="17" name="Text 13"/>
          <p:cNvSpPr txBox="1"/>
          <p:nvPr/>
        </p:nvSpPr>
        <p:spPr>
          <a:xfrm>
            <a:off x="4448556" y="5166360"/>
            <a:ext cx="3200400" cy="1051560"/>
          </a:xfrm>
          <a:prstGeom prst="rect">
            <a:avLst/>
          </a:prstGeom>
          <a:noFill/>
          <a:ln/>
        </p:spPr>
        <p:txBody>
          <a:bodyPr wrap="square" lIns="0" tIns="0" rIns="0" bIns="0" rtlCol="0" anchor="t"/>
          <a:lstStyle/>
          <a:p>
            <a:pPr indent="0" marL="0">
              <a:buNone/>
            </a:pPr>
            <a:r>
              <a:rPr lang="en-US" sz="1300" dirty="0">
                <a:solidFill>
                  <a:srgbClr val="FFFFFF"/>
                </a:solidFill>
              </a:rPr>
              <a:t>Paddy procurement cost grew 8.55% a year while distribution cost fell; rice costs ₹198-245/qtl more than wheat.</a:t>
            </a:r>
            <a:endParaRPr lang="en-US" sz="1300" dirty="0"/>
          </a:p>
        </p:txBody>
      </p:sp>
      <p:sp>
        <p:nvSpPr>
          <p:cNvPr id="18" name="Insight card 3"/>
          <p:cNvSpPr/>
          <p:nvPr/>
        </p:nvSpPr>
        <p:spPr>
          <a:xfrm>
            <a:off x="7982712" y="4709160"/>
            <a:ext cx="3538728" cy="1554480"/>
          </a:xfrm>
          <a:prstGeom prst="roundRect">
            <a:avLst>
              <a:gd name="adj" fmla="val 4706"/>
            </a:avLst>
          </a:prstGeom>
          <a:solidFill>
            <a:schemeClr val="accent3"/>
          </a:solidFill>
          <a:ln/>
        </p:spPr>
      </p:sp>
      <p:sp>
        <p:nvSpPr>
          <p:cNvPr id="19" name="Text 15"/>
          <p:cNvSpPr txBox="1"/>
          <p:nvPr/>
        </p:nvSpPr>
        <p:spPr>
          <a:xfrm>
            <a:off x="8165592" y="4800600"/>
            <a:ext cx="3200400" cy="32004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Data-quality flag</a:t>
            </a:r>
            <a:endParaRPr lang="en-US" sz="1500" dirty="0"/>
          </a:p>
        </p:txBody>
      </p:sp>
      <p:sp>
        <p:nvSpPr>
          <p:cNvPr id="20" name="Text 16"/>
          <p:cNvSpPr txBox="1"/>
          <p:nvPr/>
        </p:nvSpPr>
        <p:spPr>
          <a:xfrm>
            <a:off x="8165592" y="5166360"/>
            <a:ext cx="3200400" cy="1051560"/>
          </a:xfrm>
          <a:prstGeom prst="rect">
            <a:avLst/>
          </a:prstGeom>
          <a:noFill/>
          <a:ln/>
        </p:spPr>
        <p:txBody>
          <a:bodyPr wrap="square" lIns="0" tIns="0" rIns="0" bIns="0" rtlCol="0" anchor="t"/>
          <a:lstStyle/>
          <a:p>
            <a:pPr indent="0" marL="0">
              <a:buNone/>
            </a:pPr>
            <a:r>
              <a:rPr lang="en-US" sz="1300" dirty="0">
                <a:solidFill>
                  <a:srgbClr val="FFFFFF"/>
                </a:solidFill>
              </a:rPr>
              <a:t>FCI's published wheat subsidy rate (₹2,400/qtl, 2020-21) exceeds the whole economic cost (₹987/qtl). The two cannot be reconciled.</a:t>
            </a:r>
            <a:endParaRPr lang="en-US" sz="13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Project Timeline and Future Work</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Research is done; remaining work is verification, validation and submission</a:t>
            </a:r>
            <a:endParaRPr lang="en-US" sz="1600" dirty="0"/>
          </a:p>
        </p:txBody>
      </p:sp>
      <p:sp>
        <p:nvSpPr>
          <p:cNvPr id="4" name="!!Chip1"/>
          <p:cNvSpPr/>
          <p:nvPr/>
        </p:nvSpPr>
        <p:spPr>
          <a:xfrm>
            <a:off x="10241280" y="384048"/>
            <a:ext cx="411480" cy="411480"/>
          </a:xfrm>
          <a:prstGeom prst="rect">
            <a:avLst/>
          </a:prstGeom>
          <a:solidFill>
            <a:srgbClr val="F48067"/>
          </a:solidFill>
          <a:ln/>
        </p:spPr>
      </p:sp>
      <p:sp>
        <p:nvSpPr>
          <p:cNvPr id="5" name="!!Chip2"/>
          <p:cNvSpPr/>
          <p:nvPr/>
        </p:nvSpPr>
        <p:spPr>
          <a:xfrm>
            <a:off x="10698480" y="384048"/>
            <a:ext cx="411480" cy="411480"/>
          </a:xfrm>
          <a:prstGeom prst="rect">
            <a:avLst/>
          </a:prstGeom>
          <a:solidFill>
            <a:srgbClr val="FBE6A0"/>
          </a:solidFill>
          <a:ln/>
        </p:spPr>
      </p:sp>
      <p:sp>
        <p:nvSpPr>
          <p:cNvPr id="6" name="!!Chip3"/>
          <p:cNvSpPr/>
          <p:nvPr/>
        </p:nvSpPr>
        <p:spPr>
          <a:xfrm>
            <a:off x="11155680" y="384048"/>
            <a:ext cx="411480" cy="411480"/>
          </a:xfrm>
          <a:prstGeom prst="rect">
            <a:avLst/>
          </a:prstGeom>
          <a:solidFill>
            <a:srgbClr val="00908A"/>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193</a:t>
            </a:r>
            <a:endParaRPr lang="en-US" sz="1000" dirty="0"/>
          </a:p>
        </p:txBody>
      </p:sp>
      <p:sp>
        <p:nvSpPr>
          <p:cNvPr id="8" name="Timeline line"/>
          <p:cNvSpPr/>
          <p:nvPr/>
        </p:nvSpPr>
        <p:spPr>
          <a:xfrm>
            <a:off x="1097280" y="1965960"/>
            <a:ext cx="9966960" cy="0"/>
          </a:xfrm>
          <a:prstGeom prst="line">
            <a:avLst/>
          </a:prstGeom>
          <a:noFill/>
          <a:ln w="25400">
            <a:solidFill>
              <a:srgbClr val="59256A"/>
            </a:solidFill>
            <a:prstDash val="solid"/>
          </a:ln>
        </p:spPr>
      </p:sp>
      <p:sp>
        <p:nvSpPr>
          <p:cNvPr id="9" name="Milestone 1"/>
          <p:cNvSpPr/>
          <p:nvPr/>
        </p:nvSpPr>
        <p:spPr>
          <a:xfrm>
            <a:off x="1143000" y="1691640"/>
            <a:ext cx="548640" cy="548640"/>
          </a:xfrm>
          <a:prstGeom prst="ellipse">
            <a:avLst/>
          </a:prstGeom>
          <a:solidFill>
            <a:schemeClr val="accent2"/>
          </a:solidFill>
          <a:ln/>
        </p:spPr>
      </p:sp>
      <p:sp>
        <p:nvSpPr>
          <p:cNvPr id="10" name="Text 8"/>
          <p:cNvSpPr txBox="1"/>
          <p:nvPr/>
        </p:nvSpPr>
        <p:spPr>
          <a:xfrm>
            <a:off x="114300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a:t>
            </a:r>
            <a:endParaRPr lang="en-US" sz="1800" dirty="0"/>
          </a:p>
        </p:txBody>
      </p:sp>
      <p:sp>
        <p:nvSpPr>
          <p:cNvPr id="11" name="Milestone card 1"/>
          <p:cNvSpPr/>
          <p:nvPr/>
        </p:nvSpPr>
        <p:spPr>
          <a:xfrm>
            <a:off x="548640" y="2468880"/>
            <a:ext cx="1691640" cy="1965960"/>
          </a:xfrm>
          <a:prstGeom prst="roundRect">
            <a:avLst>
              <a:gd name="adj" fmla="val 4324"/>
            </a:avLst>
          </a:prstGeom>
          <a:solidFill>
            <a:srgbClr val="FFFFFF"/>
          </a:solidFill>
          <a:ln/>
        </p:spPr>
      </p:sp>
      <p:sp>
        <p:nvSpPr>
          <p:cNvPr id="12" name="Text 10"/>
          <p:cNvSpPr txBox="1"/>
          <p:nvPr/>
        </p:nvSpPr>
        <p:spPr>
          <a:xfrm>
            <a:off x="685800" y="2578608"/>
            <a:ext cx="1417320" cy="1097280"/>
          </a:xfrm>
          <a:prstGeom prst="rect">
            <a:avLst/>
          </a:prstGeom>
          <a:noFill/>
          <a:ln/>
        </p:spPr>
        <p:txBody>
          <a:bodyPr wrap="square" lIns="0" tIns="0" rIns="0" bIns="0" rtlCol="0" anchor="t"/>
          <a:lstStyle/>
          <a:p>
            <a:pPr indent="0" marL="0">
              <a:buNone/>
            </a:pPr>
            <a:r>
              <a:rPr lang="en-US" sz="1400" b="1" dirty="0">
                <a:solidFill>
                  <a:srgbClr val="051230"/>
                </a:solidFill>
              </a:rPr>
              <a:t>Data collection, analysis, findings</a:t>
            </a:r>
            <a:endParaRPr lang="en-US" sz="1400" dirty="0"/>
          </a:p>
        </p:txBody>
      </p:sp>
      <p:sp>
        <p:nvSpPr>
          <p:cNvPr id="13" name="Text 11"/>
          <p:cNvSpPr txBox="1"/>
          <p:nvPr/>
        </p:nvSpPr>
        <p:spPr>
          <a:xfrm>
            <a:off x="685800" y="3703320"/>
            <a:ext cx="1417320" cy="640080"/>
          </a:xfrm>
          <a:prstGeom prst="rect">
            <a:avLst/>
          </a:prstGeom>
          <a:noFill/>
          <a:ln/>
        </p:spPr>
        <p:txBody>
          <a:bodyPr wrap="square" lIns="0" tIns="0" rIns="0" bIns="0" rtlCol="0" anchor="t"/>
          <a:lstStyle/>
          <a:p>
            <a:pPr indent="0" marL="0">
              <a:buNone/>
            </a:pPr>
            <a:r>
              <a:rPr lang="en-US" sz="1200" i="1" dirty="0">
                <a:solidFill>
                  <a:schemeClr val="tx2"/>
                </a:solidFill>
              </a:rPr>
              <a:t>May-Jul 2026 internship</a:t>
            </a:r>
            <a:endParaRPr lang="en-US" sz="1200" dirty="0"/>
          </a:p>
        </p:txBody>
      </p:sp>
      <p:sp>
        <p:nvSpPr>
          <p:cNvPr id="14" name="Milestone 2"/>
          <p:cNvSpPr/>
          <p:nvPr/>
        </p:nvSpPr>
        <p:spPr>
          <a:xfrm>
            <a:off x="2999232" y="1691640"/>
            <a:ext cx="548640" cy="548640"/>
          </a:xfrm>
          <a:prstGeom prst="ellipse">
            <a:avLst/>
          </a:prstGeom>
          <a:solidFill>
            <a:schemeClr val="accent4"/>
          </a:solidFill>
          <a:ln/>
        </p:spPr>
      </p:sp>
      <p:sp>
        <p:nvSpPr>
          <p:cNvPr id="15" name="Text 13"/>
          <p:cNvSpPr txBox="1"/>
          <p:nvPr/>
        </p:nvSpPr>
        <p:spPr>
          <a:xfrm>
            <a:off x="2999232"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1</a:t>
            </a:r>
            <a:endParaRPr lang="en-US" sz="1800" dirty="0"/>
          </a:p>
        </p:txBody>
      </p:sp>
      <p:sp>
        <p:nvSpPr>
          <p:cNvPr id="16" name="Milestone card 2"/>
          <p:cNvSpPr/>
          <p:nvPr/>
        </p:nvSpPr>
        <p:spPr>
          <a:xfrm>
            <a:off x="2404872" y="2468880"/>
            <a:ext cx="1691640" cy="1965960"/>
          </a:xfrm>
          <a:prstGeom prst="roundRect">
            <a:avLst>
              <a:gd name="adj" fmla="val 4324"/>
            </a:avLst>
          </a:prstGeom>
          <a:solidFill>
            <a:srgbClr val="FFFFFF"/>
          </a:solidFill>
          <a:ln/>
        </p:spPr>
      </p:sp>
      <p:sp>
        <p:nvSpPr>
          <p:cNvPr id="17" name="Text 15"/>
          <p:cNvSpPr txBox="1"/>
          <p:nvPr/>
        </p:nvSpPr>
        <p:spPr>
          <a:xfrm>
            <a:off x="2542032" y="2578608"/>
            <a:ext cx="1417320" cy="1097280"/>
          </a:xfrm>
          <a:prstGeom prst="rect">
            <a:avLst/>
          </a:prstGeom>
          <a:noFill/>
          <a:ln/>
        </p:spPr>
        <p:txBody>
          <a:bodyPr wrap="square" lIns="0" tIns="0" rIns="0" bIns="0" rtlCol="0" anchor="t"/>
          <a:lstStyle/>
          <a:p>
            <a:pPr indent="0" marL="0">
              <a:buNone/>
            </a:pPr>
            <a:r>
              <a:rPr lang="en-US" sz="1400" b="1" dirty="0">
                <a:solidFill>
                  <a:srgbClr val="051230"/>
                </a:solidFill>
              </a:rPr>
              <a:t>Verify references and citations</a:t>
            </a:r>
            <a:endParaRPr lang="en-US" sz="1400" dirty="0"/>
          </a:p>
        </p:txBody>
      </p:sp>
      <p:sp>
        <p:nvSpPr>
          <p:cNvPr id="18" name="Text 16"/>
          <p:cNvSpPr txBox="1"/>
          <p:nvPr/>
        </p:nvSpPr>
        <p:spPr>
          <a:xfrm>
            <a:off x="2542032" y="3703320"/>
            <a:ext cx="1417320" cy="640080"/>
          </a:xfrm>
          <a:prstGeom prst="rect">
            <a:avLst/>
          </a:prstGeom>
          <a:noFill/>
          <a:ln/>
        </p:spPr>
        <p:txBody>
          <a:bodyPr wrap="square" lIns="0" tIns="0" rIns="0" bIns="0" rtlCol="0" anchor="t"/>
          <a:lstStyle/>
          <a:p>
            <a:pPr indent="0" marL="0">
              <a:buNone/>
            </a:pPr>
            <a:r>
              <a:rPr lang="en-US" sz="1200" i="1" dirty="0">
                <a:solidFill>
                  <a:schemeClr val="tx2"/>
                </a:solidFill>
              </a:rPr>
              <a:t>Proposed: week 1</a:t>
            </a:r>
            <a:endParaRPr lang="en-US" sz="1200" dirty="0"/>
          </a:p>
        </p:txBody>
      </p:sp>
      <p:sp>
        <p:nvSpPr>
          <p:cNvPr id="19" name="Milestone 3"/>
          <p:cNvSpPr/>
          <p:nvPr/>
        </p:nvSpPr>
        <p:spPr>
          <a:xfrm>
            <a:off x="4855464" y="1691640"/>
            <a:ext cx="548640" cy="548640"/>
          </a:xfrm>
          <a:prstGeom prst="ellipse">
            <a:avLst/>
          </a:prstGeom>
          <a:solidFill>
            <a:schemeClr val="accent4"/>
          </a:solidFill>
          <a:ln/>
        </p:spPr>
      </p:sp>
      <p:sp>
        <p:nvSpPr>
          <p:cNvPr id="20" name="Text 18"/>
          <p:cNvSpPr txBox="1"/>
          <p:nvPr/>
        </p:nvSpPr>
        <p:spPr>
          <a:xfrm>
            <a:off x="4855464"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2</a:t>
            </a:r>
            <a:endParaRPr lang="en-US" sz="1800" dirty="0"/>
          </a:p>
        </p:txBody>
      </p:sp>
      <p:sp>
        <p:nvSpPr>
          <p:cNvPr id="21" name="Milestone card 3"/>
          <p:cNvSpPr/>
          <p:nvPr/>
        </p:nvSpPr>
        <p:spPr>
          <a:xfrm>
            <a:off x="4261104" y="2468880"/>
            <a:ext cx="1691640" cy="1965960"/>
          </a:xfrm>
          <a:prstGeom prst="roundRect">
            <a:avLst>
              <a:gd name="adj" fmla="val 4324"/>
            </a:avLst>
          </a:prstGeom>
          <a:solidFill>
            <a:srgbClr val="FFFFFF"/>
          </a:solidFill>
          <a:ln/>
        </p:spPr>
      </p:sp>
      <p:sp>
        <p:nvSpPr>
          <p:cNvPr id="22" name="Text 20"/>
          <p:cNvSpPr txBox="1"/>
          <p:nvPr/>
        </p:nvSpPr>
        <p:spPr>
          <a:xfrm>
            <a:off x="4398264" y="2578608"/>
            <a:ext cx="1417320" cy="1097280"/>
          </a:xfrm>
          <a:prstGeom prst="rect">
            <a:avLst/>
          </a:prstGeom>
          <a:noFill/>
          <a:ln/>
        </p:spPr>
        <p:txBody>
          <a:bodyPr wrap="square" lIns="0" tIns="0" rIns="0" bIns="0" rtlCol="0" anchor="t"/>
          <a:lstStyle/>
          <a:p>
            <a:pPr indent="0" marL="0">
              <a:buNone/>
            </a:pPr>
            <a:r>
              <a:rPr lang="en-US" sz="1400" b="1" dirty="0">
                <a:solidFill>
                  <a:srgbClr val="051230"/>
                </a:solidFill>
              </a:rPr>
              <a:t>Add trend charts; real-value check</a:t>
            </a:r>
            <a:endParaRPr lang="en-US" sz="1400" dirty="0"/>
          </a:p>
        </p:txBody>
      </p:sp>
      <p:sp>
        <p:nvSpPr>
          <p:cNvPr id="23" name="Text 21"/>
          <p:cNvSpPr txBox="1"/>
          <p:nvPr/>
        </p:nvSpPr>
        <p:spPr>
          <a:xfrm>
            <a:off x="4398264" y="3703320"/>
            <a:ext cx="1417320" cy="640080"/>
          </a:xfrm>
          <a:prstGeom prst="rect">
            <a:avLst/>
          </a:prstGeom>
          <a:noFill/>
          <a:ln/>
        </p:spPr>
        <p:txBody>
          <a:bodyPr wrap="square" lIns="0" tIns="0" rIns="0" bIns="0" rtlCol="0" anchor="t"/>
          <a:lstStyle/>
          <a:p>
            <a:pPr indent="0" marL="0">
              <a:buNone/>
            </a:pPr>
            <a:r>
              <a:rPr lang="en-US" sz="1200" i="1" dirty="0">
                <a:solidFill>
                  <a:schemeClr val="tx2"/>
                </a:solidFill>
              </a:rPr>
              <a:t>Proposed: week 2</a:t>
            </a:r>
            <a:endParaRPr lang="en-US" sz="1200" dirty="0"/>
          </a:p>
        </p:txBody>
      </p:sp>
      <p:sp>
        <p:nvSpPr>
          <p:cNvPr id="24" name="Milestone 4"/>
          <p:cNvSpPr/>
          <p:nvPr/>
        </p:nvSpPr>
        <p:spPr>
          <a:xfrm>
            <a:off x="6711696" y="1691640"/>
            <a:ext cx="548640" cy="548640"/>
          </a:xfrm>
          <a:prstGeom prst="ellipse">
            <a:avLst/>
          </a:prstGeom>
          <a:solidFill>
            <a:schemeClr val="accent4"/>
          </a:solidFill>
          <a:ln/>
        </p:spPr>
      </p:sp>
      <p:sp>
        <p:nvSpPr>
          <p:cNvPr id="25" name="Text 23"/>
          <p:cNvSpPr txBox="1"/>
          <p:nvPr/>
        </p:nvSpPr>
        <p:spPr>
          <a:xfrm>
            <a:off x="671169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3</a:t>
            </a:r>
            <a:endParaRPr lang="en-US" sz="1800" dirty="0"/>
          </a:p>
        </p:txBody>
      </p:sp>
      <p:sp>
        <p:nvSpPr>
          <p:cNvPr id="26" name="Milestone card 4"/>
          <p:cNvSpPr/>
          <p:nvPr/>
        </p:nvSpPr>
        <p:spPr>
          <a:xfrm>
            <a:off x="6117336" y="2468880"/>
            <a:ext cx="1691640" cy="1965960"/>
          </a:xfrm>
          <a:prstGeom prst="roundRect">
            <a:avLst>
              <a:gd name="adj" fmla="val 4324"/>
            </a:avLst>
          </a:prstGeom>
          <a:solidFill>
            <a:srgbClr val="FFFFFF"/>
          </a:solidFill>
          <a:ln/>
        </p:spPr>
      </p:sp>
      <p:sp>
        <p:nvSpPr>
          <p:cNvPr id="27" name="Text 25"/>
          <p:cNvSpPr txBox="1"/>
          <p:nvPr/>
        </p:nvSpPr>
        <p:spPr>
          <a:xfrm>
            <a:off x="6254496" y="2578608"/>
            <a:ext cx="1417320" cy="1097280"/>
          </a:xfrm>
          <a:prstGeom prst="rect">
            <a:avLst/>
          </a:prstGeom>
          <a:noFill/>
          <a:ln/>
        </p:spPr>
        <p:txBody>
          <a:bodyPr wrap="square" lIns="0" tIns="0" rIns="0" bIns="0" rtlCol="0" anchor="t"/>
          <a:lstStyle/>
          <a:p>
            <a:pPr indent="0" marL="0">
              <a:buNone/>
            </a:pPr>
            <a:r>
              <a:rPr lang="en-US" sz="1400" b="1" dirty="0">
                <a:solidFill>
                  <a:srgbClr val="051230"/>
                </a:solidFill>
              </a:rPr>
              <a:t>Validate numbers; supervisor review</a:t>
            </a:r>
            <a:endParaRPr lang="en-US" sz="1400" dirty="0"/>
          </a:p>
        </p:txBody>
      </p:sp>
      <p:sp>
        <p:nvSpPr>
          <p:cNvPr id="28" name="Text 26"/>
          <p:cNvSpPr txBox="1"/>
          <p:nvPr/>
        </p:nvSpPr>
        <p:spPr>
          <a:xfrm>
            <a:off x="6254496" y="3703320"/>
            <a:ext cx="1417320" cy="640080"/>
          </a:xfrm>
          <a:prstGeom prst="rect">
            <a:avLst/>
          </a:prstGeom>
          <a:noFill/>
          <a:ln/>
        </p:spPr>
        <p:txBody>
          <a:bodyPr wrap="square" lIns="0" tIns="0" rIns="0" bIns="0" rtlCol="0" anchor="t"/>
          <a:lstStyle/>
          <a:p>
            <a:pPr indent="0" marL="0">
              <a:buNone/>
            </a:pPr>
            <a:r>
              <a:rPr lang="en-US" sz="1200" i="1" dirty="0">
                <a:solidFill>
                  <a:schemeClr val="tx2"/>
                </a:solidFill>
              </a:rPr>
              <a:t>Proposed: week 3</a:t>
            </a:r>
            <a:endParaRPr lang="en-US" sz="1200" dirty="0"/>
          </a:p>
        </p:txBody>
      </p:sp>
      <p:sp>
        <p:nvSpPr>
          <p:cNvPr id="29" name="Milestone 5"/>
          <p:cNvSpPr/>
          <p:nvPr/>
        </p:nvSpPr>
        <p:spPr>
          <a:xfrm>
            <a:off x="8567928" y="1691640"/>
            <a:ext cx="548640" cy="548640"/>
          </a:xfrm>
          <a:prstGeom prst="ellipse">
            <a:avLst/>
          </a:prstGeom>
          <a:solidFill>
            <a:schemeClr val="accent4"/>
          </a:solidFill>
          <a:ln/>
        </p:spPr>
      </p:sp>
      <p:sp>
        <p:nvSpPr>
          <p:cNvPr id="30" name="Text 28"/>
          <p:cNvSpPr txBox="1"/>
          <p:nvPr/>
        </p:nvSpPr>
        <p:spPr>
          <a:xfrm>
            <a:off x="856792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4</a:t>
            </a:r>
            <a:endParaRPr lang="en-US" sz="1800" dirty="0"/>
          </a:p>
        </p:txBody>
      </p:sp>
      <p:sp>
        <p:nvSpPr>
          <p:cNvPr id="31" name="Milestone card 5"/>
          <p:cNvSpPr/>
          <p:nvPr/>
        </p:nvSpPr>
        <p:spPr>
          <a:xfrm>
            <a:off x="7973568" y="2468880"/>
            <a:ext cx="1691640" cy="1965960"/>
          </a:xfrm>
          <a:prstGeom prst="roundRect">
            <a:avLst>
              <a:gd name="adj" fmla="val 4324"/>
            </a:avLst>
          </a:prstGeom>
          <a:solidFill>
            <a:srgbClr val="FFFFFF"/>
          </a:solidFill>
          <a:ln/>
        </p:spPr>
      </p:sp>
      <p:sp>
        <p:nvSpPr>
          <p:cNvPr id="32" name="Text 30"/>
          <p:cNvSpPr txBox="1"/>
          <p:nvPr/>
        </p:nvSpPr>
        <p:spPr>
          <a:xfrm>
            <a:off x="8110728" y="2578608"/>
            <a:ext cx="1417320" cy="1097280"/>
          </a:xfrm>
          <a:prstGeom prst="rect">
            <a:avLst/>
          </a:prstGeom>
          <a:noFill/>
          <a:ln/>
        </p:spPr>
        <p:txBody>
          <a:bodyPr wrap="square" lIns="0" tIns="0" rIns="0" bIns="0" rtlCol="0" anchor="t"/>
          <a:lstStyle/>
          <a:p>
            <a:pPr indent="0" marL="0">
              <a:buNone/>
            </a:pPr>
            <a:r>
              <a:rPr lang="en-US" sz="1400" b="1" dirty="0">
                <a:solidFill>
                  <a:srgbClr val="051230"/>
                </a:solidFill>
              </a:rPr>
              <a:t>Plagiarism check, certificates, logbook</a:t>
            </a:r>
            <a:endParaRPr lang="en-US" sz="1400" dirty="0"/>
          </a:p>
        </p:txBody>
      </p:sp>
      <p:sp>
        <p:nvSpPr>
          <p:cNvPr id="33" name="Text 31"/>
          <p:cNvSpPr txBox="1"/>
          <p:nvPr/>
        </p:nvSpPr>
        <p:spPr>
          <a:xfrm>
            <a:off x="8110728" y="3703320"/>
            <a:ext cx="1417320" cy="640080"/>
          </a:xfrm>
          <a:prstGeom prst="rect">
            <a:avLst/>
          </a:prstGeom>
          <a:noFill/>
          <a:ln/>
        </p:spPr>
        <p:txBody>
          <a:bodyPr wrap="square" lIns="0" tIns="0" rIns="0" bIns="0" rtlCol="0" anchor="t"/>
          <a:lstStyle/>
          <a:p>
            <a:pPr indent="0" marL="0">
              <a:buNone/>
            </a:pPr>
            <a:r>
              <a:rPr lang="en-US" sz="1200" i="1" dirty="0">
                <a:solidFill>
                  <a:schemeClr val="tx2"/>
                </a:solidFill>
              </a:rPr>
              <a:t>Proposed: week 4</a:t>
            </a:r>
            <a:endParaRPr lang="en-US" sz="1200" dirty="0"/>
          </a:p>
        </p:txBody>
      </p:sp>
      <p:sp>
        <p:nvSpPr>
          <p:cNvPr id="34" name="Milestone 6"/>
          <p:cNvSpPr/>
          <p:nvPr/>
        </p:nvSpPr>
        <p:spPr>
          <a:xfrm>
            <a:off x="10424160" y="1691640"/>
            <a:ext cx="548640" cy="548640"/>
          </a:xfrm>
          <a:prstGeom prst="ellipse">
            <a:avLst/>
          </a:prstGeom>
          <a:solidFill>
            <a:schemeClr val="accent3"/>
          </a:solidFill>
          <a:ln/>
        </p:spPr>
      </p:sp>
      <p:sp>
        <p:nvSpPr>
          <p:cNvPr id="35" name="Text 33"/>
          <p:cNvSpPr txBox="1"/>
          <p:nvPr/>
        </p:nvSpPr>
        <p:spPr>
          <a:xfrm>
            <a:off x="1042416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j-lt" pitchFamily="34" charset="0"/>
                <a:ea typeface="+mj-lt" pitchFamily="34" charset="-122"/>
                <a:cs typeface="+mj-lt" pitchFamily="34" charset="-120"/>
              </a:rPr>
              <a:t>5</a:t>
            </a:r>
            <a:endParaRPr lang="en-US" sz="1800" dirty="0"/>
          </a:p>
        </p:txBody>
      </p:sp>
      <p:sp>
        <p:nvSpPr>
          <p:cNvPr id="36" name="Milestone card 6"/>
          <p:cNvSpPr/>
          <p:nvPr/>
        </p:nvSpPr>
        <p:spPr>
          <a:xfrm>
            <a:off x="9829800" y="2468880"/>
            <a:ext cx="1691640" cy="1965960"/>
          </a:xfrm>
          <a:prstGeom prst="roundRect">
            <a:avLst>
              <a:gd name="adj" fmla="val 4324"/>
            </a:avLst>
          </a:prstGeom>
          <a:solidFill>
            <a:srgbClr val="FFFFFF"/>
          </a:solidFill>
          <a:ln/>
        </p:spPr>
      </p:sp>
      <p:sp>
        <p:nvSpPr>
          <p:cNvPr id="37" name="Text 35"/>
          <p:cNvSpPr txBox="1"/>
          <p:nvPr/>
        </p:nvSpPr>
        <p:spPr>
          <a:xfrm>
            <a:off x="9966960" y="2578608"/>
            <a:ext cx="1417320" cy="1097280"/>
          </a:xfrm>
          <a:prstGeom prst="rect">
            <a:avLst/>
          </a:prstGeom>
          <a:noFill/>
          <a:ln/>
        </p:spPr>
        <p:txBody>
          <a:bodyPr wrap="square" lIns="0" tIns="0" rIns="0" bIns="0" rtlCol="0" anchor="t"/>
          <a:lstStyle/>
          <a:p>
            <a:pPr indent="0" marL="0">
              <a:buNone/>
            </a:pPr>
            <a:r>
              <a:rPr lang="en-US" sz="1400" b="1" dirty="0">
                <a:solidFill>
                  <a:srgbClr val="051230"/>
                </a:solidFill>
              </a:rPr>
              <a:t>Final report submission</a:t>
            </a:r>
            <a:endParaRPr lang="en-US" sz="1400" dirty="0"/>
          </a:p>
        </p:txBody>
      </p:sp>
      <p:sp>
        <p:nvSpPr>
          <p:cNvPr id="38" name="Text 36"/>
          <p:cNvSpPr txBox="1"/>
          <p:nvPr/>
        </p:nvSpPr>
        <p:spPr>
          <a:xfrm>
            <a:off x="9966960" y="3703320"/>
            <a:ext cx="1417320" cy="640080"/>
          </a:xfrm>
          <a:prstGeom prst="rect">
            <a:avLst/>
          </a:prstGeom>
          <a:noFill/>
          <a:ln/>
        </p:spPr>
        <p:txBody>
          <a:bodyPr wrap="square" lIns="0" tIns="0" rIns="0" bIns="0" rtlCol="0" anchor="t"/>
          <a:lstStyle/>
          <a:p>
            <a:pPr indent="0" marL="0">
              <a:buNone/>
            </a:pPr>
            <a:r>
              <a:rPr lang="en-US" sz="1200" i="1" dirty="0">
                <a:solidFill>
                  <a:schemeClr val="tx2"/>
                </a:solidFill>
              </a:rPr>
              <a:t>As per university schedule</a:t>
            </a:r>
            <a:endParaRPr lang="en-US" sz="1200" dirty="0"/>
          </a:p>
        </p:txBody>
      </p:sp>
      <p:sp>
        <p:nvSpPr>
          <p:cNvPr id="39" name="Validation card"/>
          <p:cNvSpPr/>
          <p:nvPr/>
        </p:nvSpPr>
        <p:spPr>
          <a:xfrm>
            <a:off x="548640" y="4663440"/>
            <a:ext cx="5394960" cy="1600200"/>
          </a:xfrm>
          <a:prstGeom prst="roundRect">
            <a:avLst>
              <a:gd name="adj" fmla="val 4571"/>
            </a:avLst>
          </a:prstGeom>
          <a:solidFill>
            <a:schemeClr val="accent4"/>
          </a:solidFill>
          <a:ln/>
        </p:spPr>
      </p:sp>
      <p:sp>
        <p:nvSpPr>
          <p:cNvPr id="40" name="Text 38"/>
          <p:cNvSpPr txBox="1"/>
          <p:nvPr/>
        </p:nvSpPr>
        <p:spPr>
          <a:xfrm>
            <a:off x="777240" y="4754880"/>
            <a:ext cx="4937760" cy="32004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Evaluation and validation plan</a:t>
            </a:r>
            <a:endParaRPr lang="en-US" sz="1600" dirty="0"/>
          </a:p>
        </p:txBody>
      </p:sp>
      <p:sp>
        <p:nvSpPr>
          <p:cNvPr id="41" name="Text 39"/>
          <p:cNvSpPr txBox="1"/>
          <p:nvPr/>
        </p:nvSpPr>
        <p:spPr>
          <a:xfrm>
            <a:off x="777240" y="5120640"/>
            <a:ext cx="4937760" cy="10972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FFFFFF"/>
                </a:solidFill>
              </a:rPr>
              <a:t>Re-check every table against the master workbook</a:t>
            </a:r>
            <a:endParaRPr lang="en-US" sz="1400" dirty="0"/>
          </a:p>
          <a:p>
            <a:pPr marL="342900" indent="-342900">
              <a:spcAft>
                <a:spcPts val="300"/>
              </a:spcAft>
              <a:buSzPct val="100000"/>
              <a:buChar char="•"/>
            </a:pPr>
            <a:r>
              <a:rPr lang="en-US" sz="1400" dirty="0">
                <a:solidFill>
                  <a:srgbClr val="FFFFFF"/>
                </a:solidFill>
              </a:rPr>
              <a:t>Closing stock = next year's opening stock</a:t>
            </a:r>
            <a:endParaRPr lang="en-US" sz="1400" dirty="0"/>
          </a:p>
          <a:p>
            <a:pPr marL="342900" indent="-342900">
              <a:spcAft>
                <a:spcPts val="300"/>
              </a:spcAft>
              <a:buSzPct val="100000"/>
              <a:buChar char="•"/>
            </a:pPr>
            <a:r>
              <a:rPr lang="en-US" sz="1400" dirty="0">
                <a:solidFill>
                  <a:srgbClr val="FFFFFF"/>
                </a:solidFill>
              </a:rPr>
              <a:t>Read CAGR together with YoY change</a:t>
            </a:r>
            <a:endParaRPr lang="en-US" sz="1400" dirty="0"/>
          </a:p>
        </p:txBody>
      </p:sp>
      <p:sp>
        <p:nvSpPr>
          <p:cNvPr id="42" name="Submission card"/>
          <p:cNvSpPr/>
          <p:nvPr/>
        </p:nvSpPr>
        <p:spPr>
          <a:xfrm>
            <a:off x="6126480" y="4663440"/>
            <a:ext cx="5394960" cy="1600200"/>
          </a:xfrm>
          <a:prstGeom prst="roundRect">
            <a:avLst>
              <a:gd name="adj" fmla="val 4571"/>
            </a:avLst>
          </a:prstGeom>
          <a:solidFill>
            <a:schemeClr val="accent6"/>
          </a:solidFill>
          <a:ln/>
        </p:spPr>
      </p:sp>
      <p:sp>
        <p:nvSpPr>
          <p:cNvPr id="43" name="Text 41"/>
          <p:cNvSpPr txBox="1"/>
          <p:nvPr/>
        </p:nvSpPr>
        <p:spPr>
          <a:xfrm>
            <a:off x="6355080" y="4754880"/>
            <a:ext cx="4937760" cy="320040"/>
          </a:xfrm>
          <a:prstGeom prst="rect">
            <a:avLst/>
          </a:prstGeom>
          <a:noFill/>
          <a:ln/>
        </p:spPr>
        <p:txBody>
          <a:bodyPr wrap="square" lIns="0" tIns="0" rIns="0" bIns="0" rtlCol="0" anchor="t"/>
          <a:lstStyle/>
          <a:p>
            <a:pPr indent="0" marL="0">
              <a:buNone/>
            </a:pPr>
            <a:r>
              <a:rPr lang="en-US" sz="1600" b="1" dirty="0">
                <a:solidFill>
                  <a:srgbClr val="051230"/>
                </a:solidFill>
                <a:latin typeface="+mj-lt" pitchFamily="34" charset="0"/>
                <a:ea typeface="+mj-lt" pitchFamily="34" charset="-122"/>
                <a:cs typeface="+mj-lt" pitchFamily="34" charset="-120"/>
              </a:rPr>
              <a:t>Submission package</a:t>
            </a:r>
            <a:endParaRPr lang="en-US" sz="1600" dirty="0"/>
          </a:p>
        </p:txBody>
      </p:sp>
      <p:sp>
        <p:nvSpPr>
          <p:cNvPr id="44" name="Text 42"/>
          <p:cNvSpPr txBox="1"/>
          <p:nvPr/>
        </p:nvSpPr>
        <p:spPr>
          <a:xfrm>
            <a:off x="6355080" y="5120640"/>
            <a:ext cx="4937760" cy="10972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Final report in SIP format (Annexures I-IX)</a:t>
            </a:r>
            <a:endParaRPr lang="en-US" sz="1400" dirty="0"/>
          </a:p>
          <a:p>
            <a:pPr marL="342900" indent="-342900">
              <a:spcAft>
                <a:spcPts val="300"/>
              </a:spcAft>
              <a:buSzPct val="100000"/>
              <a:buChar char="•"/>
            </a:pPr>
            <a:r>
              <a:rPr lang="en-US" sz="1400" dirty="0">
                <a:solidFill>
                  <a:schemeClr val="tx1"/>
                </a:solidFill>
              </a:rPr>
              <a:t>Signed logbook and attendance sheet</a:t>
            </a:r>
            <a:endParaRPr lang="en-US" sz="1400" dirty="0"/>
          </a:p>
          <a:p>
            <a:pPr marL="342900" indent="-342900">
              <a:spcAft>
                <a:spcPts val="300"/>
              </a:spcAft>
              <a:buSzPct val="100000"/>
              <a:buChar char="•"/>
            </a:pPr>
            <a:r>
              <a:rPr lang="en-US" sz="1400" dirty="0">
                <a:solidFill>
                  <a:schemeClr val="tx1"/>
                </a:solidFill>
              </a:rPr>
              <a:t>Plagiarism report (below the 30% limit)</a:t>
            </a:r>
            <a:endParaRPr lang="en-US" sz="14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Expected Outcomes and Conclusion</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A clear cost picture, useful to policymakers, with honest limits</a:t>
            </a:r>
            <a:endParaRPr lang="en-US" sz="1600" dirty="0"/>
          </a:p>
        </p:txBody>
      </p:sp>
      <p:sp>
        <p:nvSpPr>
          <p:cNvPr id="4" name="!!Chip1"/>
          <p:cNvSpPr/>
          <p:nvPr/>
        </p:nvSpPr>
        <p:spPr>
          <a:xfrm>
            <a:off x="10241280" y="384048"/>
            <a:ext cx="411480" cy="411480"/>
          </a:xfrm>
          <a:prstGeom prst="rect">
            <a:avLst/>
          </a:prstGeom>
          <a:solidFill>
            <a:srgbClr val="E2B540"/>
          </a:solidFill>
          <a:ln/>
        </p:spPr>
      </p:sp>
      <p:sp>
        <p:nvSpPr>
          <p:cNvPr id="5" name="!!Chip2"/>
          <p:cNvSpPr/>
          <p:nvPr/>
        </p:nvSpPr>
        <p:spPr>
          <a:xfrm>
            <a:off x="10698480" y="384048"/>
            <a:ext cx="411480" cy="411480"/>
          </a:xfrm>
          <a:prstGeom prst="rect">
            <a:avLst/>
          </a:prstGeom>
          <a:solidFill>
            <a:srgbClr val="F99D1B"/>
          </a:solidFill>
          <a:ln/>
        </p:spPr>
      </p:sp>
      <p:sp>
        <p:nvSpPr>
          <p:cNvPr id="6" name="!!Chip3"/>
          <p:cNvSpPr/>
          <p:nvPr/>
        </p:nvSpPr>
        <p:spPr>
          <a:xfrm>
            <a:off x="11155680" y="384048"/>
            <a:ext cx="411480" cy="411480"/>
          </a:xfrm>
          <a:prstGeom prst="rect">
            <a:avLst/>
          </a:prstGeom>
          <a:solidFill>
            <a:srgbClr val="C16B27"/>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222</a:t>
            </a:r>
            <a:endParaRPr lang="en-US" sz="1000" dirty="0"/>
          </a:p>
        </p:txBody>
      </p:sp>
      <p:sp>
        <p:nvSpPr>
          <p:cNvPr id="8" name="Outcome card 1"/>
          <p:cNvSpPr/>
          <p:nvPr/>
        </p:nvSpPr>
        <p:spPr>
          <a:xfrm>
            <a:off x="548640" y="1600200"/>
            <a:ext cx="3538728" cy="3246120"/>
          </a:xfrm>
          <a:prstGeom prst="roundRect">
            <a:avLst>
              <a:gd name="adj" fmla="val 2254"/>
            </a:avLst>
          </a:prstGeom>
          <a:solidFill>
            <a:schemeClr val="accent2"/>
          </a:solidFill>
          <a:ln/>
        </p:spPr>
      </p:sp>
      <p:sp>
        <p:nvSpPr>
          <p:cNvPr id="9" name="Text 7"/>
          <p:cNvSpPr txBox="1"/>
          <p:nvPr/>
        </p:nvSpPr>
        <p:spPr>
          <a:xfrm>
            <a:off x="777240" y="173736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mj-lt" pitchFamily="34" charset="0"/>
                <a:ea typeface="+mj-lt" pitchFamily="34" charset="-122"/>
                <a:cs typeface="+mj-lt" pitchFamily="34" charset="-120"/>
              </a:rPr>
              <a:t>Expected deliverables</a:t>
            </a:r>
            <a:endParaRPr lang="en-US" sz="1700" dirty="0"/>
          </a:p>
        </p:txBody>
      </p:sp>
      <p:sp>
        <p:nvSpPr>
          <p:cNvPr id="10" name="Text 8"/>
          <p:cNvSpPr txBox="1"/>
          <p:nvPr/>
        </p:nvSpPr>
        <p:spPr>
          <a:xfrm>
            <a:off x="777240" y="2240280"/>
            <a:ext cx="3108960" cy="24688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FFFFFF"/>
                </a:solidFill>
              </a:rPr>
              <a:t>Final SIP report (7 chapters)</a:t>
            </a:r>
            <a:endParaRPr lang="en-US" sz="1400" dirty="0"/>
          </a:p>
          <a:p>
            <a:pPr marL="342900" indent="-342900">
              <a:spcAft>
                <a:spcPts val="700"/>
              </a:spcAft>
              <a:buSzPct val="100000"/>
              <a:buChar char="•"/>
            </a:pPr>
            <a:r>
              <a:rPr lang="en-US" sz="1400" dirty="0">
                <a:solidFill>
                  <a:srgbClr val="FFFFFF"/>
                </a:solidFill>
              </a:rPr>
              <a:t>12 analysis tables plus trend charts</a:t>
            </a:r>
            <a:endParaRPr lang="en-US" sz="1400" dirty="0"/>
          </a:p>
          <a:p>
            <a:pPr marL="342900" indent="-342900">
              <a:spcAft>
                <a:spcPts val="700"/>
              </a:spcAft>
              <a:buSzPct val="100000"/>
              <a:buChar char="•"/>
            </a:pPr>
            <a:r>
              <a:rPr lang="en-US" sz="1400" dirty="0">
                <a:solidFill>
                  <a:srgbClr val="FFFFFF"/>
                </a:solidFill>
              </a:rPr>
              <a:t>Master data workbook</a:t>
            </a:r>
            <a:endParaRPr lang="en-US" sz="1400" dirty="0"/>
          </a:p>
          <a:p>
            <a:pPr marL="342900" indent="-342900">
              <a:spcAft>
                <a:spcPts val="700"/>
              </a:spcAft>
              <a:buSzPct val="100000"/>
              <a:buChar char="•"/>
            </a:pPr>
            <a:r>
              <a:rPr lang="en-US" sz="1400" dirty="0">
                <a:solidFill>
                  <a:srgbClr val="FFFFFF"/>
                </a:solidFill>
              </a:rPr>
              <a:t>Five recommendations</a:t>
            </a:r>
            <a:endParaRPr lang="en-US" sz="1400" dirty="0"/>
          </a:p>
        </p:txBody>
      </p:sp>
      <p:sp>
        <p:nvSpPr>
          <p:cNvPr id="11" name="Outcome card 2"/>
          <p:cNvSpPr/>
          <p:nvPr/>
        </p:nvSpPr>
        <p:spPr>
          <a:xfrm>
            <a:off x="4265676" y="1600200"/>
            <a:ext cx="3538728" cy="3246120"/>
          </a:xfrm>
          <a:prstGeom prst="roundRect">
            <a:avLst>
              <a:gd name="adj" fmla="val 2254"/>
            </a:avLst>
          </a:prstGeom>
          <a:solidFill>
            <a:schemeClr val="accent1"/>
          </a:solidFill>
          <a:ln/>
        </p:spPr>
      </p:sp>
      <p:sp>
        <p:nvSpPr>
          <p:cNvPr id="12" name="Text 10"/>
          <p:cNvSpPr txBox="1"/>
          <p:nvPr/>
        </p:nvSpPr>
        <p:spPr>
          <a:xfrm>
            <a:off x="4494276" y="1737360"/>
            <a:ext cx="3108960" cy="365760"/>
          </a:xfrm>
          <a:prstGeom prst="rect">
            <a:avLst/>
          </a:prstGeom>
          <a:noFill/>
          <a:ln/>
        </p:spPr>
        <p:txBody>
          <a:bodyPr wrap="square" lIns="0" tIns="0" rIns="0" bIns="0" rtlCol="0" anchor="t"/>
          <a:lstStyle/>
          <a:p>
            <a:pPr indent="0" marL="0">
              <a:buNone/>
            </a:pPr>
            <a:r>
              <a:rPr lang="en-US" sz="1700" b="1" dirty="0">
                <a:solidFill>
                  <a:srgbClr val="051230"/>
                </a:solidFill>
                <a:latin typeface="+mj-lt" pitchFamily="34" charset="0"/>
                <a:ea typeface="+mj-lt" pitchFamily="34" charset="-122"/>
                <a:cs typeface="+mj-lt" pitchFamily="34" charset="-120"/>
              </a:rPr>
              <a:t>Benefits and applications</a:t>
            </a:r>
            <a:endParaRPr lang="en-US" sz="1700" dirty="0"/>
          </a:p>
        </p:txBody>
      </p:sp>
      <p:sp>
        <p:nvSpPr>
          <p:cNvPr id="13" name="Text 11"/>
          <p:cNvSpPr txBox="1"/>
          <p:nvPr/>
        </p:nvSpPr>
        <p:spPr>
          <a:xfrm>
            <a:off x="4494276" y="2240280"/>
            <a:ext cx="3108960" cy="24688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051230"/>
                </a:solidFill>
              </a:rPr>
              <a:t>FCI and DFPD: spot cost drivers</a:t>
            </a:r>
            <a:endParaRPr lang="en-US" sz="1400" dirty="0"/>
          </a:p>
          <a:p>
            <a:pPr marL="342900" indent="-342900">
              <a:spcAft>
                <a:spcPts val="700"/>
              </a:spcAft>
              <a:buSzPct val="100000"/>
              <a:buChar char="•"/>
            </a:pPr>
            <a:r>
              <a:rPr lang="en-US" sz="1400" dirty="0">
                <a:solidFill>
                  <a:srgbClr val="051230"/>
                </a:solidFill>
              </a:rPr>
              <a:t>Policymakers: more transparent subsidy data</a:t>
            </a:r>
            <a:endParaRPr lang="en-US" sz="1400" dirty="0"/>
          </a:p>
          <a:p>
            <a:pPr marL="342900" indent="-342900">
              <a:spcAft>
                <a:spcPts val="700"/>
              </a:spcAft>
              <a:buSzPct val="100000"/>
              <a:buChar char="•"/>
            </a:pPr>
            <a:r>
              <a:rPr lang="en-US" sz="1400" dirty="0">
                <a:solidFill>
                  <a:srgbClr val="051230"/>
                </a:solidFill>
              </a:rPr>
              <a:t>Researchers: reusable five-year dataset</a:t>
            </a:r>
            <a:endParaRPr lang="en-US" sz="1400" dirty="0"/>
          </a:p>
          <a:p>
            <a:pPr marL="342900" indent="-342900">
              <a:spcAft>
                <a:spcPts val="700"/>
              </a:spcAft>
              <a:buSzPct val="100000"/>
              <a:buChar char="•"/>
            </a:pPr>
            <a:r>
              <a:rPr lang="en-US" sz="1400" dirty="0">
                <a:solidFill>
                  <a:srgbClr val="051230"/>
                </a:solidFill>
              </a:rPr>
              <a:t>Analysts: warned about the subsidy-rate gap</a:t>
            </a:r>
            <a:endParaRPr lang="en-US" sz="1400" dirty="0"/>
          </a:p>
        </p:txBody>
      </p:sp>
      <p:sp>
        <p:nvSpPr>
          <p:cNvPr id="14" name="Outcome card 3"/>
          <p:cNvSpPr/>
          <p:nvPr/>
        </p:nvSpPr>
        <p:spPr>
          <a:xfrm>
            <a:off x="7982712" y="1600200"/>
            <a:ext cx="3538728" cy="3246120"/>
          </a:xfrm>
          <a:prstGeom prst="roundRect">
            <a:avLst>
              <a:gd name="adj" fmla="val 2254"/>
            </a:avLst>
          </a:prstGeom>
          <a:solidFill>
            <a:schemeClr val="accent6"/>
          </a:solidFill>
          <a:ln/>
        </p:spPr>
      </p:sp>
      <p:sp>
        <p:nvSpPr>
          <p:cNvPr id="15" name="Text 13"/>
          <p:cNvSpPr txBox="1"/>
          <p:nvPr/>
        </p:nvSpPr>
        <p:spPr>
          <a:xfrm>
            <a:off x="8211312" y="1737360"/>
            <a:ext cx="3108960" cy="365760"/>
          </a:xfrm>
          <a:prstGeom prst="rect">
            <a:avLst/>
          </a:prstGeom>
          <a:noFill/>
          <a:ln/>
        </p:spPr>
        <p:txBody>
          <a:bodyPr wrap="square" lIns="0" tIns="0" rIns="0" bIns="0" rtlCol="0" anchor="t"/>
          <a:lstStyle/>
          <a:p>
            <a:pPr indent="0" marL="0">
              <a:buNone/>
            </a:pPr>
            <a:r>
              <a:rPr lang="en-US" sz="1700" b="1" dirty="0">
                <a:solidFill>
                  <a:srgbClr val="051230"/>
                </a:solidFill>
                <a:latin typeface="+mj-lt" pitchFamily="34" charset="0"/>
                <a:ea typeface="+mj-lt" pitchFamily="34" charset="-122"/>
                <a:cs typeface="+mj-lt" pitchFamily="34" charset="-120"/>
              </a:rPr>
              <a:t>Anticipated limitations</a:t>
            </a:r>
            <a:endParaRPr lang="en-US" sz="1700" dirty="0"/>
          </a:p>
        </p:txBody>
      </p:sp>
      <p:sp>
        <p:nvSpPr>
          <p:cNvPr id="16" name="Text 14"/>
          <p:cNvSpPr txBox="1"/>
          <p:nvPr/>
        </p:nvSpPr>
        <p:spPr>
          <a:xfrm>
            <a:off x="8211312" y="2240280"/>
            <a:ext cx="3108960" cy="24688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051230"/>
                </a:solidFill>
              </a:rPr>
              <a:t>Summary data only; no internal ledgers</a:t>
            </a:r>
            <a:endParaRPr lang="en-US" sz="1400" dirty="0"/>
          </a:p>
          <a:p>
            <a:pPr marL="342900" indent="-342900">
              <a:spcAft>
                <a:spcPts val="700"/>
              </a:spcAft>
              <a:buSzPct val="100000"/>
              <a:buChar char="•"/>
            </a:pPr>
            <a:r>
              <a:rPr lang="en-US" sz="1400" dirty="0">
                <a:solidFill>
                  <a:srgbClr val="051230"/>
                </a:solidFill>
              </a:rPr>
              <a:t>Nominal, not inflation-adjusted values</a:t>
            </a:r>
            <a:endParaRPr lang="en-US" sz="1400" dirty="0"/>
          </a:p>
          <a:p>
            <a:pPr marL="342900" indent="-342900">
              <a:spcAft>
                <a:spcPts val="700"/>
              </a:spcAft>
              <a:buSzPct val="100000"/>
              <a:buChar char="•"/>
            </a:pPr>
            <a:r>
              <a:rPr lang="en-US" sz="1400" dirty="0">
                <a:solidFill>
                  <a:srgbClr val="051230"/>
                </a:solidFill>
              </a:rPr>
              <a:t>Short five-year window</a:t>
            </a:r>
            <a:endParaRPr lang="en-US" sz="1400" dirty="0"/>
          </a:p>
          <a:p>
            <a:pPr marL="342900" indent="-342900">
              <a:spcAft>
                <a:spcPts val="700"/>
              </a:spcAft>
              <a:buSzPct val="100000"/>
              <a:buChar char="•"/>
            </a:pPr>
            <a:r>
              <a:rPr lang="en-US" sz="1400" dirty="0">
                <a:solidFill>
                  <a:srgbClr val="051230"/>
                </a:solidFill>
              </a:rPr>
              <a:t>2021 distribution-cost fall unexplained</a:t>
            </a:r>
            <a:endParaRPr lang="en-US" sz="1400" dirty="0"/>
          </a:p>
        </p:txBody>
      </p:sp>
      <p:sp>
        <p:nvSpPr>
          <p:cNvPr id="17" name="Conclusion banner"/>
          <p:cNvSpPr/>
          <p:nvPr/>
        </p:nvSpPr>
        <p:spPr>
          <a:xfrm>
            <a:off x="548640" y="5029200"/>
            <a:ext cx="10972800" cy="1234440"/>
          </a:xfrm>
          <a:prstGeom prst="roundRect">
            <a:avLst>
              <a:gd name="adj" fmla="val 5926"/>
            </a:avLst>
          </a:prstGeom>
          <a:solidFill>
            <a:schemeClr val="tx1"/>
          </a:solidFill>
          <a:ln/>
        </p:spPr>
      </p:sp>
      <p:sp>
        <p:nvSpPr>
          <p:cNvPr id="18" name="Text 16"/>
          <p:cNvSpPr txBox="1"/>
          <p:nvPr/>
        </p:nvSpPr>
        <p:spPr>
          <a:xfrm>
            <a:off x="777240" y="5029200"/>
            <a:ext cx="10515600" cy="1234440"/>
          </a:xfrm>
          <a:prstGeom prst="rect">
            <a:avLst/>
          </a:prstGeom>
          <a:noFill/>
          <a:ln/>
        </p:spPr>
        <p:txBody>
          <a:bodyPr wrap="square" lIns="0" tIns="0" rIns="0" bIns="0" rtlCol="0" anchor="ctr"/>
          <a:lstStyle/>
          <a:p>
            <a:pPr indent="0" marL="0">
              <a:buNone/>
            </a:pPr>
            <a:r>
              <a:rPr lang="en-US" sz="1500" b="1" dirty="0">
                <a:solidFill>
                  <a:schemeClr val="accent1"/>
                </a:solidFill>
              </a:rPr>
              <a:t>Status and conclusion: </a:t>
            </a:r>
            <a:pPr indent="0" marL="0">
              <a:buNone/>
            </a:pPr>
            <a:r>
              <a:rPr lang="en-US" sz="1500" dirty="0">
                <a:solidFill>
                  <a:srgbClr val="FFFFFF"/>
                </a:solidFill>
              </a:rPr>
              <a:t>Analysis is complete; drafting and verification are in progress. FCI's costs show two phases (COVID/PMGKAY surge, then normalisation with equity-funded restructuring), and cost pressure now sits at farm-gate procurement, especially paddy.</a:t>
            </a:r>
            <a:endParaRPr lang="en-US" sz="15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p:nvPr>
            <p:ph idx="100" type="title" hasCustomPrompt="1"/>
          </p:nvPr>
        </p:nvSpPr>
        <p:spPr>
          <a:xfrm>
            <a:off x="548640" y="274320"/>
            <a:ext cx="9326880" cy="73152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References and Questions</a:t>
            </a:r>
            <a:endParaRPr lang="en-US" sz="3400" dirty="0"/>
          </a:p>
        </p:txBody>
      </p:sp>
      <p:sp>
        <p:nvSpPr>
          <p:cNvPr id="3" name="Takeaway"/>
          <p:cNvSpPr txBox="1"/>
          <p:nvPr/>
        </p:nvSpPr>
        <p:spPr>
          <a:xfrm>
            <a:off x="548640" y="1024128"/>
            <a:ext cx="9509760" cy="411480"/>
          </a:xfrm>
          <a:prstGeom prst="rect">
            <a:avLst/>
          </a:prstGeom>
          <a:noFill/>
          <a:ln/>
        </p:spPr>
        <p:txBody>
          <a:bodyPr wrap="square" lIns="0" tIns="0" rIns="0" bIns="0" rtlCol="0" anchor="t"/>
          <a:lstStyle/>
          <a:p>
            <a:pPr indent="0" marL="0">
              <a:buNone/>
            </a:pPr>
            <a:r>
              <a:rPr lang="en-US" sz="1600" i="1" dirty="0">
                <a:solidFill>
                  <a:schemeClr val="tx2"/>
                </a:solidFill>
              </a:rPr>
              <a:t>IEEE style; items marked with a dagger need full details confirmed</a:t>
            </a:r>
            <a:endParaRPr lang="en-US" sz="1600" dirty="0"/>
          </a:p>
        </p:txBody>
      </p:sp>
      <p:sp>
        <p:nvSpPr>
          <p:cNvPr id="4" name="!!Chip1"/>
          <p:cNvSpPr/>
          <p:nvPr/>
        </p:nvSpPr>
        <p:spPr>
          <a:xfrm>
            <a:off x="10241280" y="384048"/>
            <a:ext cx="411480" cy="411480"/>
          </a:xfrm>
          <a:prstGeom prst="rect">
            <a:avLst/>
          </a:prstGeom>
          <a:solidFill>
            <a:srgbClr val="F5ECC2"/>
          </a:solidFill>
          <a:ln/>
        </p:spPr>
      </p:sp>
      <p:sp>
        <p:nvSpPr>
          <p:cNvPr id="5" name="!!Chip2"/>
          <p:cNvSpPr/>
          <p:nvPr/>
        </p:nvSpPr>
        <p:spPr>
          <a:xfrm>
            <a:off x="10698480" y="384048"/>
            <a:ext cx="411480" cy="411480"/>
          </a:xfrm>
          <a:prstGeom prst="rect">
            <a:avLst/>
          </a:prstGeom>
          <a:solidFill>
            <a:srgbClr val="099197"/>
          </a:solidFill>
          <a:ln/>
        </p:spPr>
      </p:sp>
      <p:sp>
        <p:nvSpPr>
          <p:cNvPr id="6" name="!!Chip3"/>
          <p:cNvSpPr/>
          <p:nvPr/>
        </p:nvSpPr>
        <p:spPr>
          <a:xfrm>
            <a:off x="11155680" y="384048"/>
            <a:ext cx="411480" cy="411480"/>
          </a:xfrm>
          <a:prstGeom prst="rect">
            <a:avLst/>
          </a:prstGeom>
          <a:solidFill>
            <a:srgbClr val="007190"/>
          </a:solidFill>
          <a:ln/>
        </p:spPr>
      </p:sp>
      <p:sp>
        <p:nvSpPr>
          <p:cNvPr id="7" name="!!ComboLabel"/>
          <p:cNvSpPr txBox="1"/>
          <p:nvPr/>
        </p:nvSpPr>
        <p:spPr>
          <a:xfrm>
            <a:off x="10241280" y="850392"/>
            <a:ext cx="1463040" cy="228600"/>
          </a:xfrm>
          <a:prstGeom prst="rect">
            <a:avLst/>
          </a:prstGeom>
          <a:noFill/>
          <a:ln/>
        </p:spPr>
        <p:txBody>
          <a:bodyPr wrap="square" lIns="0" tIns="0" rIns="0" bIns="0" rtlCol="0" anchor="t"/>
          <a:lstStyle/>
          <a:p>
            <a:pPr indent="0" marL="0">
              <a:buNone/>
            </a:pPr>
            <a:r>
              <a:rPr lang="en-US" sz="1000" i="1" dirty="0">
                <a:solidFill>
                  <a:schemeClr val="tx2"/>
                </a:solidFill>
              </a:rPr>
              <a:t>Combination No. 208</a:t>
            </a:r>
            <a:endParaRPr lang="en-US" sz="1000" dirty="0"/>
          </a:p>
        </p:txBody>
      </p:sp>
      <p:sp>
        <p:nvSpPr>
          <p:cNvPr id="8" name="References card"/>
          <p:cNvSpPr/>
          <p:nvPr/>
        </p:nvSpPr>
        <p:spPr>
          <a:xfrm>
            <a:off x="548640" y="1600200"/>
            <a:ext cx="7818120" cy="4663440"/>
          </a:xfrm>
          <a:prstGeom prst="roundRect">
            <a:avLst>
              <a:gd name="adj" fmla="val 1569"/>
            </a:avLst>
          </a:prstGeom>
          <a:solidFill>
            <a:srgbClr val="FFFFFF"/>
          </a:solidFill>
          <a:ln/>
        </p:spPr>
      </p:sp>
      <p:sp>
        <p:nvSpPr>
          <p:cNvPr id="9" name="Text 7"/>
          <p:cNvSpPr txBox="1"/>
          <p:nvPr/>
        </p:nvSpPr>
        <p:spPr>
          <a:xfrm>
            <a:off x="731520" y="1737360"/>
            <a:ext cx="3657600" cy="4389120"/>
          </a:xfrm>
          <a:prstGeom prst="rect">
            <a:avLst/>
          </a:prstGeom>
          <a:noFill/>
          <a:ln/>
        </p:spPr>
        <p:txBody>
          <a:bodyPr wrap="square" lIns="0" tIns="0" rIns="0" bIns="0" rtlCol="0" anchor="t"/>
          <a:lstStyle/>
          <a:p>
            <a:pPr indent="0" marL="0">
              <a:spcAft>
                <a:spcPts val="400"/>
              </a:spcAft>
              <a:buNone/>
            </a:pPr>
            <a:r>
              <a:rPr lang="en-US" sz="1100" dirty="0">
                <a:solidFill>
                  <a:schemeClr val="tx1"/>
                </a:solidFill>
              </a:rPr>
              <a:t>[1] Food Corporation of India, "Annual Reports 2020-21 to 2024-25," FCI, Govt. of India, New Delhi, India, 2021-2025.</a:t>
            </a:r>
            <a:endParaRPr lang="en-US" sz="1100" dirty="0"/>
          </a:p>
          <a:p>
            <a:pPr indent="0" marL="0">
              <a:spcAft>
                <a:spcPts val="400"/>
              </a:spcAft>
              <a:buNone/>
            </a:pPr>
            <a:r>
              <a:rPr lang="en-US" sz="1100" dirty="0">
                <a:solidFill>
                  <a:schemeClr val="tx1"/>
                </a:solidFill>
              </a:rPr>
              <a:t>[2] Government of India, "The Food Corporations Act, 1964 (Act No. 37 of 1964)," Ministry of Law and Justice, New Delhi, India, 1964.</a:t>
            </a:r>
            <a:endParaRPr lang="en-US" sz="1100" dirty="0"/>
          </a:p>
          <a:p>
            <a:pPr indent="0" marL="0">
              <a:spcAft>
                <a:spcPts val="400"/>
              </a:spcAft>
              <a:buNone/>
            </a:pPr>
            <a:r>
              <a:rPr lang="en-US" sz="1100" dirty="0">
                <a:solidFill>
                  <a:schemeClr val="tx1"/>
                </a:solidFill>
              </a:rPr>
              <a:t>[3] Government of India, "The National Food Security Act, 2013 (Act No. 20 of 2013)," Ministry of Law and Justice, New Delhi, India, 2013.</a:t>
            </a:r>
            <a:endParaRPr lang="en-US" sz="1100" dirty="0"/>
          </a:p>
          <a:p>
            <a:pPr indent="0" marL="0">
              <a:spcAft>
                <a:spcPts val="400"/>
              </a:spcAft>
              <a:buNone/>
            </a:pPr>
            <a:r>
              <a:rPr lang="en-US" sz="1100" dirty="0">
                <a:solidFill>
                  <a:schemeClr val="tx1"/>
                </a:solidFill>
              </a:rPr>
              <a:t>[4] Ministry of Consumer Affairs, Food and Public Distribution, "Report of the High Level Committee on Reorienting the Role and Restructuring of FCI (Shanta Kumar Committee)," New Delhi, India, 2015.</a:t>
            </a:r>
            <a:endParaRPr lang="en-US" sz="1100" dirty="0"/>
          </a:p>
          <a:p>
            <a:pPr indent="0" marL="0">
              <a:spcAft>
                <a:spcPts val="400"/>
              </a:spcAft>
              <a:buNone/>
            </a:pPr>
            <a:r>
              <a:rPr lang="en-US" sz="1100" dirty="0">
                <a:solidFill>
                  <a:schemeClr val="tx1"/>
                </a:solidFill>
              </a:rPr>
              <a:t>[5] Ministry of Finance, "Economic Survey 2019-20," Govt. of India, New Delhi, India, 2020.</a:t>
            </a:r>
            <a:endParaRPr lang="en-US" sz="1100" dirty="0"/>
          </a:p>
          <a:p>
            <a:pPr indent="0" marL="0">
              <a:spcAft>
                <a:spcPts val="400"/>
              </a:spcAft>
              <a:buNone/>
            </a:pPr>
            <a:r>
              <a:rPr lang="en-US" sz="1100" dirty="0">
                <a:solidFill>
                  <a:schemeClr val="tx1"/>
                </a:solidFill>
              </a:rPr>
              <a:t>[6] Ministry of Finance, "Economic Survey 2020-21," Govt. of India, New Delhi, India, 2021.</a:t>
            </a:r>
            <a:endParaRPr lang="en-US" sz="1100" dirty="0"/>
          </a:p>
          <a:p>
            <a:pPr indent="0" marL="0">
              <a:spcAft>
                <a:spcPts val="400"/>
              </a:spcAft>
              <a:buNone/>
            </a:pPr>
            <a:r>
              <a:rPr lang="en-US" sz="1100" dirty="0">
                <a:solidFill>
                  <a:schemeClr val="tx1"/>
                </a:solidFill>
              </a:rPr>
              <a:t>[7] Comptroller and Auditor General of India, "Report No. 7 of 2013: Compliance Audit, Union Government, Food Corporation of India," New Delhi, India, 2013.</a:t>
            </a:r>
            <a:endParaRPr lang="en-US" sz="1100" dirty="0"/>
          </a:p>
          <a:p>
            <a:pPr indent="0" marL="0">
              <a:spcAft>
                <a:spcPts val="400"/>
              </a:spcAft>
              <a:buNone/>
            </a:pPr>
            <a:r>
              <a:rPr lang="en-US" sz="1100" dirty="0">
                <a:solidFill>
                  <a:schemeClr val="tx1"/>
                </a:solidFill>
              </a:rPr>
              <a:t>[8] FAO, "Rome Declaration on World Food Security and World Food Summit Plan of Action," Rome, Italy, Nov. 1996.</a:t>
            </a:r>
            <a:endParaRPr lang="en-US" sz="1100" dirty="0"/>
          </a:p>
        </p:txBody>
      </p:sp>
      <p:sp>
        <p:nvSpPr>
          <p:cNvPr id="10" name="Text 8"/>
          <p:cNvSpPr txBox="1"/>
          <p:nvPr/>
        </p:nvSpPr>
        <p:spPr>
          <a:xfrm>
            <a:off x="4526280" y="1737360"/>
            <a:ext cx="3657600" cy="3566160"/>
          </a:xfrm>
          <a:prstGeom prst="rect">
            <a:avLst/>
          </a:prstGeom>
          <a:noFill/>
          <a:ln/>
        </p:spPr>
        <p:txBody>
          <a:bodyPr wrap="square" lIns="0" tIns="0" rIns="0" bIns="0" rtlCol="0" anchor="t"/>
          <a:lstStyle/>
          <a:p>
            <a:pPr indent="0" marL="0">
              <a:spcAft>
                <a:spcPts val="400"/>
              </a:spcAft>
              <a:buNone/>
            </a:pPr>
            <a:r>
              <a:rPr lang="en-US" sz="1100" dirty="0">
                <a:solidFill>
                  <a:schemeClr val="tx1"/>
                </a:solidFill>
              </a:rPr>
              <a:t>[9] J. Drèze and A. Sen, Hunger and Public Action. Oxford, U.K.: Oxford Univ. Press, 1989.</a:t>
            </a:r>
            <a:endParaRPr lang="en-US" sz="1100" dirty="0"/>
          </a:p>
          <a:p>
            <a:pPr indent="0" marL="0">
              <a:spcAft>
                <a:spcPts val="400"/>
              </a:spcAft>
              <a:buNone/>
            </a:pPr>
            <a:r>
              <a:rPr lang="en-US" sz="1100" dirty="0">
                <a:solidFill>
                  <a:schemeClr val="tx1"/>
                </a:solidFill>
              </a:rPr>
              <a:t>[10] A. Gulati and S. Saini, ICRIER working paper on India's food subsidy, 2015. †</a:t>
            </a:r>
            <a:endParaRPr lang="en-US" sz="1100" dirty="0"/>
          </a:p>
          <a:p>
            <a:pPr indent="0" marL="0">
              <a:spcAft>
                <a:spcPts val="400"/>
              </a:spcAft>
              <a:buNone/>
            </a:pPr>
            <a:r>
              <a:rPr lang="en-US" sz="1100" dirty="0">
                <a:solidFill>
                  <a:schemeClr val="tx1"/>
                </a:solidFill>
              </a:rPr>
              <a:t>[11] M. Swaminathan, work on food sufficiency and the PDS, 2000. †</a:t>
            </a:r>
            <a:endParaRPr lang="en-US" sz="1100" dirty="0"/>
          </a:p>
          <a:p>
            <a:pPr indent="0" marL="0">
              <a:spcAft>
                <a:spcPts val="400"/>
              </a:spcAft>
              <a:buNone/>
            </a:pPr>
            <a:r>
              <a:rPr lang="en-US" sz="1100" dirty="0">
                <a:solidFill>
                  <a:schemeClr val="tx1"/>
                </a:solidFill>
              </a:rPr>
              <a:t>[12] Himanshu and A. Sen, work on NFSA implementation, 2013. †</a:t>
            </a:r>
            <a:endParaRPr lang="en-US" sz="1100" dirty="0"/>
          </a:p>
          <a:p>
            <a:pPr indent="0" marL="0">
              <a:spcAft>
                <a:spcPts val="400"/>
              </a:spcAft>
              <a:buNone/>
            </a:pPr>
            <a:r>
              <a:rPr lang="en-US" sz="1100" dirty="0">
                <a:solidFill>
                  <a:schemeClr val="tx1"/>
                </a:solidFill>
              </a:rPr>
              <a:t>[13] G. Kaur and S. Arora, J. Public Affairs, 2020. †</a:t>
            </a:r>
            <a:endParaRPr lang="en-US" sz="1100" dirty="0"/>
          </a:p>
          <a:p>
            <a:pPr indent="0" marL="0">
              <a:spcAft>
                <a:spcPts val="400"/>
              </a:spcAft>
              <a:buNone/>
            </a:pPr>
            <a:r>
              <a:rPr lang="en-US" sz="1100" dirty="0">
                <a:solidFill>
                  <a:schemeClr val="tx1"/>
                </a:solidFill>
              </a:rPr>
              <a:t>[14] K. Srinivasa Rao, work on FCI storage mismatch, 2012. †</a:t>
            </a:r>
            <a:endParaRPr lang="en-US" sz="1100" dirty="0"/>
          </a:p>
          <a:p>
            <a:pPr indent="0" marL="0">
              <a:spcAft>
                <a:spcPts val="400"/>
              </a:spcAft>
              <a:buNone/>
            </a:pPr>
            <a:r>
              <a:rPr lang="en-US" sz="1100" dirty="0">
                <a:solidFill>
                  <a:schemeClr val="tx1"/>
                </a:solidFill>
              </a:rPr>
              <a:t>[15] R. Mahajan, work on storage infrastructure returns, 2014. †</a:t>
            </a:r>
            <a:endParaRPr lang="en-US" sz="1100" dirty="0"/>
          </a:p>
        </p:txBody>
      </p:sp>
      <p:sp>
        <p:nvSpPr>
          <p:cNvPr id="11" name="Text 9"/>
          <p:cNvSpPr txBox="1"/>
          <p:nvPr/>
        </p:nvSpPr>
        <p:spPr>
          <a:xfrm>
            <a:off x="4526280" y="5760720"/>
            <a:ext cx="3657600" cy="411480"/>
          </a:xfrm>
          <a:prstGeom prst="rect">
            <a:avLst/>
          </a:prstGeom>
          <a:noFill/>
          <a:ln/>
        </p:spPr>
        <p:txBody>
          <a:bodyPr wrap="square" lIns="0" tIns="0" rIns="0" bIns="0" rtlCol="0" anchor="t"/>
          <a:lstStyle/>
          <a:p>
            <a:pPr indent="0" marL="0">
              <a:buNone/>
            </a:pPr>
            <a:r>
              <a:rPr lang="en-US" sz="1100" i="1" dirty="0">
                <a:solidFill>
                  <a:srgbClr val="CC1236"/>
                </a:solidFill>
              </a:rPr>
              <a:t>† Full publication details to be verified before submission.</a:t>
            </a:r>
            <a:endParaRPr lang="en-US" sz="1100" dirty="0"/>
          </a:p>
        </p:txBody>
      </p:sp>
      <p:sp>
        <p:nvSpPr>
          <p:cNvPr id="12" name="Questions card"/>
          <p:cNvSpPr/>
          <p:nvPr/>
        </p:nvSpPr>
        <p:spPr>
          <a:xfrm>
            <a:off x="8595360" y="1600200"/>
            <a:ext cx="2926080" cy="4663440"/>
          </a:xfrm>
          <a:prstGeom prst="roundRect">
            <a:avLst>
              <a:gd name="adj" fmla="val 2500"/>
            </a:avLst>
          </a:prstGeom>
          <a:solidFill>
            <a:schemeClr val="accent5"/>
          </a:solidFill>
          <a:ln/>
        </p:spPr>
      </p:sp>
      <p:sp>
        <p:nvSpPr>
          <p:cNvPr id="13" name="Text 11"/>
          <p:cNvSpPr txBox="1"/>
          <p:nvPr/>
        </p:nvSpPr>
        <p:spPr>
          <a:xfrm>
            <a:off x="8823960" y="2286000"/>
            <a:ext cx="2468880" cy="640080"/>
          </a:xfrm>
          <a:prstGeom prst="rect">
            <a:avLst/>
          </a:prstGeom>
          <a:noFill/>
          <a:ln/>
        </p:spPr>
        <p:txBody>
          <a:bodyPr wrap="square" lIns="0" tIns="0" rIns="0" bIns="0" rtlCol="0" anchor="t"/>
          <a:lstStyle/>
          <a:p>
            <a:pPr indent="0" marL="0">
              <a:buNone/>
            </a:pPr>
            <a:r>
              <a:rPr lang="en-US" sz="3200" b="1" dirty="0">
                <a:solidFill>
                  <a:srgbClr val="FFFFFF"/>
                </a:solidFill>
                <a:latin typeface="+mj-lt" pitchFamily="34" charset="0"/>
                <a:ea typeface="+mj-lt" pitchFamily="34" charset="-122"/>
                <a:cs typeface="+mj-lt" pitchFamily="34" charset="-120"/>
              </a:rPr>
              <a:t>Thank you</a:t>
            </a:r>
            <a:endParaRPr lang="en-US" sz="3200" dirty="0"/>
          </a:p>
        </p:txBody>
      </p:sp>
      <p:sp>
        <p:nvSpPr>
          <p:cNvPr id="14" name="Text 12"/>
          <p:cNvSpPr txBox="1"/>
          <p:nvPr/>
        </p:nvSpPr>
        <p:spPr>
          <a:xfrm>
            <a:off x="8823960" y="3063240"/>
            <a:ext cx="2468880" cy="548640"/>
          </a:xfrm>
          <a:prstGeom prst="rect">
            <a:avLst/>
          </a:prstGeom>
          <a:noFill/>
          <a:ln/>
        </p:spPr>
        <p:txBody>
          <a:bodyPr wrap="square" lIns="0" tIns="0" rIns="0" bIns="0" rtlCol="0" anchor="t"/>
          <a:lstStyle/>
          <a:p>
            <a:pPr indent="0" marL="0">
              <a:buNone/>
            </a:pPr>
            <a:r>
              <a:rPr lang="en-US" sz="2600" i="1" dirty="0">
                <a:solidFill>
                  <a:schemeClr val="accent1"/>
                </a:solidFill>
                <a:latin typeface="+mj-lt" pitchFamily="34" charset="0"/>
                <a:ea typeface="+mj-lt" pitchFamily="34" charset="-122"/>
                <a:cs typeface="+mj-lt" pitchFamily="34" charset="-120"/>
              </a:rPr>
              <a:t>Questions?</a:t>
            </a:r>
            <a:endParaRPr lang="en-US" sz="2600" dirty="0"/>
          </a:p>
        </p:txBody>
      </p:sp>
      <p:sp>
        <p:nvSpPr>
          <p:cNvPr id="15" name="Text 13"/>
          <p:cNvSpPr txBox="1"/>
          <p:nvPr/>
        </p:nvSpPr>
        <p:spPr>
          <a:xfrm>
            <a:off x="8823960" y="4937760"/>
            <a:ext cx="2468880" cy="822960"/>
          </a:xfrm>
          <a:prstGeom prst="rect">
            <a:avLst/>
          </a:prstGeom>
          <a:noFill/>
          <a:ln/>
        </p:spPr>
        <p:txBody>
          <a:bodyPr wrap="square" lIns="0" tIns="0" rIns="0" bIns="0" rtlCol="0" anchor="t"/>
          <a:lstStyle/>
          <a:p>
            <a:pPr indent="0" marL="0">
              <a:buNone/>
            </a:pPr>
            <a:r>
              <a:rPr lang="en-US" sz="1400" b="1" dirty="0">
                <a:solidFill>
                  <a:srgbClr val="FFFFFF"/>
                </a:solidFill>
              </a:rPr>
              <a:t>Riya Khobragade</a:t>
            </a:r>
            <a:endParaRPr lang="en-US" sz="1400" dirty="0"/>
          </a:p>
          <a:p>
            <a:pPr indent="0" marL="0">
              <a:buNone/>
            </a:pPr>
            <a:r>
              <a:rPr lang="en-US" sz="1400" dirty="0">
                <a:solidFill>
                  <a:srgbClr val="FFFFFF"/>
                </a:solidFill>
              </a:rPr>
              <a:t>250104004026</a:t>
            </a:r>
            <a:endParaRPr lang="en-US" sz="1400" dirty="0"/>
          </a:p>
        </p:txBody>
      </p:sp>
      <p:sp>
        <p:nvSpPr>
          <p:cNvPr id="25" name="Slide Number Placeholder 0"/>
          <p:cNvSpPr>
            <a:spLocks noGrp="1"/>
          </p:cNvSpPr>
          <p:nvPr>
            <p:ph type="sldNum" sz="quarter" idx="4294967295"/>
          </p:nvPr>
        </p:nvSpPr>
        <p:spPr>
          <a:xfrm>
            <a:off x="10881360" y="644652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theme/theme1.xml><?xml version="1.0" encoding="utf-8"?>
<a:theme xmlns:a="http://schemas.openxmlformats.org/drawingml/2006/main" name="Wada Vivid">
  <a:themeElements>
    <a:clrScheme name="Wada Grain">
      <a:dk1>
        <a:srgbClr val="051230"/>
      </a:dk1>
      <a:lt1>
        <a:srgbClr val="FFFFFF"/>
      </a:lt1>
      <a:dk2>
        <a:srgbClr val="1C4286"/>
      </a:dk2>
      <a:lt2>
        <a:srgbClr val="FFEFAE"/>
      </a:lt2>
      <a:accent1>
        <a:srgbClr val="FCB315"/>
      </a:accent1>
      <a:accent2>
        <a:srgbClr val="1A7444"/>
      </a:accent2>
      <a:accent3>
        <a:srgbClr val="CC1236"/>
      </a:accent3>
      <a:accent4>
        <a:srgbClr val="006EB8"/>
      </a:accent4>
      <a:accent5>
        <a:srgbClr val="59256A"/>
      </a:accent5>
      <a:accent6>
        <a:srgbClr val="F48067"/>
      </a:accent6>
      <a:hlink>
        <a:srgbClr val="006EB8"/>
      </a:hlink>
      <a:folHlink>
        <a:srgbClr val="59256A"/>
      </a:folHlink>
    </a:clrScheme>
    <a:fontScheme name="Wada Gr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Economic Cost Components of Food Grain Management at FCI</dc:title>
  <dc:subject>PptxGenJS Presentation</dc:subject>
  <dc:creator>Riya Khobragade</dc:creator>
  <cp:lastModifiedBy>Riya Khobragade</cp:lastModifiedBy>
  <cp:revision>1</cp:revision>
  <dcterms:created xsi:type="dcterms:W3CDTF">2026-10-28T12:46:47Z</dcterms:created>
  <dcterms:modified xsi:type="dcterms:W3CDTF">2026-10-28T12:46:47Z</dcterms:modified>
</cp:coreProperties>
</file>